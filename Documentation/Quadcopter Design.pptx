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5143500" cx="9144000"/>
  <p:notesSz cx="6858000" cy="9144000"/>
  <p:embeddedFontLst>
    <p:embeddedFont>
      <p:font typeface="Nunito"/>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K (BRAVO_TEAM_135)"/>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85B7D9-D6BB-4394-92BC-0BEC9817FC1B}">
  <a:tblStyle styleId="{7985B7D9-D6BB-4394-92BC-0BEC9817FC1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DD5E6A9-B8FF-418B-958C-19A1D59B1256}"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Nunito-regular.fntdata"/><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Nunito-italic.fntdata"/><Relationship Id="rId12" Type="http://schemas.openxmlformats.org/officeDocument/2006/relationships/slide" Target="slides/slide6.xml"/><Relationship Id="rId56" Type="http://schemas.openxmlformats.org/officeDocument/2006/relationships/font" Target="fonts/Nunito-bold.fntdata"/><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Nunit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19-05-31T10:32:50.092">
    <p:pos x="690" y="897"/>
    <p:text>Bmfa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51b139b4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51b139b4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5897bbfb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5897bbfb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5955c00e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5955c00e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58e88b10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58e88b10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6eba4520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6eba4520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6eba4520b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6eba4520b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Perhaps the main should be a state machine - Read Input, Compute, Output running at 200hz loop rate.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6eba4520b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6eba4520b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5955c00e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5955c00e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58e88b100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58e88b100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da8c010d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da8c010d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6d24f337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6d24f337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58e88b10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58e88b10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595134a5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595134a5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6d24f3377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6d24f3377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15955c00e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15955c00e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595134a5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595134a5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6d24f337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6d24f3377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15955c00e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15955c00e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16eba4520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16eba4520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15c0aa9c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15c0aa9c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58658f703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58658f703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16ef45b8d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16ef45b8d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158e88b100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158e88b100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16d24f3377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16d24f3377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16d24f3377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16d24f3377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16d24f3377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16d24f3377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16ef45b8d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16ef45b8d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1da8c010d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1da8c010d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51b139b49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51b139b49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16ef45b8d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16ef45b8d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5b907137bd30b03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5b907137bd30b03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16ef45b8d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16ef45b8d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1da8c010d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1da8c010d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1da8c010d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1da8c010d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58658f703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58658f703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5b49cf38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5b49cf38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58658f703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58658f703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16ef45b8d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16ef45b8d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1595134a5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1595134a5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158e88b10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158e88b10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158e88b100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158e88b10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15b2be8e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15b2be8e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15b2be8e2f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15b2be8e2f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15b2be8e2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15b2be8e2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15b2be8e2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15b2be8e2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15b2be8e2f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15b2be8e2f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158e88b100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158e88b100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16d24f3377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16d24f3377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brettbeauregard.com/blog/2011/04/improving-the-beginners-pid-introduction/improving-the-beginner%E2%80%99s-pid-sample-time" TargetMode="External"/><Relationship Id="rId4" Type="http://schemas.openxmlformats.org/officeDocument/2006/relationships/hyperlink" Target="http://brettbeauregard.com/blog/2011/04/improving-the-beginners-pid-introduction/improving-the-beginner%E2%80%99s-pid-derivative-kick" TargetMode="External"/><Relationship Id="rId10" Type="http://schemas.openxmlformats.org/officeDocument/2006/relationships/hyperlink" Target="http://brettbeauregard.com/blog/2011/04/improving-the-beginners-pid-introduction/" TargetMode="External"/><Relationship Id="rId9" Type="http://schemas.openxmlformats.org/officeDocument/2006/relationships/hyperlink" Target="http://brettbeauregard.com/blog/2011/04/improving-the-beginners-pid-introduction/improving-the-beginners-pid-direction" TargetMode="External"/><Relationship Id="rId5" Type="http://schemas.openxmlformats.org/officeDocument/2006/relationships/hyperlink" Target="http://brettbeauregard.com/blog/2011/04/improving-the-beginners-pid-introduction/improving-the-beginner%E2%80%99s-pid-tuning-changes" TargetMode="External"/><Relationship Id="rId6" Type="http://schemas.openxmlformats.org/officeDocument/2006/relationships/hyperlink" Target="http://brettbeauregard.com/blog/2011/04/improving-the-beginners-pid-introduction/improving-the-beginner%E2%80%99s-pid-reset-windup" TargetMode="External"/><Relationship Id="rId7" Type="http://schemas.openxmlformats.org/officeDocument/2006/relationships/hyperlink" Target="http://brettbeauregard.com/blog/2011/04/improving-the-beginners-pid-introduction/improving-the-beginner%E2%80%99s-pid-onoff" TargetMode="External"/><Relationship Id="rId8" Type="http://schemas.openxmlformats.org/officeDocument/2006/relationships/hyperlink" Target="http://brettbeauregard.com/blog/2011/04/improving-the-beginners-pid-introduction/improving-the-beginner%E2%80%99s-pid-initializatio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tushev.org/articles/arduino/5/arduino-and-watchdog-timer"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www.instructables.com/id/Atmega328P-PU-Bootloader-Optiboot-Burning-Guid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comments" Target="../comments/commen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2.png"/><Relationship Id="rId4" Type="http://schemas.openxmlformats.org/officeDocument/2006/relationships/image" Target="../media/image14.png"/><Relationship Id="rId9" Type="http://schemas.openxmlformats.org/officeDocument/2006/relationships/hyperlink" Target="http://playground.arduino.cc/Code/ATMELTWI" TargetMode="External"/><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17.png"/><Relationship Id="rId8" Type="http://schemas.openxmlformats.org/officeDocument/2006/relationships/hyperlink" Target="http://playground.arduino.cc/Main/WireLibraryDetailedReference"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9.png"/><Relationship Id="rId4" Type="http://schemas.openxmlformats.org/officeDocument/2006/relationships/hyperlink" Target="http://www.nongnu.org/avr-libc/user-manual/group__util__twi.ht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52400" y="618454"/>
            <a:ext cx="8991602" cy="4525046"/>
          </a:xfrm>
          <a:prstGeom prst="rect">
            <a:avLst/>
          </a:prstGeom>
          <a:noFill/>
          <a:ln>
            <a:noFill/>
          </a:ln>
        </p:spPr>
      </p:pic>
      <p:sp>
        <p:nvSpPr>
          <p:cNvPr id="55" name="Google Shape;55;p13"/>
          <p:cNvSpPr txBox="1"/>
          <p:nvPr/>
        </p:nvSpPr>
        <p:spPr>
          <a:xfrm>
            <a:off x="76200" y="76200"/>
            <a:ext cx="3870300" cy="980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3000"/>
              <a:t>Quadcopter Project</a:t>
            </a:r>
            <a:endParaRPr sz="3000"/>
          </a:p>
          <a:p>
            <a:pPr indent="0" lvl="0" marL="0" rtl="0" algn="l">
              <a:spcBef>
                <a:spcPts val="0"/>
              </a:spcBef>
              <a:spcAft>
                <a:spcPts val="0"/>
              </a:spcAft>
              <a:buNone/>
            </a:pPr>
            <a:r>
              <a:rPr lang="en-GB" sz="3000"/>
              <a:t>By Kevin Ross</a:t>
            </a:r>
            <a:endParaRPr sz="3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3794900" y="1828750"/>
            <a:ext cx="5399352" cy="2717249"/>
          </a:xfrm>
          <a:prstGeom prst="rect">
            <a:avLst/>
          </a:prstGeom>
          <a:noFill/>
          <a:ln>
            <a:noFill/>
          </a:ln>
        </p:spPr>
      </p:pic>
      <p:pic>
        <p:nvPicPr>
          <p:cNvPr id="61" name="Google Shape;61;p14"/>
          <p:cNvPicPr preferRelativeResize="0"/>
          <p:nvPr/>
        </p:nvPicPr>
        <p:blipFill>
          <a:blip r:embed="rId4">
            <a:alphaModFix/>
          </a:blip>
          <a:stretch>
            <a:fillRect/>
          </a:stretch>
        </p:blipFill>
        <p:spPr>
          <a:xfrm>
            <a:off x="5193875" y="0"/>
            <a:ext cx="3950125" cy="1987899"/>
          </a:xfrm>
          <a:prstGeom prst="rect">
            <a:avLst/>
          </a:prstGeom>
          <a:noFill/>
          <a:ln>
            <a:noFill/>
          </a:ln>
        </p:spPr>
      </p:pic>
      <p:pic>
        <p:nvPicPr>
          <p:cNvPr id="62" name="Google Shape;62;p14"/>
          <p:cNvPicPr preferRelativeResize="0"/>
          <p:nvPr/>
        </p:nvPicPr>
        <p:blipFill>
          <a:blip r:embed="rId5">
            <a:alphaModFix/>
          </a:blip>
          <a:stretch>
            <a:fillRect/>
          </a:stretch>
        </p:blipFill>
        <p:spPr>
          <a:xfrm>
            <a:off x="0" y="3009223"/>
            <a:ext cx="4240923" cy="2134275"/>
          </a:xfrm>
          <a:prstGeom prst="rect">
            <a:avLst/>
          </a:prstGeom>
          <a:noFill/>
          <a:ln>
            <a:noFill/>
          </a:ln>
        </p:spPr>
      </p:pic>
      <p:pic>
        <p:nvPicPr>
          <p:cNvPr id="63" name="Google Shape;63;p14"/>
          <p:cNvPicPr preferRelativeResize="0"/>
          <p:nvPr/>
        </p:nvPicPr>
        <p:blipFill>
          <a:blip r:embed="rId6">
            <a:alphaModFix/>
          </a:blip>
          <a:stretch>
            <a:fillRect/>
          </a:stretch>
        </p:blipFill>
        <p:spPr>
          <a:xfrm>
            <a:off x="0" y="0"/>
            <a:ext cx="4821161" cy="24262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p:nvPr/>
        </p:nvSpPr>
        <p:spPr>
          <a:xfrm>
            <a:off x="4798175" y="2995400"/>
            <a:ext cx="3973644" cy="185198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a:off x="1478113" y="1858088"/>
            <a:ext cx="1349700" cy="1137300"/>
          </a:xfrm>
          <a:prstGeom prst="roundRect">
            <a:avLst>
              <a:gd fmla="val 16667" name="adj"/>
            </a:avLst>
          </a:prstGeom>
          <a:solidFill>
            <a:srgbClr val="CFE2F3"/>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a:off x="1044027" y="879025"/>
            <a:ext cx="783000" cy="7158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Transmitter</a:t>
            </a:r>
            <a:endParaRPr sz="800"/>
          </a:p>
        </p:txBody>
      </p:sp>
      <p:sp>
        <p:nvSpPr>
          <p:cNvPr id="71" name="Google Shape;71;p15"/>
          <p:cNvSpPr/>
          <p:nvPr/>
        </p:nvSpPr>
        <p:spPr>
          <a:xfrm>
            <a:off x="1394577" y="367825"/>
            <a:ext cx="81900" cy="5112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a:off x="2247002" y="1086025"/>
            <a:ext cx="630900" cy="3018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Receiver</a:t>
            </a:r>
            <a:endParaRPr sz="800"/>
          </a:p>
        </p:txBody>
      </p:sp>
      <p:cxnSp>
        <p:nvCxnSpPr>
          <p:cNvPr id="73" name="Google Shape;73;p15"/>
          <p:cNvCxnSpPr>
            <a:stCxn id="70" idx="3"/>
            <a:endCxn id="72" idx="1"/>
          </p:cNvCxnSpPr>
          <p:nvPr/>
        </p:nvCxnSpPr>
        <p:spPr>
          <a:xfrm>
            <a:off x="1827027" y="1236925"/>
            <a:ext cx="420000" cy="0"/>
          </a:xfrm>
          <a:prstGeom prst="straightConnector1">
            <a:avLst/>
          </a:prstGeom>
          <a:noFill/>
          <a:ln cap="flat" cmpd="sng" w="19050">
            <a:solidFill>
              <a:schemeClr val="dk2"/>
            </a:solidFill>
            <a:prstDash val="dash"/>
            <a:round/>
            <a:headEnd len="med" w="med" type="none"/>
            <a:tailEnd len="med" w="med" type="none"/>
          </a:ln>
        </p:spPr>
      </p:cxnSp>
      <p:sp>
        <p:nvSpPr>
          <p:cNvPr id="74" name="Google Shape;74;p15"/>
          <p:cNvSpPr txBox="1"/>
          <p:nvPr/>
        </p:nvSpPr>
        <p:spPr>
          <a:xfrm>
            <a:off x="1748102" y="847825"/>
            <a:ext cx="694200" cy="4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Radio Link</a:t>
            </a:r>
            <a:endParaRPr sz="800"/>
          </a:p>
          <a:p>
            <a:pPr indent="0" lvl="0" marL="0" rtl="0" algn="l">
              <a:spcBef>
                <a:spcPts val="0"/>
              </a:spcBef>
              <a:spcAft>
                <a:spcPts val="0"/>
              </a:spcAft>
              <a:buNone/>
            </a:pPr>
            <a:r>
              <a:rPr lang="en-GB" sz="800"/>
              <a:t>2.4GHz</a:t>
            </a:r>
            <a:endParaRPr sz="800"/>
          </a:p>
        </p:txBody>
      </p:sp>
      <p:sp>
        <p:nvSpPr>
          <p:cNvPr id="75" name="Google Shape;75;p15"/>
          <p:cNvSpPr/>
          <p:nvPr/>
        </p:nvSpPr>
        <p:spPr>
          <a:xfrm>
            <a:off x="3387225" y="722000"/>
            <a:ext cx="1315800" cy="22734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200">
                <a:solidFill>
                  <a:schemeClr val="dk1"/>
                </a:solidFill>
              </a:rPr>
              <a:t>Atmega 328p Microcontroller</a:t>
            </a:r>
            <a:endParaRPr sz="1200">
              <a:solidFill>
                <a:schemeClr val="dk1"/>
              </a:solidFill>
            </a:endParaRPr>
          </a:p>
          <a:p>
            <a:pPr indent="0" lvl="0" marL="0" rtl="0" algn="ctr">
              <a:spcBef>
                <a:spcPts val="0"/>
              </a:spcBef>
              <a:spcAft>
                <a:spcPts val="0"/>
              </a:spcAft>
              <a:buNone/>
            </a:pPr>
            <a:r>
              <a:t/>
            </a:r>
            <a:endParaRPr/>
          </a:p>
        </p:txBody>
      </p:sp>
      <p:sp>
        <p:nvSpPr>
          <p:cNvPr id="76" name="Google Shape;76;p15"/>
          <p:cNvSpPr/>
          <p:nvPr/>
        </p:nvSpPr>
        <p:spPr>
          <a:xfrm>
            <a:off x="1623638" y="1997088"/>
            <a:ext cx="1043100" cy="18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3-Axis Gyro</a:t>
            </a:r>
            <a:endParaRPr sz="800"/>
          </a:p>
        </p:txBody>
      </p:sp>
      <p:sp>
        <p:nvSpPr>
          <p:cNvPr id="77" name="Google Shape;77;p15"/>
          <p:cNvSpPr/>
          <p:nvPr/>
        </p:nvSpPr>
        <p:spPr>
          <a:xfrm>
            <a:off x="1623638" y="2255563"/>
            <a:ext cx="10431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3-Axis Accelerometer</a:t>
            </a:r>
            <a:endParaRPr sz="800"/>
          </a:p>
        </p:txBody>
      </p:sp>
      <p:sp>
        <p:nvSpPr>
          <p:cNvPr id="78" name="Google Shape;78;p15"/>
          <p:cNvSpPr/>
          <p:nvPr/>
        </p:nvSpPr>
        <p:spPr>
          <a:xfrm>
            <a:off x="1623638" y="2622659"/>
            <a:ext cx="1043100" cy="260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3-Axis Magnetometer</a:t>
            </a:r>
            <a:endParaRPr sz="800"/>
          </a:p>
        </p:txBody>
      </p:sp>
      <p:sp>
        <p:nvSpPr>
          <p:cNvPr id="79" name="Google Shape;79;p15"/>
          <p:cNvSpPr/>
          <p:nvPr/>
        </p:nvSpPr>
        <p:spPr>
          <a:xfrm>
            <a:off x="5258725" y="1255325"/>
            <a:ext cx="588600" cy="3018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ESC 1</a:t>
            </a:r>
            <a:endParaRPr sz="800"/>
          </a:p>
        </p:txBody>
      </p:sp>
      <p:sp>
        <p:nvSpPr>
          <p:cNvPr id="80" name="Google Shape;80;p15"/>
          <p:cNvSpPr/>
          <p:nvPr/>
        </p:nvSpPr>
        <p:spPr>
          <a:xfrm>
            <a:off x="5258725" y="1648400"/>
            <a:ext cx="588600" cy="3018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ESC 2</a:t>
            </a:r>
            <a:endParaRPr sz="800"/>
          </a:p>
        </p:txBody>
      </p:sp>
      <p:sp>
        <p:nvSpPr>
          <p:cNvPr id="81" name="Google Shape;81;p15"/>
          <p:cNvSpPr/>
          <p:nvPr/>
        </p:nvSpPr>
        <p:spPr>
          <a:xfrm>
            <a:off x="5258625" y="2041475"/>
            <a:ext cx="588600" cy="3018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ESC 3</a:t>
            </a:r>
            <a:endParaRPr sz="800"/>
          </a:p>
        </p:txBody>
      </p:sp>
      <p:sp>
        <p:nvSpPr>
          <p:cNvPr id="82" name="Google Shape;82;p15"/>
          <p:cNvSpPr/>
          <p:nvPr/>
        </p:nvSpPr>
        <p:spPr>
          <a:xfrm>
            <a:off x="5258725" y="2434550"/>
            <a:ext cx="588600" cy="3018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ESC 4</a:t>
            </a:r>
            <a:endParaRPr sz="800"/>
          </a:p>
        </p:txBody>
      </p:sp>
      <p:sp>
        <p:nvSpPr>
          <p:cNvPr id="83" name="Google Shape;83;p15"/>
          <p:cNvSpPr/>
          <p:nvPr/>
        </p:nvSpPr>
        <p:spPr>
          <a:xfrm>
            <a:off x="6019775" y="1255350"/>
            <a:ext cx="702900" cy="3018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Motor 1</a:t>
            </a:r>
            <a:endParaRPr sz="800"/>
          </a:p>
        </p:txBody>
      </p:sp>
      <p:sp>
        <p:nvSpPr>
          <p:cNvPr id="84" name="Google Shape;84;p15"/>
          <p:cNvSpPr/>
          <p:nvPr/>
        </p:nvSpPr>
        <p:spPr>
          <a:xfrm>
            <a:off x="6019775" y="1648425"/>
            <a:ext cx="702900" cy="3018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Motor 2</a:t>
            </a:r>
            <a:endParaRPr sz="800"/>
          </a:p>
        </p:txBody>
      </p:sp>
      <p:sp>
        <p:nvSpPr>
          <p:cNvPr id="85" name="Google Shape;85;p15"/>
          <p:cNvSpPr/>
          <p:nvPr/>
        </p:nvSpPr>
        <p:spPr>
          <a:xfrm>
            <a:off x="6019775" y="2041500"/>
            <a:ext cx="702900" cy="3018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Motor 3</a:t>
            </a:r>
            <a:endParaRPr sz="800"/>
          </a:p>
        </p:txBody>
      </p:sp>
      <p:sp>
        <p:nvSpPr>
          <p:cNvPr id="86" name="Google Shape;86;p15"/>
          <p:cNvSpPr/>
          <p:nvPr/>
        </p:nvSpPr>
        <p:spPr>
          <a:xfrm>
            <a:off x="6019775" y="2434575"/>
            <a:ext cx="702900" cy="3018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Motor 4</a:t>
            </a:r>
            <a:endParaRPr sz="800"/>
          </a:p>
        </p:txBody>
      </p:sp>
      <p:sp>
        <p:nvSpPr>
          <p:cNvPr id="87" name="Google Shape;87;p15"/>
          <p:cNvSpPr txBox="1"/>
          <p:nvPr/>
        </p:nvSpPr>
        <p:spPr>
          <a:xfrm>
            <a:off x="1728613" y="1542921"/>
            <a:ext cx="848700" cy="30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t>IMU</a:t>
            </a:r>
            <a:endParaRPr sz="800"/>
          </a:p>
        </p:txBody>
      </p:sp>
      <p:cxnSp>
        <p:nvCxnSpPr>
          <p:cNvPr id="88" name="Google Shape;88;p15"/>
          <p:cNvCxnSpPr>
            <a:stCxn id="79" idx="3"/>
            <a:endCxn id="83" idx="1"/>
          </p:cNvCxnSpPr>
          <p:nvPr/>
        </p:nvCxnSpPr>
        <p:spPr>
          <a:xfrm>
            <a:off x="5847325" y="1406225"/>
            <a:ext cx="172500" cy="0"/>
          </a:xfrm>
          <a:prstGeom prst="straightConnector1">
            <a:avLst/>
          </a:prstGeom>
          <a:noFill/>
          <a:ln cap="flat" cmpd="sng" w="9525">
            <a:solidFill>
              <a:schemeClr val="dk2"/>
            </a:solidFill>
            <a:prstDash val="solid"/>
            <a:round/>
            <a:headEnd len="med" w="med" type="none"/>
            <a:tailEnd len="med" w="med" type="triangle"/>
          </a:ln>
        </p:spPr>
      </p:cxnSp>
      <p:cxnSp>
        <p:nvCxnSpPr>
          <p:cNvPr id="89" name="Google Shape;89;p15"/>
          <p:cNvCxnSpPr>
            <a:stCxn id="80" idx="3"/>
            <a:endCxn id="84" idx="1"/>
          </p:cNvCxnSpPr>
          <p:nvPr/>
        </p:nvCxnSpPr>
        <p:spPr>
          <a:xfrm>
            <a:off x="5847325" y="1799300"/>
            <a:ext cx="172500" cy="0"/>
          </a:xfrm>
          <a:prstGeom prst="straightConnector1">
            <a:avLst/>
          </a:prstGeom>
          <a:noFill/>
          <a:ln cap="flat" cmpd="sng" w="9525">
            <a:solidFill>
              <a:schemeClr val="dk2"/>
            </a:solidFill>
            <a:prstDash val="solid"/>
            <a:round/>
            <a:headEnd len="med" w="med" type="none"/>
            <a:tailEnd len="med" w="med" type="triangle"/>
          </a:ln>
        </p:spPr>
      </p:cxnSp>
      <p:cxnSp>
        <p:nvCxnSpPr>
          <p:cNvPr id="90" name="Google Shape;90;p15"/>
          <p:cNvCxnSpPr>
            <a:stCxn id="81" idx="3"/>
            <a:endCxn id="85" idx="1"/>
          </p:cNvCxnSpPr>
          <p:nvPr/>
        </p:nvCxnSpPr>
        <p:spPr>
          <a:xfrm>
            <a:off x="5847225" y="2192375"/>
            <a:ext cx="172500" cy="0"/>
          </a:xfrm>
          <a:prstGeom prst="straightConnector1">
            <a:avLst/>
          </a:prstGeom>
          <a:noFill/>
          <a:ln cap="flat" cmpd="sng" w="9525">
            <a:solidFill>
              <a:schemeClr val="dk2"/>
            </a:solidFill>
            <a:prstDash val="solid"/>
            <a:round/>
            <a:headEnd len="med" w="med" type="none"/>
            <a:tailEnd len="med" w="med" type="triangle"/>
          </a:ln>
        </p:spPr>
      </p:cxnSp>
      <p:cxnSp>
        <p:nvCxnSpPr>
          <p:cNvPr id="91" name="Google Shape;91;p15"/>
          <p:cNvCxnSpPr>
            <a:endCxn id="86" idx="1"/>
          </p:cNvCxnSpPr>
          <p:nvPr/>
        </p:nvCxnSpPr>
        <p:spPr>
          <a:xfrm>
            <a:off x="5847275" y="2585475"/>
            <a:ext cx="172500" cy="0"/>
          </a:xfrm>
          <a:prstGeom prst="straightConnector1">
            <a:avLst/>
          </a:prstGeom>
          <a:noFill/>
          <a:ln cap="flat" cmpd="sng" w="9525">
            <a:solidFill>
              <a:schemeClr val="dk2"/>
            </a:solidFill>
            <a:prstDash val="solid"/>
            <a:round/>
            <a:headEnd len="med" w="med" type="none"/>
            <a:tailEnd len="med" w="med" type="triangle"/>
          </a:ln>
        </p:spPr>
      </p:cxnSp>
      <p:sp>
        <p:nvSpPr>
          <p:cNvPr id="92" name="Google Shape;92;p15"/>
          <p:cNvSpPr/>
          <p:nvPr/>
        </p:nvSpPr>
        <p:spPr>
          <a:xfrm>
            <a:off x="2886079" y="1175250"/>
            <a:ext cx="497400" cy="177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a:off x="2827808" y="2337800"/>
            <a:ext cx="555600" cy="177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p:nvPr/>
        </p:nvSpPr>
        <p:spPr>
          <a:xfrm>
            <a:off x="4703075" y="1327400"/>
            <a:ext cx="555600" cy="177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p:nvPr/>
        </p:nvSpPr>
        <p:spPr>
          <a:xfrm>
            <a:off x="4703075" y="1708821"/>
            <a:ext cx="555600" cy="177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p:cNvSpPr/>
          <p:nvPr/>
        </p:nvSpPr>
        <p:spPr>
          <a:xfrm>
            <a:off x="4703075" y="2100500"/>
            <a:ext cx="555600" cy="177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a:off x="4703075" y="2498773"/>
            <a:ext cx="555600" cy="177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3832402" y="181425"/>
            <a:ext cx="630900" cy="301800"/>
          </a:xfrm>
          <a:prstGeom prst="roundRect">
            <a:avLst>
              <a:gd fmla="val 16667"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rgbClr val="FFFFFF"/>
                </a:solidFill>
              </a:rPr>
              <a:t>Battery</a:t>
            </a:r>
            <a:endParaRPr sz="800">
              <a:solidFill>
                <a:srgbClr val="FFFFFF"/>
              </a:solidFill>
            </a:endParaRPr>
          </a:p>
        </p:txBody>
      </p:sp>
      <p:sp>
        <p:nvSpPr>
          <p:cNvPr id="99" name="Google Shape;99;p15"/>
          <p:cNvSpPr/>
          <p:nvPr/>
        </p:nvSpPr>
        <p:spPr>
          <a:xfrm>
            <a:off x="4867699" y="181425"/>
            <a:ext cx="8487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solidFill>
                  <a:schemeClr val="dk1"/>
                </a:solidFill>
              </a:rPr>
              <a:t>ESC Power Harness</a:t>
            </a:r>
            <a:endParaRPr sz="800"/>
          </a:p>
        </p:txBody>
      </p:sp>
      <p:cxnSp>
        <p:nvCxnSpPr>
          <p:cNvPr id="100" name="Google Shape;100;p15"/>
          <p:cNvCxnSpPr>
            <a:endCxn id="99" idx="1"/>
          </p:cNvCxnSpPr>
          <p:nvPr/>
        </p:nvCxnSpPr>
        <p:spPr>
          <a:xfrm>
            <a:off x="4463299" y="332325"/>
            <a:ext cx="404400" cy="0"/>
          </a:xfrm>
          <a:prstGeom prst="straightConnector1">
            <a:avLst/>
          </a:prstGeom>
          <a:noFill/>
          <a:ln cap="flat" cmpd="sng" w="9525">
            <a:solidFill>
              <a:schemeClr val="dk2"/>
            </a:solidFill>
            <a:prstDash val="solid"/>
            <a:round/>
            <a:headEnd len="med" w="med" type="none"/>
            <a:tailEnd len="med" w="med" type="stealth"/>
          </a:ln>
        </p:spPr>
      </p:cxnSp>
      <p:sp>
        <p:nvSpPr>
          <p:cNvPr id="101" name="Google Shape;101;p15"/>
          <p:cNvSpPr/>
          <p:nvPr/>
        </p:nvSpPr>
        <p:spPr>
          <a:xfrm>
            <a:off x="6272000" y="3358825"/>
            <a:ext cx="1131300" cy="57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PID</a:t>
            </a:r>
            <a:endParaRPr/>
          </a:p>
          <a:p>
            <a:pPr indent="0" lvl="0" marL="0" rtl="0" algn="ctr">
              <a:spcBef>
                <a:spcPts val="0"/>
              </a:spcBef>
              <a:spcAft>
                <a:spcPts val="0"/>
              </a:spcAft>
              <a:buNone/>
            </a:pPr>
            <a:r>
              <a:rPr lang="en-GB"/>
              <a:t>Controller</a:t>
            </a:r>
            <a:endParaRPr/>
          </a:p>
        </p:txBody>
      </p:sp>
      <p:sp>
        <p:nvSpPr>
          <p:cNvPr id="102" name="Google Shape;102;p15"/>
          <p:cNvSpPr/>
          <p:nvPr/>
        </p:nvSpPr>
        <p:spPr>
          <a:xfrm>
            <a:off x="5716408" y="3459875"/>
            <a:ext cx="555600" cy="177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5716408" y="3688825"/>
            <a:ext cx="555600" cy="177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txBox="1"/>
          <p:nvPr/>
        </p:nvSpPr>
        <p:spPr>
          <a:xfrm>
            <a:off x="5019698" y="3595448"/>
            <a:ext cx="864300" cy="3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Measured</a:t>
            </a:r>
            <a:endParaRPr sz="1000"/>
          </a:p>
        </p:txBody>
      </p:sp>
      <p:sp>
        <p:nvSpPr>
          <p:cNvPr id="105" name="Google Shape;105;p15"/>
          <p:cNvSpPr txBox="1"/>
          <p:nvPr/>
        </p:nvSpPr>
        <p:spPr>
          <a:xfrm>
            <a:off x="5121372" y="3364577"/>
            <a:ext cx="694200" cy="3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Demand</a:t>
            </a:r>
            <a:endParaRPr sz="1000"/>
          </a:p>
        </p:txBody>
      </p:sp>
      <p:sp>
        <p:nvSpPr>
          <p:cNvPr id="106" name="Google Shape;106;p15"/>
          <p:cNvSpPr txBox="1"/>
          <p:nvPr/>
        </p:nvSpPr>
        <p:spPr>
          <a:xfrm>
            <a:off x="7882171" y="3655802"/>
            <a:ext cx="694200" cy="3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Output</a:t>
            </a:r>
            <a:endParaRPr sz="1000"/>
          </a:p>
        </p:txBody>
      </p:sp>
      <p:sp>
        <p:nvSpPr>
          <p:cNvPr id="107" name="Google Shape;107;p15"/>
          <p:cNvSpPr/>
          <p:nvPr/>
        </p:nvSpPr>
        <p:spPr>
          <a:xfrm>
            <a:off x="7403308" y="3728226"/>
            <a:ext cx="555600" cy="177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flipH="1">
            <a:off x="5963025" y="3866725"/>
            <a:ext cx="702900" cy="260400"/>
          </a:xfrm>
          <a:prstGeom prst="bentUpArrow">
            <a:avLst>
              <a:gd fmla="val 23559"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flipH="1" rot="-5400000">
            <a:off x="6986925" y="3545725"/>
            <a:ext cx="315300" cy="957300"/>
          </a:xfrm>
          <a:prstGeom prst="bentUpArrow">
            <a:avLst>
              <a:gd fmla="val 19901"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txBox="1"/>
          <p:nvPr/>
        </p:nvSpPr>
        <p:spPr>
          <a:xfrm>
            <a:off x="5809250" y="4104897"/>
            <a:ext cx="2056800" cy="5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As a Result of the output there will be a new measured value</a:t>
            </a:r>
            <a:endParaRPr sz="1000"/>
          </a:p>
        </p:txBody>
      </p:sp>
      <p:sp>
        <p:nvSpPr>
          <p:cNvPr id="111" name="Google Shape;111;p15"/>
          <p:cNvSpPr txBox="1"/>
          <p:nvPr/>
        </p:nvSpPr>
        <p:spPr>
          <a:xfrm>
            <a:off x="-26700" y="16275"/>
            <a:ext cx="27021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Basic System Overview</a:t>
            </a:r>
            <a:endParaRPr/>
          </a:p>
        </p:txBody>
      </p:sp>
      <p:cxnSp>
        <p:nvCxnSpPr>
          <p:cNvPr id="112" name="Google Shape;112;p15"/>
          <p:cNvCxnSpPr>
            <a:stCxn id="99" idx="2"/>
            <a:endCxn id="79" idx="0"/>
          </p:cNvCxnSpPr>
          <p:nvPr/>
        </p:nvCxnSpPr>
        <p:spPr>
          <a:xfrm flipH="1" rot="-5400000">
            <a:off x="5036449" y="738825"/>
            <a:ext cx="772200" cy="261000"/>
          </a:xfrm>
          <a:prstGeom prst="bentConnector3">
            <a:avLst>
              <a:gd fmla="val 49994" name="adj1"/>
            </a:avLst>
          </a:prstGeom>
          <a:noFill/>
          <a:ln cap="flat" cmpd="sng" w="9525">
            <a:solidFill>
              <a:srgbClr val="FF0000"/>
            </a:solidFill>
            <a:prstDash val="solid"/>
            <a:round/>
            <a:headEnd len="med" w="med" type="none"/>
            <a:tailEnd len="med" w="med" type="none"/>
          </a:ln>
        </p:spPr>
      </p:cxnSp>
      <p:cxnSp>
        <p:nvCxnSpPr>
          <p:cNvPr id="113" name="Google Shape;113;p15"/>
          <p:cNvCxnSpPr>
            <a:stCxn id="80" idx="0"/>
            <a:endCxn id="79" idx="2"/>
          </p:cNvCxnSpPr>
          <p:nvPr/>
        </p:nvCxnSpPr>
        <p:spPr>
          <a:xfrm rot="-5400000">
            <a:off x="5507725" y="1602500"/>
            <a:ext cx="91200" cy="600"/>
          </a:xfrm>
          <a:prstGeom prst="bentConnector3">
            <a:avLst>
              <a:gd fmla="val 50041" name="adj1"/>
            </a:avLst>
          </a:prstGeom>
          <a:noFill/>
          <a:ln cap="flat" cmpd="sng" w="9525">
            <a:solidFill>
              <a:srgbClr val="FF0000"/>
            </a:solidFill>
            <a:prstDash val="solid"/>
            <a:round/>
            <a:headEnd len="med" w="med" type="none"/>
            <a:tailEnd len="med" w="med" type="none"/>
          </a:ln>
        </p:spPr>
      </p:cxnSp>
      <p:cxnSp>
        <p:nvCxnSpPr>
          <p:cNvPr id="114" name="Google Shape;114;p15"/>
          <p:cNvCxnSpPr>
            <a:endCxn id="81" idx="0"/>
          </p:cNvCxnSpPr>
          <p:nvPr/>
        </p:nvCxnSpPr>
        <p:spPr>
          <a:xfrm>
            <a:off x="5552925" y="1950275"/>
            <a:ext cx="0" cy="91200"/>
          </a:xfrm>
          <a:prstGeom prst="straightConnector1">
            <a:avLst/>
          </a:prstGeom>
          <a:noFill/>
          <a:ln cap="flat" cmpd="sng" w="9525">
            <a:solidFill>
              <a:srgbClr val="FF0000"/>
            </a:solidFill>
            <a:prstDash val="solid"/>
            <a:round/>
            <a:headEnd len="med" w="med" type="none"/>
            <a:tailEnd len="med" w="med" type="none"/>
          </a:ln>
        </p:spPr>
      </p:cxnSp>
      <p:cxnSp>
        <p:nvCxnSpPr>
          <p:cNvPr id="115" name="Google Shape;115;p15"/>
          <p:cNvCxnSpPr>
            <a:stCxn id="82" idx="0"/>
            <a:endCxn id="81" idx="2"/>
          </p:cNvCxnSpPr>
          <p:nvPr/>
        </p:nvCxnSpPr>
        <p:spPr>
          <a:xfrm rot="10800000">
            <a:off x="5553025" y="2343350"/>
            <a:ext cx="0" cy="91200"/>
          </a:xfrm>
          <a:prstGeom prst="straightConnector1">
            <a:avLst/>
          </a:prstGeom>
          <a:noFill/>
          <a:ln cap="flat" cmpd="sng" w="9525">
            <a:solidFill>
              <a:srgbClr val="FF0000"/>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6"/>
          <p:cNvSpPr/>
          <p:nvPr/>
        </p:nvSpPr>
        <p:spPr>
          <a:xfrm>
            <a:off x="6251325" y="36600"/>
            <a:ext cx="2855400" cy="1047600"/>
          </a:xfrm>
          <a:prstGeom prst="foldedCorner">
            <a:avLst>
              <a:gd fmla="val 16667" name="adj"/>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
          <p:cNvSpPr/>
          <p:nvPr/>
        </p:nvSpPr>
        <p:spPr>
          <a:xfrm>
            <a:off x="133950" y="2224300"/>
            <a:ext cx="1349700" cy="11373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p:nvPr/>
        </p:nvSpPr>
        <p:spPr>
          <a:xfrm>
            <a:off x="103250" y="574225"/>
            <a:ext cx="783000" cy="71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Transmitter</a:t>
            </a:r>
            <a:endParaRPr sz="800"/>
          </a:p>
        </p:txBody>
      </p:sp>
      <p:sp>
        <p:nvSpPr>
          <p:cNvPr id="123" name="Google Shape;123;p16"/>
          <p:cNvSpPr/>
          <p:nvPr/>
        </p:nvSpPr>
        <p:spPr>
          <a:xfrm>
            <a:off x="453800" y="63025"/>
            <a:ext cx="819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txBox="1"/>
          <p:nvPr/>
        </p:nvSpPr>
        <p:spPr>
          <a:xfrm>
            <a:off x="1857350" y="85825"/>
            <a:ext cx="976500" cy="13458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lang="en-GB" sz="900"/>
              <a:t>Throttle [PWM]</a:t>
            </a:r>
            <a:endParaRPr sz="900"/>
          </a:p>
          <a:p>
            <a:pPr indent="0" lvl="0" marL="0" rtl="0" algn="r">
              <a:spcBef>
                <a:spcPts val="0"/>
              </a:spcBef>
              <a:spcAft>
                <a:spcPts val="0"/>
              </a:spcAft>
              <a:buNone/>
            </a:pPr>
            <a:r>
              <a:rPr lang="en-GB" sz="900"/>
              <a:t>Roll [PWM]</a:t>
            </a:r>
            <a:endParaRPr sz="900"/>
          </a:p>
          <a:p>
            <a:pPr indent="0" lvl="0" marL="0" rtl="0" algn="r">
              <a:spcBef>
                <a:spcPts val="0"/>
              </a:spcBef>
              <a:spcAft>
                <a:spcPts val="0"/>
              </a:spcAft>
              <a:buNone/>
            </a:pPr>
            <a:r>
              <a:rPr lang="en-GB" sz="900"/>
              <a:t>Pitch [PWM]</a:t>
            </a:r>
            <a:endParaRPr sz="900"/>
          </a:p>
          <a:p>
            <a:pPr indent="0" lvl="0" marL="0" rtl="0" algn="r">
              <a:spcBef>
                <a:spcPts val="0"/>
              </a:spcBef>
              <a:spcAft>
                <a:spcPts val="0"/>
              </a:spcAft>
              <a:buNone/>
            </a:pPr>
            <a:r>
              <a:rPr lang="en-GB" sz="900"/>
              <a:t>Yaw [PWM]</a:t>
            </a:r>
            <a:endParaRPr sz="900"/>
          </a:p>
          <a:p>
            <a:pPr indent="0" lvl="0" marL="0" rtl="0" algn="r">
              <a:spcBef>
                <a:spcPts val="0"/>
              </a:spcBef>
              <a:spcAft>
                <a:spcPts val="0"/>
              </a:spcAft>
              <a:buNone/>
            </a:pPr>
            <a:r>
              <a:rPr lang="en-GB" sz="900"/>
              <a:t>Aux [PWM]</a:t>
            </a:r>
            <a:endParaRPr sz="900"/>
          </a:p>
          <a:p>
            <a:pPr indent="0" lvl="0" marL="0" rtl="0" algn="r">
              <a:spcBef>
                <a:spcPts val="0"/>
              </a:spcBef>
              <a:spcAft>
                <a:spcPts val="0"/>
              </a:spcAft>
              <a:buNone/>
            </a:pPr>
            <a:r>
              <a:t/>
            </a:r>
            <a:endParaRPr sz="900"/>
          </a:p>
          <a:p>
            <a:pPr indent="0" lvl="0" marL="0" rtl="0" algn="r">
              <a:spcBef>
                <a:spcPts val="0"/>
              </a:spcBef>
              <a:spcAft>
                <a:spcPts val="0"/>
              </a:spcAft>
              <a:buNone/>
            </a:pPr>
            <a:r>
              <a:rPr b="1" i="1" lang="en-GB" sz="900"/>
              <a:t>50Hz 20ms </a:t>
            </a:r>
            <a:r>
              <a:rPr i="1" lang="en-GB" sz="600"/>
              <a:t>PWM Frequency </a:t>
            </a:r>
            <a:r>
              <a:rPr lang="en-GB" sz="600">
                <a:solidFill>
                  <a:schemeClr val="dk1"/>
                </a:solidFill>
              </a:rPr>
              <a:t>Pulse length usually 1ms - 2ms</a:t>
            </a:r>
            <a:endParaRPr i="1" sz="600"/>
          </a:p>
        </p:txBody>
      </p:sp>
      <p:sp>
        <p:nvSpPr>
          <p:cNvPr id="125" name="Google Shape;125;p16"/>
          <p:cNvSpPr/>
          <p:nvPr/>
        </p:nvSpPr>
        <p:spPr>
          <a:xfrm>
            <a:off x="1306225" y="781225"/>
            <a:ext cx="6309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Receiver</a:t>
            </a:r>
            <a:endParaRPr sz="800"/>
          </a:p>
        </p:txBody>
      </p:sp>
      <p:cxnSp>
        <p:nvCxnSpPr>
          <p:cNvPr id="126" name="Google Shape;126;p16"/>
          <p:cNvCxnSpPr>
            <a:stCxn id="122" idx="3"/>
            <a:endCxn id="125" idx="1"/>
          </p:cNvCxnSpPr>
          <p:nvPr/>
        </p:nvCxnSpPr>
        <p:spPr>
          <a:xfrm>
            <a:off x="886250" y="932125"/>
            <a:ext cx="420000" cy="0"/>
          </a:xfrm>
          <a:prstGeom prst="straightConnector1">
            <a:avLst/>
          </a:prstGeom>
          <a:noFill/>
          <a:ln cap="flat" cmpd="sng" w="19050">
            <a:solidFill>
              <a:schemeClr val="dk2"/>
            </a:solidFill>
            <a:prstDash val="dash"/>
            <a:round/>
            <a:headEnd len="med" w="med" type="none"/>
            <a:tailEnd len="med" w="med" type="stealth"/>
          </a:ln>
        </p:spPr>
      </p:cxnSp>
      <p:sp>
        <p:nvSpPr>
          <p:cNvPr id="127" name="Google Shape;127;p16"/>
          <p:cNvSpPr txBox="1"/>
          <p:nvPr/>
        </p:nvSpPr>
        <p:spPr>
          <a:xfrm>
            <a:off x="807325" y="543025"/>
            <a:ext cx="694200" cy="4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Radio Link</a:t>
            </a:r>
            <a:endParaRPr sz="800"/>
          </a:p>
          <a:p>
            <a:pPr indent="0" lvl="0" marL="0" rtl="0" algn="l">
              <a:spcBef>
                <a:spcPts val="0"/>
              </a:spcBef>
              <a:spcAft>
                <a:spcPts val="0"/>
              </a:spcAft>
              <a:buNone/>
            </a:pPr>
            <a:r>
              <a:rPr lang="en-GB" sz="800"/>
              <a:t>2.4GHz</a:t>
            </a:r>
            <a:endParaRPr sz="800"/>
          </a:p>
        </p:txBody>
      </p:sp>
      <p:sp>
        <p:nvSpPr>
          <p:cNvPr id="128" name="Google Shape;128;p16"/>
          <p:cNvSpPr/>
          <p:nvPr/>
        </p:nvSpPr>
        <p:spPr>
          <a:xfrm>
            <a:off x="2906375" y="417200"/>
            <a:ext cx="3279000" cy="4669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6"/>
          <p:cNvSpPr/>
          <p:nvPr/>
        </p:nvSpPr>
        <p:spPr>
          <a:xfrm>
            <a:off x="279475" y="2363300"/>
            <a:ext cx="1043100" cy="18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3-Axis Gyro</a:t>
            </a:r>
            <a:endParaRPr sz="800"/>
          </a:p>
        </p:txBody>
      </p:sp>
      <p:sp>
        <p:nvSpPr>
          <p:cNvPr id="130" name="Google Shape;130;p16"/>
          <p:cNvSpPr/>
          <p:nvPr/>
        </p:nvSpPr>
        <p:spPr>
          <a:xfrm>
            <a:off x="279475" y="2621775"/>
            <a:ext cx="10431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3-Axis Accelerometer</a:t>
            </a:r>
            <a:endParaRPr sz="800"/>
          </a:p>
        </p:txBody>
      </p:sp>
      <p:sp>
        <p:nvSpPr>
          <p:cNvPr id="131" name="Google Shape;131;p16"/>
          <p:cNvSpPr/>
          <p:nvPr/>
        </p:nvSpPr>
        <p:spPr>
          <a:xfrm>
            <a:off x="279475" y="2988871"/>
            <a:ext cx="1043100" cy="260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3-Axis Magnetometer</a:t>
            </a:r>
            <a:endParaRPr sz="800"/>
          </a:p>
        </p:txBody>
      </p:sp>
      <p:sp>
        <p:nvSpPr>
          <p:cNvPr id="132" name="Google Shape;132;p16"/>
          <p:cNvSpPr txBox="1"/>
          <p:nvPr/>
        </p:nvSpPr>
        <p:spPr>
          <a:xfrm>
            <a:off x="1557700" y="2266100"/>
            <a:ext cx="1129200" cy="8442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lang="en-GB" sz="800"/>
              <a:t>Gyro [I2C]</a:t>
            </a:r>
            <a:endParaRPr sz="800"/>
          </a:p>
          <a:p>
            <a:pPr indent="0" lvl="0" marL="0" rtl="0" algn="r">
              <a:spcBef>
                <a:spcPts val="0"/>
              </a:spcBef>
              <a:spcAft>
                <a:spcPts val="0"/>
              </a:spcAft>
              <a:buNone/>
            </a:pPr>
            <a:r>
              <a:rPr lang="en-GB" sz="800"/>
              <a:t>Accelerometer [I2C]</a:t>
            </a:r>
            <a:endParaRPr sz="800"/>
          </a:p>
          <a:p>
            <a:pPr indent="0" lvl="0" marL="0" rtl="0" algn="r">
              <a:spcBef>
                <a:spcPts val="0"/>
              </a:spcBef>
              <a:spcAft>
                <a:spcPts val="0"/>
              </a:spcAft>
              <a:buNone/>
            </a:pPr>
            <a:r>
              <a:rPr lang="en-GB" sz="800"/>
              <a:t>Magnetometer [I2C]</a:t>
            </a:r>
            <a:endParaRPr sz="800"/>
          </a:p>
          <a:p>
            <a:pPr indent="0" lvl="0" marL="0" rtl="0" algn="r">
              <a:spcBef>
                <a:spcPts val="0"/>
              </a:spcBef>
              <a:spcAft>
                <a:spcPts val="0"/>
              </a:spcAft>
              <a:buNone/>
            </a:pPr>
            <a:r>
              <a:t/>
            </a:r>
            <a:endParaRPr sz="800"/>
          </a:p>
          <a:p>
            <a:pPr indent="0" lvl="0" marL="0" rtl="0" algn="r">
              <a:spcBef>
                <a:spcPts val="0"/>
              </a:spcBef>
              <a:spcAft>
                <a:spcPts val="0"/>
              </a:spcAft>
              <a:buNone/>
            </a:pPr>
            <a:r>
              <a:rPr b="1" i="1" lang="en-GB" sz="800"/>
              <a:t>100Hz 10ms</a:t>
            </a:r>
            <a:endParaRPr sz="800"/>
          </a:p>
        </p:txBody>
      </p:sp>
      <p:sp>
        <p:nvSpPr>
          <p:cNvPr id="133" name="Google Shape;133;p16"/>
          <p:cNvSpPr txBox="1"/>
          <p:nvPr/>
        </p:nvSpPr>
        <p:spPr>
          <a:xfrm>
            <a:off x="6604986" y="1959631"/>
            <a:ext cx="899400" cy="7782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800"/>
              <a:t>Motor 1</a:t>
            </a:r>
            <a:r>
              <a:rPr lang="en-GB" sz="800"/>
              <a:t> [PWM]</a:t>
            </a:r>
            <a:endParaRPr sz="800"/>
          </a:p>
          <a:p>
            <a:pPr indent="0" lvl="0" marL="0" rtl="0" algn="l">
              <a:spcBef>
                <a:spcPts val="0"/>
              </a:spcBef>
              <a:spcAft>
                <a:spcPts val="0"/>
              </a:spcAft>
              <a:buNone/>
            </a:pPr>
            <a:r>
              <a:rPr lang="en-GB" sz="800"/>
              <a:t>Motor 2 [PWM]</a:t>
            </a:r>
            <a:endParaRPr sz="800"/>
          </a:p>
          <a:p>
            <a:pPr indent="0" lvl="0" marL="0" rtl="0" algn="l">
              <a:spcBef>
                <a:spcPts val="0"/>
              </a:spcBef>
              <a:spcAft>
                <a:spcPts val="0"/>
              </a:spcAft>
              <a:buNone/>
            </a:pPr>
            <a:r>
              <a:rPr lang="en-GB" sz="800"/>
              <a:t>Motor 3 [PWM]</a:t>
            </a:r>
            <a:endParaRPr sz="800"/>
          </a:p>
          <a:p>
            <a:pPr indent="0" lvl="0" marL="0" rtl="0" algn="l">
              <a:spcBef>
                <a:spcPts val="0"/>
              </a:spcBef>
              <a:spcAft>
                <a:spcPts val="0"/>
              </a:spcAft>
              <a:buNone/>
            </a:pPr>
            <a:r>
              <a:rPr lang="en-GB" sz="800"/>
              <a:t>Motor 4 [PWM]</a:t>
            </a:r>
            <a:r>
              <a:rPr lang="en-GB" sz="1000"/>
              <a:t> </a:t>
            </a:r>
            <a:endParaRPr sz="1000"/>
          </a:p>
        </p:txBody>
      </p:sp>
      <p:sp>
        <p:nvSpPr>
          <p:cNvPr id="134" name="Google Shape;134;p16"/>
          <p:cNvSpPr/>
          <p:nvPr/>
        </p:nvSpPr>
        <p:spPr>
          <a:xfrm>
            <a:off x="7560011" y="1566556"/>
            <a:ext cx="5886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ESC 1</a:t>
            </a:r>
            <a:endParaRPr sz="800"/>
          </a:p>
        </p:txBody>
      </p:sp>
      <p:sp>
        <p:nvSpPr>
          <p:cNvPr id="135" name="Google Shape;135;p16"/>
          <p:cNvSpPr/>
          <p:nvPr/>
        </p:nvSpPr>
        <p:spPr>
          <a:xfrm>
            <a:off x="7560011" y="1959631"/>
            <a:ext cx="5886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ESC 2</a:t>
            </a:r>
            <a:endParaRPr sz="800"/>
          </a:p>
        </p:txBody>
      </p:sp>
      <p:sp>
        <p:nvSpPr>
          <p:cNvPr id="136" name="Google Shape;136;p16"/>
          <p:cNvSpPr/>
          <p:nvPr/>
        </p:nvSpPr>
        <p:spPr>
          <a:xfrm>
            <a:off x="7559911" y="2352706"/>
            <a:ext cx="5886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ESC 3</a:t>
            </a:r>
            <a:endParaRPr sz="800"/>
          </a:p>
        </p:txBody>
      </p:sp>
      <p:sp>
        <p:nvSpPr>
          <p:cNvPr id="137" name="Google Shape;137;p16"/>
          <p:cNvSpPr/>
          <p:nvPr/>
        </p:nvSpPr>
        <p:spPr>
          <a:xfrm>
            <a:off x="7560011" y="2745781"/>
            <a:ext cx="5886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ESC 4</a:t>
            </a:r>
            <a:endParaRPr sz="800"/>
          </a:p>
        </p:txBody>
      </p:sp>
      <p:sp>
        <p:nvSpPr>
          <p:cNvPr id="138" name="Google Shape;138;p16"/>
          <p:cNvSpPr/>
          <p:nvPr/>
        </p:nvSpPr>
        <p:spPr>
          <a:xfrm>
            <a:off x="8321061" y="1566581"/>
            <a:ext cx="7029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Motor</a:t>
            </a:r>
            <a:r>
              <a:rPr lang="en-GB" sz="800">
                <a:solidFill>
                  <a:schemeClr val="dk1"/>
                </a:solidFill>
              </a:rPr>
              <a:t> 1</a:t>
            </a:r>
            <a:endParaRPr sz="800"/>
          </a:p>
        </p:txBody>
      </p:sp>
      <p:sp>
        <p:nvSpPr>
          <p:cNvPr id="139" name="Google Shape;139;p16"/>
          <p:cNvSpPr/>
          <p:nvPr/>
        </p:nvSpPr>
        <p:spPr>
          <a:xfrm>
            <a:off x="8321061" y="1959656"/>
            <a:ext cx="7029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Motor</a:t>
            </a:r>
            <a:r>
              <a:rPr lang="en-GB" sz="800">
                <a:solidFill>
                  <a:schemeClr val="dk1"/>
                </a:solidFill>
              </a:rPr>
              <a:t> 2</a:t>
            </a:r>
            <a:endParaRPr sz="800"/>
          </a:p>
        </p:txBody>
      </p:sp>
      <p:sp>
        <p:nvSpPr>
          <p:cNvPr id="140" name="Google Shape;140;p16"/>
          <p:cNvSpPr/>
          <p:nvPr/>
        </p:nvSpPr>
        <p:spPr>
          <a:xfrm>
            <a:off x="8321061" y="2352731"/>
            <a:ext cx="7029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Motor</a:t>
            </a:r>
            <a:r>
              <a:rPr lang="en-GB" sz="800">
                <a:solidFill>
                  <a:schemeClr val="dk1"/>
                </a:solidFill>
              </a:rPr>
              <a:t> 3</a:t>
            </a:r>
            <a:endParaRPr sz="800"/>
          </a:p>
        </p:txBody>
      </p:sp>
      <p:sp>
        <p:nvSpPr>
          <p:cNvPr id="141" name="Google Shape;141;p16"/>
          <p:cNvSpPr/>
          <p:nvPr/>
        </p:nvSpPr>
        <p:spPr>
          <a:xfrm>
            <a:off x="8321061" y="2745806"/>
            <a:ext cx="7029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Motor</a:t>
            </a:r>
            <a:r>
              <a:rPr lang="en-GB" sz="800">
                <a:solidFill>
                  <a:schemeClr val="dk1"/>
                </a:solidFill>
              </a:rPr>
              <a:t> 4</a:t>
            </a:r>
            <a:endParaRPr sz="800"/>
          </a:p>
        </p:txBody>
      </p:sp>
      <p:sp>
        <p:nvSpPr>
          <p:cNvPr id="142" name="Google Shape;142;p16"/>
          <p:cNvSpPr txBox="1"/>
          <p:nvPr/>
        </p:nvSpPr>
        <p:spPr>
          <a:xfrm>
            <a:off x="384450" y="1915822"/>
            <a:ext cx="848700" cy="30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t>IMU</a:t>
            </a:r>
            <a:endParaRPr sz="800"/>
          </a:p>
        </p:txBody>
      </p:sp>
      <p:sp>
        <p:nvSpPr>
          <p:cNvPr id="143" name="Google Shape;143;p16"/>
          <p:cNvSpPr/>
          <p:nvPr/>
        </p:nvSpPr>
        <p:spPr>
          <a:xfrm>
            <a:off x="2810975" y="781225"/>
            <a:ext cx="5886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EXTINT</a:t>
            </a:r>
            <a:endParaRPr sz="800"/>
          </a:p>
        </p:txBody>
      </p:sp>
      <p:sp>
        <p:nvSpPr>
          <p:cNvPr id="144" name="Google Shape;144;p16"/>
          <p:cNvSpPr/>
          <p:nvPr/>
        </p:nvSpPr>
        <p:spPr>
          <a:xfrm>
            <a:off x="2658575" y="2638750"/>
            <a:ext cx="5886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TWI 0</a:t>
            </a:r>
            <a:endParaRPr sz="800"/>
          </a:p>
        </p:txBody>
      </p:sp>
      <p:sp>
        <p:nvSpPr>
          <p:cNvPr id="145" name="Google Shape;145;p16"/>
          <p:cNvSpPr/>
          <p:nvPr/>
        </p:nvSpPr>
        <p:spPr>
          <a:xfrm>
            <a:off x="6049485" y="2033681"/>
            <a:ext cx="5886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TC 0</a:t>
            </a:r>
            <a:endParaRPr sz="800"/>
          </a:p>
        </p:txBody>
      </p:sp>
      <p:sp>
        <p:nvSpPr>
          <p:cNvPr id="146" name="Google Shape;146;p16"/>
          <p:cNvSpPr/>
          <p:nvPr/>
        </p:nvSpPr>
        <p:spPr>
          <a:xfrm>
            <a:off x="6049356" y="2354981"/>
            <a:ext cx="5886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TC 2</a:t>
            </a:r>
            <a:endParaRPr sz="800"/>
          </a:p>
        </p:txBody>
      </p:sp>
      <p:sp>
        <p:nvSpPr>
          <p:cNvPr id="147" name="Google Shape;147;p16"/>
          <p:cNvSpPr/>
          <p:nvPr/>
        </p:nvSpPr>
        <p:spPr>
          <a:xfrm>
            <a:off x="2963825" y="3478475"/>
            <a:ext cx="7029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Watchdog</a:t>
            </a:r>
            <a:endParaRPr sz="800"/>
          </a:p>
        </p:txBody>
      </p:sp>
      <p:sp>
        <p:nvSpPr>
          <p:cNvPr id="148" name="Google Shape;148;p16"/>
          <p:cNvSpPr/>
          <p:nvPr/>
        </p:nvSpPr>
        <p:spPr>
          <a:xfrm>
            <a:off x="5900987" y="3437630"/>
            <a:ext cx="5259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TC 1</a:t>
            </a:r>
            <a:endParaRPr sz="800"/>
          </a:p>
        </p:txBody>
      </p:sp>
      <p:cxnSp>
        <p:nvCxnSpPr>
          <p:cNvPr id="149" name="Google Shape;149;p16"/>
          <p:cNvCxnSpPr>
            <a:stCxn id="134" idx="3"/>
            <a:endCxn id="138" idx="1"/>
          </p:cNvCxnSpPr>
          <p:nvPr/>
        </p:nvCxnSpPr>
        <p:spPr>
          <a:xfrm>
            <a:off x="8148611" y="1717456"/>
            <a:ext cx="172500" cy="0"/>
          </a:xfrm>
          <a:prstGeom prst="straightConnector1">
            <a:avLst/>
          </a:prstGeom>
          <a:noFill/>
          <a:ln cap="flat" cmpd="sng" w="9525">
            <a:solidFill>
              <a:schemeClr val="dk2"/>
            </a:solidFill>
            <a:prstDash val="solid"/>
            <a:round/>
            <a:headEnd len="med" w="med" type="none"/>
            <a:tailEnd len="med" w="med" type="triangle"/>
          </a:ln>
        </p:spPr>
      </p:cxnSp>
      <p:cxnSp>
        <p:nvCxnSpPr>
          <p:cNvPr id="150" name="Google Shape;150;p16"/>
          <p:cNvCxnSpPr>
            <a:stCxn id="135" idx="3"/>
            <a:endCxn id="139" idx="1"/>
          </p:cNvCxnSpPr>
          <p:nvPr/>
        </p:nvCxnSpPr>
        <p:spPr>
          <a:xfrm>
            <a:off x="8148611" y="2110531"/>
            <a:ext cx="172500" cy="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16"/>
          <p:cNvCxnSpPr>
            <a:stCxn id="136" idx="3"/>
            <a:endCxn id="140" idx="1"/>
          </p:cNvCxnSpPr>
          <p:nvPr/>
        </p:nvCxnSpPr>
        <p:spPr>
          <a:xfrm>
            <a:off x="8148511" y="2503606"/>
            <a:ext cx="172500" cy="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16"/>
          <p:cNvCxnSpPr>
            <a:endCxn id="141" idx="1"/>
          </p:cNvCxnSpPr>
          <p:nvPr/>
        </p:nvCxnSpPr>
        <p:spPr>
          <a:xfrm>
            <a:off x="8148561" y="2896706"/>
            <a:ext cx="172500" cy="0"/>
          </a:xfrm>
          <a:prstGeom prst="straightConnector1">
            <a:avLst/>
          </a:prstGeom>
          <a:noFill/>
          <a:ln cap="flat" cmpd="sng" w="9525">
            <a:solidFill>
              <a:schemeClr val="dk2"/>
            </a:solidFill>
            <a:prstDash val="solid"/>
            <a:round/>
            <a:headEnd len="med" w="med" type="none"/>
            <a:tailEnd len="med" w="med" type="triangle"/>
          </a:ln>
        </p:spPr>
      </p:cxnSp>
      <p:sp>
        <p:nvSpPr>
          <p:cNvPr id="153" name="Google Shape;153;p16"/>
          <p:cNvSpPr txBox="1"/>
          <p:nvPr/>
        </p:nvSpPr>
        <p:spPr>
          <a:xfrm>
            <a:off x="6850061" y="3254581"/>
            <a:ext cx="2253900" cy="15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PID Controller loop will need to run around at 200Hz as that is the fastest the sensor will have new data. Therefor in 5ms need to </a:t>
            </a:r>
            <a:endParaRPr sz="800"/>
          </a:p>
          <a:p>
            <a:pPr indent="0" lvl="0" marL="0" rtl="0" algn="l">
              <a:spcBef>
                <a:spcPts val="0"/>
              </a:spcBef>
              <a:spcAft>
                <a:spcPts val="0"/>
              </a:spcAft>
              <a:buNone/>
            </a:pPr>
            <a:r>
              <a:rPr lang="en-GB" sz="800"/>
              <a:t>Read Sensor &amp; Radio - PID - Write to Motors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Note: PID Will take most time and computation heavy. Need to avoid floating point math if possible. </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Main Controller Timed scheduler</a:t>
            </a:r>
            <a:endParaRPr sz="800"/>
          </a:p>
        </p:txBody>
      </p:sp>
      <p:sp>
        <p:nvSpPr>
          <p:cNvPr id="154" name="Google Shape;154;p16"/>
          <p:cNvSpPr txBox="1"/>
          <p:nvPr/>
        </p:nvSpPr>
        <p:spPr>
          <a:xfrm>
            <a:off x="69750" y="3295875"/>
            <a:ext cx="1413900" cy="8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Angle Calculations will take place on the DMP (Digital Motion Processor)</a:t>
            </a:r>
            <a:endParaRPr sz="800"/>
          </a:p>
          <a:p>
            <a:pPr indent="0" lvl="0" marL="0" rtl="0" algn="l">
              <a:spcBef>
                <a:spcPts val="0"/>
              </a:spcBef>
              <a:spcAft>
                <a:spcPts val="0"/>
              </a:spcAft>
              <a:buNone/>
            </a:pPr>
            <a:r>
              <a:rPr lang="en-GB" sz="800"/>
              <a:t>MPU-6050 (6 Axis)</a:t>
            </a:r>
            <a:endParaRPr sz="800"/>
          </a:p>
          <a:p>
            <a:pPr indent="0" lvl="0" marL="0" rtl="0" algn="l">
              <a:spcBef>
                <a:spcPts val="0"/>
              </a:spcBef>
              <a:spcAft>
                <a:spcPts val="0"/>
              </a:spcAft>
              <a:buNone/>
            </a:pPr>
            <a:r>
              <a:rPr lang="en-GB" sz="800"/>
              <a:t>MPU-9250 (9 Axis)</a:t>
            </a:r>
            <a:endParaRPr sz="800"/>
          </a:p>
          <a:p>
            <a:pPr indent="0" lvl="0" marL="0" rtl="0" algn="l">
              <a:spcBef>
                <a:spcPts val="0"/>
              </a:spcBef>
              <a:spcAft>
                <a:spcPts val="0"/>
              </a:spcAft>
              <a:buNone/>
            </a:pPr>
            <a:r>
              <a:t/>
            </a:r>
            <a:endParaRPr sz="800"/>
          </a:p>
        </p:txBody>
      </p:sp>
      <p:sp>
        <p:nvSpPr>
          <p:cNvPr id="155" name="Google Shape;155;p16"/>
          <p:cNvSpPr txBox="1"/>
          <p:nvPr/>
        </p:nvSpPr>
        <p:spPr>
          <a:xfrm>
            <a:off x="3796725" y="724550"/>
            <a:ext cx="1756500" cy="41883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t/>
            </a:r>
            <a:endParaRPr b="1" i="1" sz="900"/>
          </a:p>
        </p:txBody>
      </p:sp>
      <p:sp>
        <p:nvSpPr>
          <p:cNvPr id="156" name="Google Shape;156;p16"/>
          <p:cNvSpPr/>
          <p:nvPr/>
        </p:nvSpPr>
        <p:spPr>
          <a:xfrm>
            <a:off x="5628786" y="2121631"/>
            <a:ext cx="525900" cy="450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Write</a:t>
            </a:r>
            <a:r>
              <a:rPr lang="en-GB" sz="800">
                <a:solidFill>
                  <a:schemeClr val="dk1"/>
                </a:solidFill>
              </a:rPr>
              <a:t> PWM Driver</a:t>
            </a:r>
            <a:endParaRPr sz="800"/>
          </a:p>
        </p:txBody>
      </p:sp>
      <p:sp>
        <p:nvSpPr>
          <p:cNvPr id="157" name="Google Shape;157;p16"/>
          <p:cNvSpPr/>
          <p:nvPr/>
        </p:nvSpPr>
        <p:spPr>
          <a:xfrm>
            <a:off x="3068950" y="1066225"/>
            <a:ext cx="783000" cy="3018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Read PWM Driver</a:t>
            </a:r>
            <a:endParaRPr sz="800"/>
          </a:p>
        </p:txBody>
      </p:sp>
      <p:sp>
        <p:nvSpPr>
          <p:cNvPr id="158" name="Google Shape;158;p16"/>
          <p:cNvSpPr/>
          <p:nvPr/>
        </p:nvSpPr>
        <p:spPr>
          <a:xfrm>
            <a:off x="3093825" y="2884700"/>
            <a:ext cx="758100" cy="3018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I2C</a:t>
            </a:r>
            <a:r>
              <a:rPr lang="en-GB" sz="800">
                <a:solidFill>
                  <a:schemeClr val="dk1"/>
                </a:solidFill>
              </a:rPr>
              <a:t>Driver</a:t>
            </a:r>
            <a:endParaRPr sz="800"/>
          </a:p>
        </p:txBody>
      </p:sp>
      <p:sp>
        <p:nvSpPr>
          <p:cNvPr id="159" name="Google Shape;159;p16"/>
          <p:cNvSpPr/>
          <p:nvPr/>
        </p:nvSpPr>
        <p:spPr>
          <a:xfrm>
            <a:off x="4862251" y="2045431"/>
            <a:ext cx="758100" cy="5481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Cyclic Collective Throttle Mixer</a:t>
            </a:r>
            <a:endParaRPr sz="800"/>
          </a:p>
        </p:txBody>
      </p:sp>
      <p:sp>
        <p:nvSpPr>
          <p:cNvPr id="160" name="Google Shape;160;p16"/>
          <p:cNvSpPr/>
          <p:nvPr/>
        </p:nvSpPr>
        <p:spPr>
          <a:xfrm>
            <a:off x="3851950" y="2884700"/>
            <a:ext cx="758100" cy="3018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Sensors (200Hz)</a:t>
            </a:r>
            <a:endParaRPr sz="800"/>
          </a:p>
        </p:txBody>
      </p:sp>
      <p:sp>
        <p:nvSpPr>
          <p:cNvPr id="161" name="Google Shape;161;p16"/>
          <p:cNvSpPr/>
          <p:nvPr/>
        </p:nvSpPr>
        <p:spPr>
          <a:xfrm>
            <a:off x="6301600" y="131350"/>
            <a:ext cx="1413900" cy="1872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Hardware</a:t>
            </a:r>
            <a:endParaRPr sz="800"/>
          </a:p>
        </p:txBody>
      </p:sp>
      <p:sp>
        <p:nvSpPr>
          <p:cNvPr id="162" name="Google Shape;162;p16"/>
          <p:cNvSpPr/>
          <p:nvPr/>
        </p:nvSpPr>
        <p:spPr>
          <a:xfrm>
            <a:off x="6301600" y="335675"/>
            <a:ext cx="1413900" cy="1872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Driver Software (API)</a:t>
            </a:r>
            <a:endParaRPr sz="800"/>
          </a:p>
        </p:txBody>
      </p:sp>
      <p:sp>
        <p:nvSpPr>
          <p:cNvPr id="163" name="Google Shape;163;p16"/>
          <p:cNvSpPr txBox="1"/>
          <p:nvPr/>
        </p:nvSpPr>
        <p:spPr>
          <a:xfrm>
            <a:off x="7685675" y="-40825"/>
            <a:ext cx="1458300" cy="10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600"/>
              <a:t>Hardware</a:t>
            </a:r>
            <a:r>
              <a:rPr lang="en-GB" sz="600"/>
              <a:t> - Enables signals to read</a:t>
            </a:r>
            <a:endParaRPr sz="600"/>
          </a:p>
          <a:p>
            <a:pPr indent="0" lvl="0" marL="0" rtl="0" algn="l">
              <a:spcBef>
                <a:spcPts val="0"/>
              </a:spcBef>
              <a:spcAft>
                <a:spcPts val="0"/>
              </a:spcAft>
              <a:buNone/>
            </a:pPr>
            <a:r>
              <a:rPr b="1" lang="en-GB" sz="600"/>
              <a:t>Driver Software</a:t>
            </a:r>
            <a:r>
              <a:rPr lang="en-GB" sz="600"/>
              <a:t> - Utilises the hardware and enables low level read/write to and from hardware providing an API.</a:t>
            </a:r>
            <a:endParaRPr sz="600"/>
          </a:p>
          <a:p>
            <a:pPr indent="0" lvl="0" marL="0" rtl="0" algn="l">
              <a:spcBef>
                <a:spcPts val="0"/>
              </a:spcBef>
              <a:spcAft>
                <a:spcPts val="0"/>
              </a:spcAft>
              <a:buNone/>
            </a:pPr>
            <a:r>
              <a:rPr b="1" lang="en-GB" sz="600"/>
              <a:t>Library/Func.</a:t>
            </a:r>
            <a:r>
              <a:rPr lang="en-GB" sz="600"/>
              <a:t> - Code that interacts with the driver API and performs calculations.</a:t>
            </a:r>
            <a:endParaRPr sz="600"/>
          </a:p>
          <a:p>
            <a:pPr indent="0" lvl="0" marL="0" rtl="0" algn="l">
              <a:spcBef>
                <a:spcPts val="0"/>
              </a:spcBef>
              <a:spcAft>
                <a:spcPts val="0"/>
              </a:spcAft>
              <a:buNone/>
            </a:pPr>
            <a:r>
              <a:rPr b="1" lang="en-GB" sz="600"/>
              <a:t>ISR</a:t>
            </a:r>
            <a:r>
              <a:rPr lang="en-GB" sz="600"/>
              <a:t> - Routine called when a particular interrupt is fired</a:t>
            </a:r>
            <a:endParaRPr sz="600"/>
          </a:p>
        </p:txBody>
      </p:sp>
      <p:sp>
        <p:nvSpPr>
          <p:cNvPr id="164" name="Google Shape;164;p16"/>
          <p:cNvSpPr/>
          <p:nvPr/>
        </p:nvSpPr>
        <p:spPr>
          <a:xfrm>
            <a:off x="3480825" y="3740175"/>
            <a:ext cx="783000" cy="3018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Watchdog Driver</a:t>
            </a:r>
            <a:endParaRPr sz="800"/>
          </a:p>
        </p:txBody>
      </p:sp>
      <p:sp>
        <p:nvSpPr>
          <p:cNvPr id="165" name="Google Shape;165;p16"/>
          <p:cNvSpPr/>
          <p:nvPr/>
        </p:nvSpPr>
        <p:spPr>
          <a:xfrm>
            <a:off x="2936237" y="1368025"/>
            <a:ext cx="758100" cy="3018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PinChange ISR</a:t>
            </a:r>
            <a:endParaRPr sz="800"/>
          </a:p>
        </p:txBody>
      </p:sp>
      <p:sp>
        <p:nvSpPr>
          <p:cNvPr id="166" name="Google Shape;166;p16"/>
          <p:cNvSpPr/>
          <p:nvPr/>
        </p:nvSpPr>
        <p:spPr>
          <a:xfrm>
            <a:off x="5553213" y="3014138"/>
            <a:ext cx="630900" cy="4029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TC1 Overflow</a:t>
            </a:r>
            <a:r>
              <a:rPr lang="en-GB" sz="800"/>
              <a:t> ISR</a:t>
            </a:r>
            <a:endParaRPr sz="800"/>
          </a:p>
        </p:txBody>
      </p:sp>
      <p:sp>
        <p:nvSpPr>
          <p:cNvPr id="167" name="Google Shape;167;p16"/>
          <p:cNvSpPr/>
          <p:nvPr/>
        </p:nvSpPr>
        <p:spPr>
          <a:xfrm>
            <a:off x="6301600" y="540000"/>
            <a:ext cx="1413900" cy="1872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Library/Functions (Tasks)</a:t>
            </a:r>
            <a:endParaRPr sz="800"/>
          </a:p>
        </p:txBody>
      </p:sp>
      <p:sp>
        <p:nvSpPr>
          <p:cNvPr id="168" name="Google Shape;168;p16"/>
          <p:cNvSpPr/>
          <p:nvPr/>
        </p:nvSpPr>
        <p:spPr>
          <a:xfrm>
            <a:off x="6296800" y="744325"/>
            <a:ext cx="1413900" cy="1872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Interrupt Service Routine</a:t>
            </a:r>
            <a:endParaRPr sz="800"/>
          </a:p>
        </p:txBody>
      </p:sp>
      <p:sp>
        <p:nvSpPr>
          <p:cNvPr id="169" name="Google Shape;169;p16"/>
          <p:cNvSpPr/>
          <p:nvPr/>
        </p:nvSpPr>
        <p:spPr>
          <a:xfrm>
            <a:off x="3856361" y="2168275"/>
            <a:ext cx="758100" cy="3018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PID Control</a:t>
            </a:r>
            <a:endParaRPr sz="800"/>
          </a:p>
          <a:p>
            <a:pPr indent="0" lvl="0" marL="0" rtl="0" algn="ctr">
              <a:spcBef>
                <a:spcPts val="0"/>
              </a:spcBef>
              <a:spcAft>
                <a:spcPts val="0"/>
              </a:spcAft>
              <a:buNone/>
            </a:pPr>
            <a:r>
              <a:rPr lang="en-GB" sz="800"/>
              <a:t>(200Hz)</a:t>
            </a:r>
            <a:endParaRPr sz="800"/>
          </a:p>
        </p:txBody>
      </p:sp>
      <p:sp>
        <p:nvSpPr>
          <p:cNvPr id="170" name="Google Shape;170;p16"/>
          <p:cNvSpPr/>
          <p:nvPr/>
        </p:nvSpPr>
        <p:spPr>
          <a:xfrm>
            <a:off x="5312363" y="3437613"/>
            <a:ext cx="588600" cy="3018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TC1 Driver</a:t>
            </a:r>
            <a:endParaRPr sz="800"/>
          </a:p>
        </p:txBody>
      </p:sp>
      <p:sp>
        <p:nvSpPr>
          <p:cNvPr id="171" name="Google Shape;171;p16"/>
          <p:cNvSpPr/>
          <p:nvPr/>
        </p:nvSpPr>
        <p:spPr>
          <a:xfrm>
            <a:off x="3690275" y="1368025"/>
            <a:ext cx="758100" cy="3018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Radio (100KHz)</a:t>
            </a:r>
            <a:endParaRPr sz="800"/>
          </a:p>
        </p:txBody>
      </p:sp>
      <p:sp>
        <p:nvSpPr>
          <p:cNvPr id="172" name="Google Shape;172;p16"/>
          <p:cNvSpPr txBox="1"/>
          <p:nvPr/>
        </p:nvSpPr>
        <p:spPr>
          <a:xfrm>
            <a:off x="3628175" y="380565"/>
            <a:ext cx="2183700" cy="26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Main (1MHz)</a:t>
            </a:r>
            <a:endParaRPr/>
          </a:p>
        </p:txBody>
      </p:sp>
      <p:sp>
        <p:nvSpPr>
          <p:cNvPr id="173" name="Google Shape;173;p16"/>
          <p:cNvSpPr/>
          <p:nvPr/>
        </p:nvSpPr>
        <p:spPr>
          <a:xfrm>
            <a:off x="5857201" y="4246750"/>
            <a:ext cx="7581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USART 0</a:t>
            </a:r>
            <a:endParaRPr sz="800"/>
          </a:p>
        </p:txBody>
      </p:sp>
      <p:sp>
        <p:nvSpPr>
          <p:cNvPr id="174" name="Google Shape;174;p16"/>
          <p:cNvSpPr/>
          <p:nvPr/>
        </p:nvSpPr>
        <p:spPr>
          <a:xfrm>
            <a:off x="5074200" y="4246750"/>
            <a:ext cx="783000" cy="3018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USART 0 </a:t>
            </a:r>
            <a:r>
              <a:rPr lang="en-GB" sz="800">
                <a:solidFill>
                  <a:schemeClr val="dk1"/>
                </a:solidFill>
              </a:rPr>
              <a:t>Driver</a:t>
            </a:r>
            <a:endParaRPr sz="800"/>
          </a:p>
        </p:txBody>
      </p:sp>
      <p:sp>
        <p:nvSpPr>
          <p:cNvPr id="175" name="Google Shape;175;p16"/>
          <p:cNvSpPr/>
          <p:nvPr/>
        </p:nvSpPr>
        <p:spPr>
          <a:xfrm>
            <a:off x="4316100" y="4248975"/>
            <a:ext cx="758100" cy="3018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Debug</a:t>
            </a:r>
            <a:endParaRPr sz="800"/>
          </a:p>
        </p:txBody>
      </p:sp>
      <p:sp>
        <p:nvSpPr>
          <p:cNvPr id="176" name="Google Shape;176;p16"/>
          <p:cNvSpPr txBox="1"/>
          <p:nvPr/>
        </p:nvSpPr>
        <p:spPr>
          <a:xfrm>
            <a:off x="3480825" y="112800"/>
            <a:ext cx="2253900" cy="26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t>Atmega 328p Microcontroller</a:t>
            </a:r>
            <a:endParaRPr sz="1200"/>
          </a:p>
        </p:txBody>
      </p:sp>
      <p:sp>
        <p:nvSpPr>
          <p:cNvPr id="177" name="Google Shape;177;p16"/>
          <p:cNvSpPr txBox="1"/>
          <p:nvPr/>
        </p:nvSpPr>
        <p:spPr>
          <a:xfrm>
            <a:off x="1458613" y="3417038"/>
            <a:ext cx="1413900" cy="8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TC 1 will be used to clock the main controller, ensuring all tasks are scheduled correctly. ISR will be simple, only incrementing a count</a:t>
            </a:r>
            <a:endParaRPr sz="800"/>
          </a:p>
          <a:p>
            <a:pPr indent="0" lvl="0" marL="0" rtl="0" algn="l">
              <a:spcBef>
                <a:spcPts val="0"/>
              </a:spcBef>
              <a:spcAft>
                <a:spcPts val="0"/>
              </a:spcAft>
              <a:buNone/>
            </a:pPr>
            <a:r>
              <a:t/>
            </a:r>
            <a:endParaRPr sz="800"/>
          </a:p>
        </p:txBody>
      </p:sp>
      <p:cxnSp>
        <p:nvCxnSpPr>
          <p:cNvPr id="178" name="Google Shape;178;p16"/>
          <p:cNvCxnSpPr>
            <a:stCxn id="171" idx="2"/>
            <a:endCxn id="169" idx="0"/>
          </p:cNvCxnSpPr>
          <p:nvPr/>
        </p:nvCxnSpPr>
        <p:spPr>
          <a:xfrm flipH="1" rot="-5400000">
            <a:off x="3903125" y="1836025"/>
            <a:ext cx="498600" cy="166200"/>
          </a:xfrm>
          <a:prstGeom prst="curvedConnector3">
            <a:avLst>
              <a:gd fmla="val 49985" name="adj1"/>
            </a:avLst>
          </a:prstGeom>
          <a:noFill/>
          <a:ln cap="flat" cmpd="sng" w="9525">
            <a:solidFill>
              <a:schemeClr val="dk2"/>
            </a:solidFill>
            <a:prstDash val="solid"/>
            <a:round/>
            <a:headEnd len="med" w="med" type="none"/>
            <a:tailEnd len="med" w="med" type="triangle"/>
          </a:ln>
        </p:spPr>
      </p:cxnSp>
      <p:cxnSp>
        <p:nvCxnSpPr>
          <p:cNvPr id="179" name="Google Shape;179;p16"/>
          <p:cNvCxnSpPr>
            <a:stCxn id="160" idx="0"/>
            <a:endCxn id="169" idx="2"/>
          </p:cNvCxnSpPr>
          <p:nvPr/>
        </p:nvCxnSpPr>
        <p:spPr>
          <a:xfrm rot="-5400000">
            <a:off x="4025950" y="2675150"/>
            <a:ext cx="414600" cy="4500"/>
          </a:xfrm>
          <a:prstGeom prst="curvedConnector3">
            <a:avLst>
              <a:gd fmla="val 50003" name="adj1"/>
            </a:avLst>
          </a:prstGeom>
          <a:noFill/>
          <a:ln cap="flat" cmpd="sng" w="9525">
            <a:solidFill>
              <a:schemeClr val="dk2"/>
            </a:solidFill>
            <a:prstDash val="solid"/>
            <a:round/>
            <a:headEnd len="med" w="med" type="none"/>
            <a:tailEnd len="med" w="med" type="stealth"/>
          </a:ln>
        </p:spPr>
      </p:cxnSp>
      <p:cxnSp>
        <p:nvCxnSpPr>
          <p:cNvPr id="180" name="Google Shape;180;p16"/>
          <p:cNvCxnSpPr>
            <a:stCxn id="169" idx="3"/>
            <a:endCxn id="159" idx="1"/>
          </p:cNvCxnSpPr>
          <p:nvPr/>
        </p:nvCxnSpPr>
        <p:spPr>
          <a:xfrm>
            <a:off x="4614461" y="2319175"/>
            <a:ext cx="247800" cy="600"/>
          </a:xfrm>
          <a:prstGeom prst="curvedConnector3">
            <a:avLst>
              <a:gd fmla="val 49998" name="adj1"/>
            </a:avLst>
          </a:prstGeom>
          <a:noFill/>
          <a:ln cap="flat" cmpd="sng" w="9525">
            <a:solidFill>
              <a:schemeClr val="dk2"/>
            </a:solidFill>
            <a:prstDash val="solid"/>
            <a:round/>
            <a:headEnd len="med" w="med" type="none"/>
            <a:tailEnd len="med" w="med" type="stealth"/>
          </a:ln>
        </p:spPr>
      </p:cxnSp>
      <p:sp>
        <p:nvSpPr>
          <p:cNvPr id="181" name="Google Shape;181;p16"/>
          <p:cNvSpPr/>
          <p:nvPr/>
        </p:nvSpPr>
        <p:spPr>
          <a:xfrm>
            <a:off x="4760800" y="1140313"/>
            <a:ext cx="758100" cy="3018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Digital</a:t>
            </a:r>
            <a:endParaRPr sz="800"/>
          </a:p>
          <a:p>
            <a:pPr indent="0" lvl="0" marL="0" rtl="0" algn="ctr">
              <a:spcBef>
                <a:spcPts val="0"/>
              </a:spcBef>
              <a:spcAft>
                <a:spcPts val="0"/>
              </a:spcAft>
              <a:buNone/>
            </a:pPr>
            <a:r>
              <a:rPr lang="en-GB" sz="800"/>
              <a:t>Write</a:t>
            </a:r>
            <a:endParaRPr sz="800"/>
          </a:p>
        </p:txBody>
      </p:sp>
      <p:sp>
        <p:nvSpPr>
          <p:cNvPr id="182" name="Google Shape;182;p16"/>
          <p:cNvSpPr/>
          <p:nvPr/>
        </p:nvSpPr>
        <p:spPr>
          <a:xfrm>
            <a:off x="5518911" y="1066231"/>
            <a:ext cx="525900" cy="450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DigitalWrite</a:t>
            </a:r>
            <a:r>
              <a:rPr lang="en-GB" sz="800">
                <a:solidFill>
                  <a:schemeClr val="dk1"/>
                </a:solidFill>
              </a:rPr>
              <a:t> Driver</a:t>
            </a:r>
            <a:endParaRPr sz="800"/>
          </a:p>
        </p:txBody>
      </p:sp>
      <p:sp>
        <p:nvSpPr>
          <p:cNvPr id="183" name="Google Shape;183;p16"/>
          <p:cNvSpPr/>
          <p:nvPr/>
        </p:nvSpPr>
        <p:spPr>
          <a:xfrm>
            <a:off x="6034660" y="1127381"/>
            <a:ext cx="5886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X4 Pins</a:t>
            </a:r>
            <a:endParaRPr sz="800"/>
          </a:p>
        </p:txBody>
      </p:sp>
      <p:sp>
        <p:nvSpPr>
          <p:cNvPr id="184" name="Google Shape;184;p16"/>
          <p:cNvSpPr/>
          <p:nvPr/>
        </p:nvSpPr>
        <p:spPr>
          <a:xfrm>
            <a:off x="6638086" y="1141081"/>
            <a:ext cx="5886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LEDs</a:t>
            </a:r>
            <a:endParaRPr sz="800"/>
          </a:p>
        </p:txBody>
      </p:sp>
      <p:sp>
        <p:nvSpPr>
          <p:cNvPr id="185" name="Google Shape;185;p16"/>
          <p:cNvSpPr/>
          <p:nvPr/>
        </p:nvSpPr>
        <p:spPr>
          <a:xfrm>
            <a:off x="4263825" y="3740175"/>
            <a:ext cx="758100" cy="3018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Watchdog</a:t>
            </a:r>
            <a:endParaRPr sz="800"/>
          </a:p>
        </p:txBody>
      </p:sp>
      <p:cxnSp>
        <p:nvCxnSpPr>
          <p:cNvPr id="186" name="Google Shape;186;p16"/>
          <p:cNvCxnSpPr>
            <a:stCxn id="125" idx="3"/>
            <a:endCxn id="143" idx="1"/>
          </p:cNvCxnSpPr>
          <p:nvPr/>
        </p:nvCxnSpPr>
        <p:spPr>
          <a:xfrm>
            <a:off x="1937125" y="932125"/>
            <a:ext cx="873900" cy="0"/>
          </a:xfrm>
          <a:prstGeom prst="straightConnector1">
            <a:avLst/>
          </a:prstGeom>
          <a:noFill/>
          <a:ln cap="flat" cmpd="sng" w="9525">
            <a:solidFill>
              <a:schemeClr val="dk2"/>
            </a:solidFill>
            <a:prstDash val="solid"/>
            <a:round/>
            <a:headEnd len="med" w="med" type="none"/>
            <a:tailEnd len="med" w="med" type="stealth"/>
          </a:ln>
        </p:spPr>
      </p:cxnSp>
      <p:cxnSp>
        <p:nvCxnSpPr>
          <p:cNvPr id="187" name="Google Shape;187;p16"/>
          <p:cNvCxnSpPr>
            <a:stCxn id="121" idx="3"/>
            <a:endCxn id="144" idx="1"/>
          </p:cNvCxnSpPr>
          <p:nvPr/>
        </p:nvCxnSpPr>
        <p:spPr>
          <a:xfrm flipH="1" rot="10800000">
            <a:off x="1483650" y="2789650"/>
            <a:ext cx="1174800" cy="3300"/>
          </a:xfrm>
          <a:prstGeom prst="straightConnector1">
            <a:avLst/>
          </a:prstGeom>
          <a:noFill/>
          <a:ln cap="flat" cmpd="sng" w="9525">
            <a:solidFill>
              <a:schemeClr val="dk2"/>
            </a:solidFill>
            <a:prstDash val="solid"/>
            <a:round/>
            <a:headEnd len="med" w="med" type="none"/>
            <a:tailEnd len="med" w="med" type="stealth"/>
          </a:ln>
        </p:spPr>
      </p:cxnSp>
      <p:sp>
        <p:nvSpPr>
          <p:cNvPr id="188" name="Google Shape;188;p16"/>
          <p:cNvSpPr/>
          <p:nvPr/>
        </p:nvSpPr>
        <p:spPr>
          <a:xfrm>
            <a:off x="2753400" y="1954825"/>
            <a:ext cx="5886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EXTINT</a:t>
            </a:r>
            <a:endParaRPr sz="800"/>
          </a:p>
        </p:txBody>
      </p:sp>
      <p:cxnSp>
        <p:nvCxnSpPr>
          <p:cNvPr id="189" name="Google Shape;189;p16"/>
          <p:cNvCxnSpPr>
            <a:endCxn id="188" idx="1"/>
          </p:cNvCxnSpPr>
          <p:nvPr/>
        </p:nvCxnSpPr>
        <p:spPr>
          <a:xfrm flipH="1" rot="10800000">
            <a:off x="1381500" y="2105725"/>
            <a:ext cx="1371900" cy="3900"/>
          </a:xfrm>
          <a:prstGeom prst="straightConnector1">
            <a:avLst/>
          </a:prstGeom>
          <a:noFill/>
          <a:ln cap="flat" cmpd="sng" w="9525">
            <a:solidFill>
              <a:schemeClr val="dk2"/>
            </a:solidFill>
            <a:prstDash val="solid"/>
            <a:round/>
            <a:headEnd len="med" w="med" type="none"/>
            <a:tailEnd len="med" w="med" type="stealth"/>
          </a:ln>
        </p:spPr>
      </p:cxnSp>
      <p:sp>
        <p:nvSpPr>
          <p:cNvPr id="190" name="Google Shape;190;p16"/>
          <p:cNvSpPr/>
          <p:nvPr/>
        </p:nvSpPr>
        <p:spPr>
          <a:xfrm>
            <a:off x="2922037" y="2197825"/>
            <a:ext cx="758100" cy="3018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PinChange ISR</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7"/>
          <p:cNvSpPr txBox="1"/>
          <p:nvPr/>
        </p:nvSpPr>
        <p:spPr>
          <a:xfrm>
            <a:off x="765275" y="97950"/>
            <a:ext cx="1763100" cy="3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Events/Interrupts</a:t>
            </a:r>
            <a:endParaRPr b="1" u="sng"/>
          </a:p>
        </p:txBody>
      </p:sp>
      <p:sp>
        <p:nvSpPr>
          <p:cNvPr id="196" name="Google Shape;196;p17"/>
          <p:cNvSpPr txBox="1"/>
          <p:nvPr/>
        </p:nvSpPr>
        <p:spPr>
          <a:xfrm>
            <a:off x="190175" y="864750"/>
            <a:ext cx="816000" cy="3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Radio</a:t>
            </a:r>
            <a:endParaRPr sz="1000"/>
          </a:p>
        </p:txBody>
      </p:sp>
      <p:sp>
        <p:nvSpPr>
          <p:cNvPr id="197" name="Google Shape;197;p17"/>
          <p:cNvSpPr txBox="1"/>
          <p:nvPr/>
        </p:nvSpPr>
        <p:spPr>
          <a:xfrm>
            <a:off x="1073075" y="563675"/>
            <a:ext cx="1571700" cy="9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PCINT - THRO</a:t>
            </a:r>
            <a:endParaRPr sz="1000"/>
          </a:p>
          <a:p>
            <a:pPr indent="0" lvl="0" marL="0" rtl="0" algn="l">
              <a:spcBef>
                <a:spcPts val="0"/>
              </a:spcBef>
              <a:spcAft>
                <a:spcPts val="0"/>
              </a:spcAft>
              <a:buNone/>
            </a:pPr>
            <a:r>
              <a:rPr lang="en-GB" sz="1000"/>
              <a:t>PCINT - RUDD</a:t>
            </a:r>
            <a:endParaRPr sz="1000"/>
          </a:p>
          <a:p>
            <a:pPr indent="0" lvl="0" marL="0" rtl="0" algn="l">
              <a:spcBef>
                <a:spcPts val="0"/>
              </a:spcBef>
              <a:spcAft>
                <a:spcPts val="0"/>
              </a:spcAft>
              <a:buNone/>
            </a:pPr>
            <a:r>
              <a:rPr lang="en-GB" sz="1000">
                <a:solidFill>
                  <a:schemeClr val="dk1"/>
                </a:solidFill>
              </a:rPr>
              <a:t>PCINT - ALIE</a:t>
            </a:r>
            <a:endParaRPr sz="1000">
              <a:solidFill>
                <a:schemeClr val="dk1"/>
              </a:solidFill>
            </a:endParaRPr>
          </a:p>
          <a:p>
            <a:pPr indent="0" lvl="0" marL="0" rtl="0" algn="l">
              <a:spcBef>
                <a:spcPts val="0"/>
              </a:spcBef>
              <a:spcAft>
                <a:spcPts val="0"/>
              </a:spcAft>
              <a:buNone/>
            </a:pPr>
            <a:r>
              <a:rPr lang="en-GB" sz="1000">
                <a:solidFill>
                  <a:schemeClr val="dk1"/>
                </a:solidFill>
              </a:rPr>
              <a:t>PCINT - ELEV</a:t>
            </a:r>
            <a:endParaRPr sz="1000">
              <a:solidFill>
                <a:schemeClr val="dk1"/>
              </a:solidFill>
            </a:endParaRPr>
          </a:p>
          <a:p>
            <a:pPr indent="0" lvl="0" marL="0" rtl="0" algn="l">
              <a:spcBef>
                <a:spcPts val="0"/>
              </a:spcBef>
              <a:spcAft>
                <a:spcPts val="0"/>
              </a:spcAft>
              <a:buClr>
                <a:schemeClr val="dk1"/>
              </a:buClr>
              <a:buSzPts val="1100"/>
              <a:buFont typeface="Arial"/>
              <a:buNone/>
            </a:pPr>
            <a:r>
              <a:rPr lang="en-GB" sz="1000">
                <a:solidFill>
                  <a:schemeClr val="dk1"/>
                </a:solidFill>
              </a:rPr>
              <a:t>PCINT - AUX</a:t>
            </a:r>
            <a:endParaRPr sz="1000">
              <a:solidFill>
                <a:schemeClr val="dk1"/>
              </a:solidFill>
            </a:endParaRPr>
          </a:p>
        </p:txBody>
      </p:sp>
      <p:sp>
        <p:nvSpPr>
          <p:cNvPr id="198" name="Google Shape;198;p17"/>
          <p:cNvSpPr txBox="1"/>
          <p:nvPr/>
        </p:nvSpPr>
        <p:spPr>
          <a:xfrm>
            <a:off x="302425" y="2399055"/>
            <a:ext cx="816000" cy="3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rgbClr val="CCCCCC"/>
                </a:solidFill>
              </a:rPr>
              <a:t>Sensor</a:t>
            </a:r>
            <a:endParaRPr sz="1000">
              <a:solidFill>
                <a:srgbClr val="CCCCCC"/>
              </a:solidFill>
            </a:endParaRPr>
          </a:p>
        </p:txBody>
      </p:sp>
      <p:sp>
        <p:nvSpPr>
          <p:cNvPr id="199" name="Google Shape;199;p17"/>
          <p:cNvSpPr txBox="1"/>
          <p:nvPr/>
        </p:nvSpPr>
        <p:spPr>
          <a:xfrm>
            <a:off x="1073075" y="2389625"/>
            <a:ext cx="2728800" cy="3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rgbClr val="B7B7B7"/>
                </a:solidFill>
              </a:rPr>
              <a:t>PCINT - Data Ready/DMP</a:t>
            </a:r>
            <a:endParaRPr sz="1000">
              <a:solidFill>
                <a:srgbClr val="B7B7B7"/>
              </a:solidFill>
            </a:endParaRPr>
          </a:p>
        </p:txBody>
      </p:sp>
      <p:sp>
        <p:nvSpPr>
          <p:cNvPr id="200" name="Google Shape;200;p17"/>
          <p:cNvSpPr txBox="1"/>
          <p:nvPr/>
        </p:nvSpPr>
        <p:spPr>
          <a:xfrm>
            <a:off x="286422" y="3466600"/>
            <a:ext cx="816000" cy="3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Timer 1</a:t>
            </a:r>
            <a:endParaRPr sz="1000"/>
          </a:p>
        </p:txBody>
      </p:sp>
      <p:sp>
        <p:nvSpPr>
          <p:cNvPr id="201" name="Google Shape;201;p17"/>
          <p:cNvSpPr txBox="1"/>
          <p:nvPr/>
        </p:nvSpPr>
        <p:spPr>
          <a:xfrm>
            <a:off x="1148075" y="3466600"/>
            <a:ext cx="956400" cy="3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OVF- 1MHz</a:t>
            </a:r>
            <a:endParaRPr sz="1000">
              <a:solidFill>
                <a:schemeClr val="dk1"/>
              </a:solidFill>
            </a:endParaRPr>
          </a:p>
        </p:txBody>
      </p:sp>
      <p:sp>
        <p:nvSpPr>
          <p:cNvPr id="202" name="Google Shape;202;p17"/>
          <p:cNvSpPr txBox="1"/>
          <p:nvPr/>
        </p:nvSpPr>
        <p:spPr>
          <a:xfrm>
            <a:off x="2111375" y="521310"/>
            <a:ext cx="2789100" cy="1130700"/>
          </a:xfrm>
          <a:prstGeom prst="rect">
            <a:avLst/>
          </a:prstGeom>
          <a:no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n-GB" sz="1000"/>
              <a:t>Generated on rising all falling edge every 1ms-2ms (1000us - 2000us)</a:t>
            </a:r>
            <a:endParaRPr sz="1000"/>
          </a:p>
          <a:p>
            <a:pPr indent="-292100" lvl="0" marL="457200" rtl="0" algn="l">
              <a:spcBef>
                <a:spcPts val="0"/>
              </a:spcBef>
              <a:spcAft>
                <a:spcPts val="0"/>
              </a:spcAft>
              <a:buSzPts val="1000"/>
              <a:buChar char="-"/>
            </a:pPr>
            <a:r>
              <a:rPr lang="en-GB" sz="1000"/>
              <a:t>On Pin change captures tick count.</a:t>
            </a:r>
            <a:endParaRPr sz="1000"/>
          </a:p>
          <a:p>
            <a:pPr indent="-292100" lvl="0" marL="457200" rtl="0" algn="l">
              <a:spcBef>
                <a:spcPts val="0"/>
              </a:spcBef>
              <a:spcAft>
                <a:spcPts val="0"/>
              </a:spcAft>
              <a:buSzPts val="1000"/>
              <a:buChar char="-"/>
            </a:pPr>
            <a:r>
              <a:rPr lang="en-GB" sz="1000"/>
              <a:t>Calculates the time difference between falling and Rising edge</a:t>
            </a:r>
            <a:endParaRPr sz="1000"/>
          </a:p>
          <a:p>
            <a:pPr indent="-292100" lvl="0" marL="457200" rtl="0" algn="l">
              <a:spcBef>
                <a:spcPts val="0"/>
              </a:spcBef>
              <a:spcAft>
                <a:spcPts val="0"/>
              </a:spcAft>
              <a:buSzPts val="1000"/>
              <a:buChar char="-"/>
            </a:pPr>
            <a:r>
              <a:rPr lang="en-GB" sz="1000"/>
              <a:t>Updates GV </a:t>
            </a:r>
            <a:endParaRPr sz="1000"/>
          </a:p>
        </p:txBody>
      </p:sp>
      <p:sp>
        <p:nvSpPr>
          <p:cNvPr id="203" name="Google Shape;203;p17"/>
          <p:cNvSpPr txBox="1"/>
          <p:nvPr/>
        </p:nvSpPr>
        <p:spPr>
          <a:xfrm>
            <a:off x="2713225" y="1994949"/>
            <a:ext cx="2789100" cy="1197300"/>
          </a:xfrm>
          <a:prstGeom prst="rect">
            <a:avLst/>
          </a:prstGeom>
          <a:no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292100" lvl="0" marL="457200" rtl="0" algn="l">
              <a:spcBef>
                <a:spcPts val="0"/>
              </a:spcBef>
              <a:spcAft>
                <a:spcPts val="0"/>
              </a:spcAft>
              <a:buClr>
                <a:srgbClr val="B7B7B7"/>
              </a:buClr>
              <a:buSzPts val="1000"/>
              <a:buChar char="-"/>
            </a:pPr>
            <a:r>
              <a:rPr lang="en-GB" sz="1000">
                <a:solidFill>
                  <a:srgbClr val="B7B7B7"/>
                </a:solidFill>
              </a:rPr>
              <a:t>Interrupt generated when data </a:t>
            </a:r>
            <a:r>
              <a:rPr lang="en-GB" sz="1000">
                <a:solidFill>
                  <a:srgbClr val="B7B7B7"/>
                </a:solidFill>
              </a:rPr>
              <a:t>available</a:t>
            </a:r>
            <a:r>
              <a:rPr lang="en-GB" sz="1000">
                <a:solidFill>
                  <a:srgbClr val="B7B7B7"/>
                </a:solidFill>
              </a:rPr>
              <a:t> on the IMU</a:t>
            </a:r>
            <a:endParaRPr sz="1000">
              <a:solidFill>
                <a:srgbClr val="B7B7B7"/>
              </a:solidFill>
            </a:endParaRPr>
          </a:p>
          <a:p>
            <a:pPr indent="-292100" lvl="0" marL="457200" rtl="0" algn="l">
              <a:spcBef>
                <a:spcPts val="0"/>
              </a:spcBef>
              <a:spcAft>
                <a:spcPts val="0"/>
              </a:spcAft>
              <a:buClr>
                <a:srgbClr val="B7B7B7"/>
              </a:buClr>
              <a:buSzPts val="1000"/>
              <a:buChar char="-"/>
            </a:pPr>
            <a:r>
              <a:rPr lang="en-GB" sz="1000">
                <a:solidFill>
                  <a:srgbClr val="B7B7B7"/>
                </a:solidFill>
              </a:rPr>
              <a:t>Generated every 200Hz (5ms) (Could get away with 50Hz)</a:t>
            </a:r>
            <a:endParaRPr sz="1000">
              <a:solidFill>
                <a:srgbClr val="B7B7B7"/>
              </a:solidFill>
            </a:endParaRPr>
          </a:p>
          <a:p>
            <a:pPr indent="-292100" lvl="0" marL="457200" rtl="0" algn="l">
              <a:spcBef>
                <a:spcPts val="0"/>
              </a:spcBef>
              <a:spcAft>
                <a:spcPts val="0"/>
              </a:spcAft>
              <a:buClr>
                <a:srgbClr val="B7B7B7"/>
              </a:buClr>
              <a:buSzPts val="1000"/>
              <a:buChar char="-"/>
            </a:pPr>
            <a:r>
              <a:rPr lang="en-GB" sz="1000">
                <a:solidFill>
                  <a:srgbClr val="B7B7B7"/>
                </a:solidFill>
              </a:rPr>
              <a:t>Can then trigger read in main or just notify there is new data (Note: I2C read must </a:t>
            </a:r>
            <a:r>
              <a:rPr b="1" lang="en-GB" sz="1000" u="sng">
                <a:solidFill>
                  <a:srgbClr val="B7B7B7"/>
                </a:solidFill>
              </a:rPr>
              <a:t>NOT</a:t>
            </a:r>
            <a:r>
              <a:rPr lang="en-GB" sz="1000">
                <a:solidFill>
                  <a:srgbClr val="B7B7B7"/>
                </a:solidFill>
              </a:rPr>
              <a:t> take place in the ISR)</a:t>
            </a:r>
            <a:endParaRPr sz="1000">
              <a:solidFill>
                <a:srgbClr val="B7B7B7"/>
              </a:solidFill>
            </a:endParaRPr>
          </a:p>
        </p:txBody>
      </p:sp>
      <p:sp>
        <p:nvSpPr>
          <p:cNvPr id="204" name="Google Shape;204;p17"/>
          <p:cNvSpPr txBox="1"/>
          <p:nvPr/>
        </p:nvSpPr>
        <p:spPr>
          <a:xfrm>
            <a:off x="2047250" y="3309347"/>
            <a:ext cx="2789100" cy="1011300"/>
          </a:xfrm>
          <a:prstGeom prst="rect">
            <a:avLst/>
          </a:prstGeom>
          <a:no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n-GB" sz="1000"/>
              <a:t>Overflow </a:t>
            </a:r>
            <a:r>
              <a:rPr lang="en-GB" sz="1000"/>
              <a:t>interrupt</a:t>
            </a:r>
            <a:r>
              <a:rPr lang="en-GB" sz="1000"/>
              <a:t>, will overflow every 1us.</a:t>
            </a:r>
            <a:endParaRPr sz="1000"/>
          </a:p>
          <a:p>
            <a:pPr indent="-292100" lvl="0" marL="457200" rtl="0" algn="l">
              <a:spcBef>
                <a:spcPts val="0"/>
              </a:spcBef>
              <a:spcAft>
                <a:spcPts val="0"/>
              </a:spcAft>
              <a:buSzPts val="1000"/>
              <a:buChar char="-"/>
            </a:pPr>
            <a:r>
              <a:rPr lang="en-GB" sz="1000"/>
              <a:t>Will </a:t>
            </a:r>
            <a:r>
              <a:rPr lang="en-GB" sz="1000"/>
              <a:t>increment</a:t>
            </a:r>
            <a:r>
              <a:rPr lang="en-GB" sz="1000"/>
              <a:t> counter, used to clock time the main loop and tasks</a:t>
            </a:r>
            <a:endParaRPr sz="1000"/>
          </a:p>
          <a:p>
            <a:pPr indent="-292100" lvl="0" marL="457200" rtl="0" algn="l">
              <a:spcBef>
                <a:spcPts val="0"/>
              </a:spcBef>
              <a:spcAft>
                <a:spcPts val="0"/>
              </a:spcAft>
              <a:buSzPts val="1000"/>
              <a:buChar char="-"/>
            </a:pPr>
            <a:r>
              <a:rPr lang="en-GB" sz="1000"/>
              <a:t>Wake the controller</a:t>
            </a:r>
            <a:endParaRPr sz="1000"/>
          </a:p>
        </p:txBody>
      </p:sp>
      <p:sp>
        <p:nvSpPr>
          <p:cNvPr id="205" name="Google Shape;205;p17"/>
          <p:cNvSpPr/>
          <p:nvPr/>
        </p:nvSpPr>
        <p:spPr>
          <a:xfrm>
            <a:off x="925900" y="592900"/>
            <a:ext cx="307800" cy="882600"/>
          </a:xfrm>
          <a:prstGeom prst="leftBrace">
            <a:avLst>
              <a:gd fmla="val 8333"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7"/>
          <p:cNvSpPr/>
          <p:nvPr/>
        </p:nvSpPr>
        <p:spPr>
          <a:xfrm>
            <a:off x="865700" y="2390550"/>
            <a:ext cx="307800" cy="354600"/>
          </a:xfrm>
          <a:prstGeom prst="leftBrace">
            <a:avLst>
              <a:gd fmla="val 8333"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7"/>
          <p:cNvSpPr/>
          <p:nvPr/>
        </p:nvSpPr>
        <p:spPr>
          <a:xfrm>
            <a:off x="901672" y="3429750"/>
            <a:ext cx="307800" cy="446700"/>
          </a:xfrm>
          <a:prstGeom prst="leftBrace">
            <a:avLst>
              <a:gd fmla="val 8333"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7"/>
          <p:cNvSpPr txBox="1"/>
          <p:nvPr/>
        </p:nvSpPr>
        <p:spPr>
          <a:xfrm>
            <a:off x="7982200" y="585385"/>
            <a:ext cx="1388400" cy="3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Control Sequence</a:t>
            </a:r>
            <a:endParaRPr/>
          </a:p>
        </p:txBody>
      </p:sp>
      <p:sp>
        <p:nvSpPr>
          <p:cNvPr id="209" name="Google Shape;209;p17"/>
          <p:cNvSpPr/>
          <p:nvPr/>
        </p:nvSpPr>
        <p:spPr>
          <a:xfrm>
            <a:off x="6635050" y="628735"/>
            <a:ext cx="1143600" cy="307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Sensor</a:t>
            </a:r>
            <a:endParaRPr sz="1200"/>
          </a:p>
        </p:txBody>
      </p:sp>
      <p:sp>
        <p:nvSpPr>
          <p:cNvPr id="210" name="Google Shape;210;p17"/>
          <p:cNvSpPr/>
          <p:nvPr/>
        </p:nvSpPr>
        <p:spPr>
          <a:xfrm>
            <a:off x="6635050" y="1137060"/>
            <a:ext cx="1143600" cy="307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Radio</a:t>
            </a:r>
            <a:endParaRPr sz="1200"/>
          </a:p>
        </p:txBody>
      </p:sp>
      <p:sp>
        <p:nvSpPr>
          <p:cNvPr id="211" name="Google Shape;211;p17"/>
          <p:cNvSpPr/>
          <p:nvPr/>
        </p:nvSpPr>
        <p:spPr>
          <a:xfrm>
            <a:off x="6635050" y="1645385"/>
            <a:ext cx="1143600" cy="307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PID</a:t>
            </a:r>
            <a:endParaRPr sz="1200"/>
          </a:p>
        </p:txBody>
      </p:sp>
      <p:sp>
        <p:nvSpPr>
          <p:cNvPr id="212" name="Google Shape;212;p17"/>
          <p:cNvSpPr/>
          <p:nvPr/>
        </p:nvSpPr>
        <p:spPr>
          <a:xfrm>
            <a:off x="6635050" y="2183110"/>
            <a:ext cx="1143600" cy="307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Mixer</a:t>
            </a:r>
            <a:endParaRPr sz="1200"/>
          </a:p>
        </p:txBody>
      </p:sp>
      <p:sp>
        <p:nvSpPr>
          <p:cNvPr id="213" name="Google Shape;213;p17"/>
          <p:cNvSpPr/>
          <p:nvPr/>
        </p:nvSpPr>
        <p:spPr>
          <a:xfrm>
            <a:off x="6635050" y="2720835"/>
            <a:ext cx="1143600" cy="307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Motors</a:t>
            </a:r>
            <a:endParaRPr sz="1200"/>
          </a:p>
        </p:txBody>
      </p:sp>
      <p:sp>
        <p:nvSpPr>
          <p:cNvPr id="214" name="Google Shape;214;p17"/>
          <p:cNvSpPr/>
          <p:nvPr/>
        </p:nvSpPr>
        <p:spPr>
          <a:xfrm>
            <a:off x="6588250" y="3776610"/>
            <a:ext cx="1143600" cy="307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DIO</a:t>
            </a:r>
            <a:endParaRPr sz="1200"/>
          </a:p>
        </p:txBody>
      </p:sp>
      <p:sp>
        <p:nvSpPr>
          <p:cNvPr id="215" name="Google Shape;215;p17"/>
          <p:cNvSpPr txBox="1"/>
          <p:nvPr/>
        </p:nvSpPr>
        <p:spPr>
          <a:xfrm>
            <a:off x="5466250" y="29620"/>
            <a:ext cx="2419500" cy="4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latin typeface="Courier New"/>
                <a:ea typeface="Courier New"/>
                <a:cs typeface="Courier New"/>
                <a:sym typeface="Courier New"/>
              </a:rPr>
              <a:t>Void main(){</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while(1){</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If (Controlcount &gt;= 5ms){</a:t>
            </a:r>
            <a:endParaRPr sz="1000">
              <a:latin typeface="Courier New"/>
              <a:ea typeface="Courier New"/>
              <a:cs typeface="Courier New"/>
              <a:sym typeface="Courier New"/>
            </a:endParaRPr>
          </a:p>
        </p:txBody>
      </p:sp>
      <p:sp>
        <p:nvSpPr>
          <p:cNvPr id="216" name="Google Shape;216;p17"/>
          <p:cNvSpPr txBox="1"/>
          <p:nvPr/>
        </p:nvSpPr>
        <p:spPr>
          <a:xfrm>
            <a:off x="5680300" y="3132250"/>
            <a:ext cx="31353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latin typeface="Courier New"/>
                <a:ea typeface="Courier New"/>
                <a:cs typeface="Courier New"/>
                <a:sym typeface="Courier New"/>
              </a:rPr>
              <a:t>ControlCount = 0; //Reset count</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a:t>
            </a:r>
            <a:endParaRPr sz="1000">
              <a:latin typeface="Courier New"/>
              <a:ea typeface="Courier New"/>
              <a:cs typeface="Courier New"/>
              <a:sym typeface="Courier New"/>
            </a:endParaRPr>
          </a:p>
        </p:txBody>
      </p:sp>
      <p:cxnSp>
        <p:nvCxnSpPr>
          <p:cNvPr id="217" name="Google Shape;217;p17"/>
          <p:cNvCxnSpPr>
            <a:stCxn id="209" idx="2"/>
            <a:endCxn id="210" idx="0"/>
          </p:cNvCxnSpPr>
          <p:nvPr/>
        </p:nvCxnSpPr>
        <p:spPr>
          <a:xfrm>
            <a:off x="7206850" y="936535"/>
            <a:ext cx="0" cy="200400"/>
          </a:xfrm>
          <a:prstGeom prst="straightConnector1">
            <a:avLst/>
          </a:prstGeom>
          <a:noFill/>
          <a:ln cap="flat" cmpd="sng" w="9525">
            <a:solidFill>
              <a:schemeClr val="dk2"/>
            </a:solidFill>
            <a:prstDash val="solid"/>
            <a:round/>
            <a:headEnd len="med" w="med" type="none"/>
            <a:tailEnd len="med" w="med" type="triangle"/>
          </a:ln>
        </p:spPr>
      </p:cxnSp>
      <p:cxnSp>
        <p:nvCxnSpPr>
          <p:cNvPr id="218" name="Google Shape;218;p17"/>
          <p:cNvCxnSpPr>
            <a:stCxn id="210" idx="2"/>
            <a:endCxn id="211" idx="0"/>
          </p:cNvCxnSpPr>
          <p:nvPr/>
        </p:nvCxnSpPr>
        <p:spPr>
          <a:xfrm>
            <a:off x="7206850" y="1444860"/>
            <a:ext cx="0" cy="200400"/>
          </a:xfrm>
          <a:prstGeom prst="straightConnector1">
            <a:avLst/>
          </a:prstGeom>
          <a:noFill/>
          <a:ln cap="flat" cmpd="sng" w="9525">
            <a:solidFill>
              <a:schemeClr val="dk2"/>
            </a:solidFill>
            <a:prstDash val="solid"/>
            <a:round/>
            <a:headEnd len="med" w="med" type="none"/>
            <a:tailEnd len="med" w="med" type="triangle"/>
          </a:ln>
        </p:spPr>
      </p:cxnSp>
      <p:cxnSp>
        <p:nvCxnSpPr>
          <p:cNvPr id="219" name="Google Shape;219;p17"/>
          <p:cNvCxnSpPr>
            <a:stCxn id="211" idx="2"/>
            <a:endCxn id="212" idx="0"/>
          </p:cNvCxnSpPr>
          <p:nvPr/>
        </p:nvCxnSpPr>
        <p:spPr>
          <a:xfrm>
            <a:off x="7206850" y="1953185"/>
            <a:ext cx="0" cy="229800"/>
          </a:xfrm>
          <a:prstGeom prst="straightConnector1">
            <a:avLst/>
          </a:prstGeom>
          <a:noFill/>
          <a:ln cap="flat" cmpd="sng" w="9525">
            <a:solidFill>
              <a:schemeClr val="dk2"/>
            </a:solidFill>
            <a:prstDash val="solid"/>
            <a:round/>
            <a:headEnd len="med" w="med" type="none"/>
            <a:tailEnd len="med" w="med" type="triangle"/>
          </a:ln>
        </p:spPr>
      </p:cxnSp>
      <p:cxnSp>
        <p:nvCxnSpPr>
          <p:cNvPr id="220" name="Google Shape;220;p17"/>
          <p:cNvCxnSpPr>
            <a:stCxn id="212" idx="2"/>
            <a:endCxn id="213" idx="0"/>
          </p:cNvCxnSpPr>
          <p:nvPr/>
        </p:nvCxnSpPr>
        <p:spPr>
          <a:xfrm>
            <a:off x="7206850" y="2490910"/>
            <a:ext cx="0" cy="229800"/>
          </a:xfrm>
          <a:prstGeom prst="straightConnector1">
            <a:avLst/>
          </a:prstGeom>
          <a:noFill/>
          <a:ln cap="flat" cmpd="sng" w="9525">
            <a:solidFill>
              <a:schemeClr val="dk2"/>
            </a:solidFill>
            <a:prstDash val="solid"/>
            <a:round/>
            <a:headEnd len="med" w="med" type="none"/>
            <a:tailEnd len="med" w="med" type="triangle"/>
          </a:ln>
        </p:spPr>
      </p:cxnSp>
      <p:sp>
        <p:nvSpPr>
          <p:cNvPr id="221" name="Google Shape;221;p17"/>
          <p:cNvSpPr txBox="1"/>
          <p:nvPr/>
        </p:nvSpPr>
        <p:spPr>
          <a:xfrm>
            <a:off x="5697725" y="3461960"/>
            <a:ext cx="24195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latin typeface="Courier New"/>
                <a:ea typeface="Courier New"/>
                <a:cs typeface="Courier New"/>
                <a:sym typeface="Courier New"/>
              </a:rPr>
              <a:t>Else if </a:t>
            </a:r>
            <a:r>
              <a:rPr lang="en-GB" sz="1000">
                <a:latin typeface="Courier New"/>
                <a:ea typeface="Courier New"/>
                <a:cs typeface="Courier New"/>
                <a:sym typeface="Courier New"/>
              </a:rPr>
              <a:t>(DIOcount &gt;= 10ms){</a:t>
            </a:r>
            <a:endParaRPr sz="1000">
              <a:latin typeface="Courier New"/>
              <a:ea typeface="Courier New"/>
              <a:cs typeface="Courier New"/>
              <a:sym typeface="Courier New"/>
            </a:endParaRPr>
          </a:p>
        </p:txBody>
      </p:sp>
      <p:sp>
        <p:nvSpPr>
          <p:cNvPr id="222" name="Google Shape;222;p17"/>
          <p:cNvSpPr/>
          <p:nvPr/>
        </p:nvSpPr>
        <p:spPr>
          <a:xfrm>
            <a:off x="6588250" y="4405910"/>
            <a:ext cx="1143600" cy="307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Watchdog</a:t>
            </a:r>
            <a:endParaRPr sz="1200"/>
          </a:p>
        </p:txBody>
      </p:sp>
      <p:sp>
        <p:nvSpPr>
          <p:cNvPr id="223" name="Google Shape;223;p17"/>
          <p:cNvSpPr txBox="1"/>
          <p:nvPr/>
        </p:nvSpPr>
        <p:spPr>
          <a:xfrm>
            <a:off x="5592400" y="4091250"/>
            <a:ext cx="31353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latin typeface="Courier New"/>
                <a:ea typeface="Courier New"/>
                <a:cs typeface="Courier New"/>
                <a:sym typeface="Courier New"/>
              </a:rPr>
              <a:t>DIO</a:t>
            </a:r>
            <a:r>
              <a:rPr lang="en-GB" sz="1000">
                <a:latin typeface="Courier New"/>
                <a:ea typeface="Courier New"/>
                <a:cs typeface="Courier New"/>
                <a:sym typeface="Courier New"/>
              </a:rPr>
              <a:t>Count = 0; //Reset count</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a:t>
            </a:r>
            <a:endParaRPr sz="1000">
              <a:latin typeface="Courier New"/>
              <a:ea typeface="Courier New"/>
              <a:cs typeface="Courier New"/>
              <a:sym typeface="Courier New"/>
            </a:endParaRPr>
          </a:p>
        </p:txBody>
      </p:sp>
      <p:sp>
        <p:nvSpPr>
          <p:cNvPr id="224" name="Google Shape;224;p17"/>
          <p:cNvSpPr/>
          <p:nvPr/>
        </p:nvSpPr>
        <p:spPr>
          <a:xfrm>
            <a:off x="6588250" y="4812935"/>
            <a:ext cx="1143600" cy="307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t>Sleep</a:t>
            </a:r>
            <a:endParaRPr sz="1200"/>
          </a:p>
        </p:txBody>
      </p:sp>
      <p:sp>
        <p:nvSpPr>
          <p:cNvPr id="225" name="Google Shape;225;p17"/>
          <p:cNvSpPr txBox="1"/>
          <p:nvPr/>
        </p:nvSpPr>
        <p:spPr>
          <a:xfrm>
            <a:off x="6972250" y="-5290"/>
            <a:ext cx="1388400" cy="3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Main</a:t>
            </a:r>
            <a:endParaRPr b="1" u="sng"/>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8"/>
          <p:cNvSpPr txBox="1"/>
          <p:nvPr/>
        </p:nvSpPr>
        <p:spPr>
          <a:xfrm>
            <a:off x="274225" y="662150"/>
            <a:ext cx="4297200" cy="414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latin typeface="Courier New"/>
                <a:ea typeface="Courier New"/>
                <a:cs typeface="Courier New"/>
                <a:sym typeface="Courier New"/>
              </a:rPr>
              <a:t>#define TASK_A_TIME 2000</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#define TASK_B_TIME 1000</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V</a:t>
            </a:r>
            <a:r>
              <a:rPr lang="en-GB" sz="1000">
                <a:latin typeface="Courier New"/>
                <a:ea typeface="Courier New"/>
                <a:cs typeface="Courier New"/>
                <a:sym typeface="Courier New"/>
              </a:rPr>
              <a:t>oid main(){</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	while(1){</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		If (taskACount &gt;= TASK_A_TIME){</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			TaskA(); // Perform task A</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			taskACount = 0;</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		</a:t>
            </a:r>
            <a:endParaRPr sz="1000">
              <a:latin typeface="Courier New"/>
              <a:ea typeface="Courier New"/>
              <a:cs typeface="Courier New"/>
              <a:sym typeface="Courier New"/>
            </a:endParaRPr>
          </a:p>
          <a:p>
            <a:pPr indent="457200" lvl="0" marL="457200" rtl="0" algn="l">
              <a:spcBef>
                <a:spcPts val="0"/>
              </a:spcBef>
              <a:spcAft>
                <a:spcPts val="0"/>
              </a:spcAft>
              <a:buNone/>
            </a:pPr>
            <a:r>
              <a:rPr lang="en-GB" sz="1000">
                <a:latin typeface="Courier New"/>
                <a:ea typeface="Courier New"/>
                <a:cs typeface="Courier New"/>
                <a:sym typeface="Courier New"/>
              </a:rPr>
              <a:t>Else if </a:t>
            </a:r>
            <a:r>
              <a:rPr lang="en-GB" sz="1000">
                <a:solidFill>
                  <a:schemeClr val="dk1"/>
                </a:solidFill>
                <a:latin typeface="Courier New"/>
                <a:ea typeface="Courier New"/>
                <a:cs typeface="Courier New"/>
                <a:sym typeface="Courier New"/>
              </a:rPr>
              <a:t>(taskBCount &gt;= TASK_B_TIME){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1000">
                <a:solidFill>
                  <a:schemeClr val="dk1"/>
                </a:solidFill>
                <a:latin typeface="Courier New"/>
                <a:ea typeface="Courier New"/>
                <a:cs typeface="Courier New"/>
                <a:sym typeface="Courier New"/>
              </a:rPr>
              <a:t>			TaskB(); // Perform task B</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1000">
                <a:solidFill>
                  <a:schemeClr val="dk1"/>
                </a:solidFill>
                <a:latin typeface="Courier New"/>
                <a:ea typeface="Courier New"/>
                <a:cs typeface="Courier New"/>
                <a:sym typeface="Courier New"/>
              </a:rPr>
              <a:t>			taskBCount = 0;</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000">
                <a:solidFill>
                  <a:schemeClr val="dk1"/>
                </a:solidFill>
                <a:latin typeface="Courier New"/>
                <a:ea typeface="Courier New"/>
                <a:cs typeface="Courier New"/>
                <a:sym typeface="Courier New"/>
              </a:rPr>
              <a:t>		Else if (watchdogCount &gt;= WATCHDOG_TIME){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000">
                <a:solidFill>
                  <a:schemeClr val="dk1"/>
                </a:solidFill>
                <a:latin typeface="Courier New"/>
                <a:ea typeface="Courier New"/>
                <a:cs typeface="Courier New"/>
                <a:sym typeface="Courier New"/>
              </a:rPr>
              <a:t>			resetWD(); // reset Watchdog</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000">
                <a:solidFill>
                  <a:schemeClr val="dk1"/>
                </a:solidFill>
                <a:latin typeface="Courier New"/>
                <a:ea typeface="Courier New"/>
                <a:cs typeface="Courier New"/>
                <a:sym typeface="Courier New"/>
              </a:rPr>
              <a:t>			watchdogCount = 0;</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457200" lvl="0" marL="0" rtl="0" algn="l">
              <a:spcBef>
                <a:spcPts val="0"/>
              </a:spcBef>
              <a:spcAft>
                <a:spcPts val="0"/>
              </a:spcAft>
              <a:buNone/>
            </a:pPr>
            <a:r>
              <a:rPr lang="en-GB" sz="1000">
                <a:latin typeface="Courier New"/>
                <a:ea typeface="Courier New"/>
                <a:cs typeface="Courier New"/>
                <a:sym typeface="Courier New"/>
              </a:rPr>
              <a:t>}</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a:t>
            </a:r>
            <a:endParaRPr sz="1000">
              <a:latin typeface="Courier New"/>
              <a:ea typeface="Courier New"/>
              <a:cs typeface="Courier New"/>
              <a:sym typeface="Courier New"/>
            </a:endParaRPr>
          </a:p>
        </p:txBody>
      </p:sp>
      <p:sp>
        <p:nvSpPr>
          <p:cNvPr id="231" name="Google Shape;231;p18"/>
          <p:cNvSpPr txBox="1"/>
          <p:nvPr/>
        </p:nvSpPr>
        <p:spPr>
          <a:xfrm>
            <a:off x="274225" y="147150"/>
            <a:ext cx="1398000" cy="45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Main</a:t>
            </a:r>
            <a:endParaRPr/>
          </a:p>
        </p:txBody>
      </p:sp>
      <p:sp>
        <p:nvSpPr>
          <p:cNvPr id="232" name="Google Shape;232;p18"/>
          <p:cNvSpPr txBox="1"/>
          <p:nvPr/>
        </p:nvSpPr>
        <p:spPr>
          <a:xfrm>
            <a:off x="4768925" y="662150"/>
            <a:ext cx="4297200" cy="414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//Overflow Interrupt called everytime T1 overflows. T1 will overflow every 1us. </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Void T1_OVF_ISR(){</a:t>
            </a:r>
            <a:endParaRPr sz="1000">
              <a:latin typeface="Courier New"/>
              <a:ea typeface="Courier New"/>
              <a:cs typeface="Courier New"/>
              <a:sym typeface="Courier New"/>
            </a:endParaRPr>
          </a:p>
          <a:p>
            <a:pPr indent="457200" lvl="0" marL="0" rtl="0" algn="l">
              <a:spcBef>
                <a:spcPts val="0"/>
              </a:spcBef>
              <a:spcAft>
                <a:spcPts val="0"/>
              </a:spcAft>
              <a:buNone/>
            </a:pPr>
            <a:r>
              <a:rPr lang="en-GB" sz="1000">
                <a:latin typeface="Courier New"/>
                <a:ea typeface="Courier New"/>
                <a:cs typeface="Courier New"/>
                <a:sym typeface="Courier New"/>
              </a:rPr>
              <a:t>taskACount ++;</a:t>
            </a:r>
            <a:endParaRPr sz="1000">
              <a:latin typeface="Courier New"/>
              <a:ea typeface="Courier New"/>
              <a:cs typeface="Courier New"/>
              <a:sym typeface="Courier New"/>
            </a:endParaRPr>
          </a:p>
          <a:p>
            <a:pPr indent="457200" lvl="0" marL="0" rtl="0" algn="l">
              <a:spcBef>
                <a:spcPts val="0"/>
              </a:spcBef>
              <a:spcAft>
                <a:spcPts val="0"/>
              </a:spcAft>
              <a:buNone/>
            </a:pPr>
            <a:r>
              <a:rPr lang="en-GB" sz="1000">
                <a:latin typeface="Courier New"/>
                <a:ea typeface="Courier New"/>
                <a:cs typeface="Courier New"/>
                <a:sym typeface="Courier New"/>
              </a:rPr>
              <a:t>taskBCount ++;</a:t>
            </a:r>
            <a:endParaRPr sz="1000">
              <a:latin typeface="Courier New"/>
              <a:ea typeface="Courier New"/>
              <a:cs typeface="Courier New"/>
              <a:sym typeface="Courier New"/>
            </a:endParaRPr>
          </a:p>
          <a:p>
            <a:pPr indent="457200" lvl="0" marL="0" rtl="0" algn="l">
              <a:spcBef>
                <a:spcPts val="0"/>
              </a:spcBef>
              <a:spcAft>
                <a:spcPts val="0"/>
              </a:spcAft>
              <a:buNone/>
            </a:pPr>
            <a:r>
              <a:t/>
            </a:r>
            <a:endParaRPr sz="1000">
              <a:latin typeface="Courier New"/>
              <a:ea typeface="Courier New"/>
              <a:cs typeface="Courier New"/>
              <a:sym typeface="Courier New"/>
            </a:endParaRPr>
          </a:p>
          <a:p>
            <a:pPr indent="457200" lvl="0" marL="0" rtl="0" algn="l">
              <a:spcBef>
                <a:spcPts val="0"/>
              </a:spcBef>
              <a:spcAft>
                <a:spcPts val="0"/>
              </a:spcAft>
              <a:buNone/>
            </a:pPr>
            <a:r>
              <a:rPr lang="en-GB" sz="1000">
                <a:latin typeface="Courier New"/>
                <a:ea typeface="Courier New"/>
                <a:cs typeface="Courier New"/>
                <a:sym typeface="Courier New"/>
              </a:rPr>
              <a:t>watchdogCount++;	</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a:t>
            </a:r>
            <a:endParaRPr sz="1000">
              <a:latin typeface="Courier New"/>
              <a:ea typeface="Courier New"/>
              <a:cs typeface="Courier New"/>
              <a:sym typeface="Courier New"/>
            </a:endParaRPr>
          </a:p>
        </p:txBody>
      </p:sp>
      <p:cxnSp>
        <p:nvCxnSpPr>
          <p:cNvPr id="233" name="Google Shape;233;p18"/>
          <p:cNvCxnSpPr/>
          <p:nvPr/>
        </p:nvCxnSpPr>
        <p:spPr>
          <a:xfrm>
            <a:off x="4572000" y="207325"/>
            <a:ext cx="0" cy="47289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graphicFrame>
        <p:nvGraphicFramePr>
          <p:cNvPr id="238" name="Google Shape;238;p19"/>
          <p:cNvGraphicFramePr/>
          <p:nvPr/>
        </p:nvGraphicFramePr>
        <p:xfrm>
          <a:off x="952500" y="1047750"/>
          <a:ext cx="3000000" cy="3000000"/>
        </p:xfrm>
        <a:graphic>
          <a:graphicData uri="http://schemas.openxmlformats.org/drawingml/2006/table">
            <a:tbl>
              <a:tblPr>
                <a:noFill/>
                <a:tableStyleId>{7985B7D9-D6BB-4394-92BC-0BEC9817FC1B}</a:tableStyleId>
              </a:tblPr>
              <a:tblGrid>
                <a:gridCol w="1178175"/>
                <a:gridCol w="6060825"/>
              </a:tblGrid>
              <a:tr h="381000">
                <a:tc>
                  <a:txBody>
                    <a:bodyPr/>
                    <a:lstStyle/>
                    <a:p>
                      <a:pPr indent="0" lvl="0" marL="0" rtl="0" algn="l">
                        <a:spcBef>
                          <a:spcPts val="0"/>
                        </a:spcBef>
                        <a:spcAft>
                          <a:spcPts val="0"/>
                        </a:spcAft>
                        <a:buNone/>
                      </a:pPr>
                      <a:r>
                        <a:rPr b="1" lang="en-GB" sz="1000"/>
                        <a:t>Library</a:t>
                      </a:r>
                      <a:endParaRPr b="1" sz="1000"/>
                    </a:p>
                  </a:txBody>
                  <a:tcPr marT="91425" marB="91425" marR="91425" marL="91425"/>
                </a:tc>
                <a:tc>
                  <a:txBody>
                    <a:bodyPr/>
                    <a:lstStyle/>
                    <a:p>
                      <a:pPr indent="0" lvl="0" marL="0" rtl="0" algn="l">
                        <a:spcBef>
                          <a:spcPts val="0"/>
                        </a:spcBef>
                        <a:spcAft>
                          <a:spcPts val="0"/>
                        </a:spcAft>
                        <a:buNone/>
                      </a:pPr>
                      <a:r>
                        <a:rPr b="1" lang="en-GB" sz="1000"/>
                        <a:t>Notes</a:t>
                      </a:r>
                      <a:endParaRPr b="1" sz="1000"/>
                    </a:p>
                  </a:txBody>
                  <a:tcPr marT="91425" marB="91425" marR="91425" marL="91425"/>
                </a:tc>
              </a:tr>
              <a:tr h="381000">
                <a:tc>
                  <a:txBody>
                    <a:bodyPr/>
                    <a:lstStyle/>
                    <a:p>
                      <a:pPr indent="0" lvl="0" marL="0" rtl="0" algn="l">
                        <a:spcBef>
                          <a:spcPts val="0"/>
                        </a:spcBef>
                        <a:spcAft>
                          <a:spcPts val="0"/>
                        </a:spcAft>
                        <a:buNone/>
                      </a:pPr>
                      <a:r>
                        <a:rPr lang="en-GB" sz="1000"/>
                        <a:t>Sensor (Process Variable)</a:t>
                      </a:r>
                      <a:endParaRPr sz="1000"/>
                    </a:p>
                  </a:txBody>
                  <a:tcPr marT="91425" marB="91425" marR="91425" marL="91425"/>
                </a:tc>
                <a:tc>
                  <a:txBody>
                    <a:bodyPr/>
                    <a:lstStyle/>
                    <a:p>
                      <a:pPr indent="0" lvl="0" marL="0" rtl="0" algn="l">
                        <a:spcBef>
                          <a:spcPts val="0"/>
                        </a:spcBef>
                        <a:spcAft>
                          <a:spcPts val="0"/>
                        </a:spcAft>
                        <a:buNone/>
                      </a:pPr>
                      <a:r>
                        <a:rPr lang="en-GB" sz="1000"/>
                        <a:t>Read sensor values from IMU and store to local variable. </a:t>
                      </a:r>
                      <a:endParaRPr sz="1000"/>
                    </a:p>
                  </a:txBody>
                  <a:tcPr marT="91425" marB="91425" marR="91425" marL="91425"/>
                </a:tc>
              </a:tr>
              <a:tr h="381000">
                <a:tc>
                  <a:txBody>
                    <a:bodyPr/>
                    <a:lstStyle/>
                    <a:p>
                      <a:pPr indent="0" lvl="0" marL="0" rtl="0" algn="l">
                        <a:spcBef>
                          <a:spcPts val="0"/>
                        </a:spcBef>
                        <a:spcAft>
                          <a:spcPts val="0"/>
                        </a:spcAft>
                        <a:buNone/>
                      </a:pPr>
                      <a:r>
                        <a:rPr lang="en-GB" sz="1000"/>
                        <a:t>Radio (Set Point)</a:t>
                      </a:r>
                      <a:endParaRPr sz="1000"/>
                    </a:p>
                  </a:txBody>
                  <a:tcPr marT="91425" marB="91425" marR="91425" marL="91425"/>
                </a:tc>
                <a:tc>
                  <a:txBody>
                    <a:bodyPr/>
                    <a:lstStyle/>
                    <a:p>
                      <a:pPr indent="0" lvl="0" marL="0" rtl="0" algn="l">
                        <a:spcBef>
                          <a:spcPts val="0"/>
                        </a:spcBef>
                        <a:spcAft>
                          <a:spcPts val="0"/>
                        </a:spcAft>
                        <a:buNone/>
                      </a:pPr>
                      <a:r>
                        <a:rPr lang="en-GB" sz="1000"/>
                        <a:t>Read raw value from the Global Variable (published from Radio Interrupts)</a:t>
                      </a:r>
                      <a:endParaRPr sz="1000"/>
                    </a:p>
                  </a:txBody>
                  <a:tcPr marT="91425" marB="91425" marR="91425" marL="91425"/>
                </a:tc>
              </a:tr>
              <a:tr h="381000">
                <a:tc>
                  <a:txBody>
                    <a:bodyPr/>
                    <a:lstStyle/>
                    <a:p>
                      <a:pPr indent="0" lvl="0" marL="0" rtl="0" algn="l">
                        <a:spcBef>
                          <a:spcPts val="0"/>
                        </a:spcBef>
                        <a:spcAft>
                          <a:spcPts val="0"/>
                        </a:spcAft>
                        <a:buNone/>
                      </a:pPr>
                      <a:r>
                        <a:rPr lang="en-GB" sz="1000"/>
                        <a:t>PID</a:t>
                      </a:r>
                      <a:endParaRPr sz="1000"/>
                    </a:p>
                  </a:txBody>
                  <a:tcPr marT="91425" marB="91425" marR="91425" marL="91425"/>
                </a:tc>
                <a:tc>
                  <a:txBody>
                    <a:bodyPr/>
                    <a:lstStyle/>
                    <a:p>
                      <a:pPr indent="0" lvl="0" marL="0" rtl="0" algn="l">
                        <a:spcBef>
                          <a:spcPts val="0"/>
                        </a:spcBef>
                        <a:spcAft>
                          <a:spcPts val="0"/>
                        </a:spcAft>
                        <a:buNone/>
                      </a:pPr>
                      <a:r>
                        <a:rPr lang="en-GB" sz="1000"/>
                        <a:t>Compute the PID</a:t>
                      </a:r>
                      <a:endParaRPr sz="1000"/>
                    </a:p>
                  </a:txBody>
                  <a:tcPr marT="91425" marB="91425" marR="91425" marL="91425"/>
                </a:tc>
              </a:tr>
              <a:tr h="381000">
                <a:tc>
                  <a:txBody>
                    <a:bodyPr/>
                    <a:lstStyle/>
                    <a:p>
                      <a:pPr indent="0" lvl="0" marL="0" rtl="0" algn="l">
                        <a:spcBef>
                          <a:spcPts val="0"/>
                        </a:spcBef>
                        <a:spcAft>
                          <a:spcPts val="0"/>
                        </a:spcAft>
                        <a:buNone/>
                      </a:pPr>
                      <a:r>
                        <a:rPr lang="en-GB" sz="1000"/>
                        <a:t>Mixer</a:t>
                      </a:r>
                      <a:endParaRPr sz="1000"/>
                    </a:p>
                  </a:txBody>
                  <a:tcPr marT="91425" marB="91425" marR="91425" marL="91425"/>
                </a:tc>
                <a:tc>
                  <a:txBody>
                    <a:bodyPr/>
                    <a:lstStyle/>
                    <a:p>
                      <a:pPr indent="0" lvl="0" marL="0" rtl="0" algn="l">
                        <a:spcBef>
                          <a:spcPts val="0"/>
                        </a:spcBef>
                        <a:spcAft>
                          <a:spcPts val="0"/>
                        </a:spcAft>
                        <a:buNone/>
                      </a:pPr>
                      <a:r>
                        <a:rPr lang="en-GB" sz="1000"/>
                        <a:t>Take the outputs from the PID and mix this with the motor values. Account for X or +</a:t>
                      </a:r>
                      <a:endParaRPr sz="1000"/>
                    </a:p>
                  </a:txBody>
                  <a:tcPr marT="91425" marB="91425" marR="91425" marL="91425"/>
                </a:tc>
              </a:tr>
              <a:tr h="381000">
                <a:tc>
                  <a:txBody>
                    <a:bodyPr/>
                    <a:lstStyle/>
                    <a:p>
                      <a:pPr indent="0" lvl="0" marL="0" rtl="0" algn="l">
                        <a:spcBef>
                          <a:spcPts val="0"/>
                        </a:spcBef>
                        <a:spcAft>
                          <a:spcPts val="0"/>
                        </a:spcAft>
                        <a:buNone/>
                      </a:pPr>
                      <a:r>
                        <a:rPr lang="en-GB" sz="1000"/>
                        <a:t>Motors (Output)</a:t>
                      </a:r>
                      <a:endParaRPr sz="1000"/>
                    </a:p>
                  </a:txBody>
                  <a:tcPr marT="91425" marB="91425" marR="91425" marL="91425"/>
                </a:tc>
                <a:tc>
                  <a:txBody>
                    <a:bodyPr/>
                    <a:lstStyle/>
                    <a:p>
                      <a:pPr indent="0" lvl="0" marL="0" rtl="0" algn="l">
                        <a:spcBef>
                          <a:spcPts val="0"/>
                        </a:spcBef>
                        <a:spcAft>
                          <a:spcPts val="0"/>
                        </a:spcAft>
                        <a:buNone/>
                      </a:pPr>
                      <a:r>
                        <a:rPr lang="en-GB" sz="1000"/>
                        <a:t>Write values from mixer to the motors (Speed Controllers take a PWM Signal of 1000-2000us width)</a:t>
                      </a:r>
                      <a:endParaRPr sz="1000"/>
                    </a:p>
                  </a:txBody>
                  <a:tcPr marT="91425" marB="91425" marR="91425" marL="91425"/>
                </a:tc>
              </a:tr>
              <a:tr h="381000">
                <a:tc>
                  <a:txBody>
                    <a:bodyPr/>
                    <a:lstStyle/>
                    <a:p>
                      <a:pPr indent="0" lvl="0" marL="0" rtl="0" algn="l">
                        <a:spcBef>
                          <a:spcPts val="0"/>
                        </a:spcBef>
                        <a:spcAft>
                          <a:spcPts val="0"/>
                        </a:spcAft>
                        <a:buNone/>
                      </a:pPr>
                      <a:r>
                        <a:rPr lang="en-GB" sz="1000"/>
                        <a:t>DIO</a:t>
                      </a:r>
                      <a:endParaRPr sz="1000"/>
                    </a:p>
                  </a:txBody>
                  <a:tcPr marT="91425" marB="91425" marR="91425" marL="91425"/>
                </a:tc>
                <a:tc>
                  <a:txBody>
                    <a:bodyPr/>
                    <a:lstStyle/>
                    <a:p>
                      <a:pPr indent="0" lvl="0" marL="0" rtl="0" algn="l">
                        <a:spcBef>
                          <a:spcPts val="0"/>
                        </a:spcBef>
                        <a:spcAft>
                          <a:spcPts val="0"/>
                        </a:spcAft>
                        <a:buNone/>
                      </a:pPr>
                      <a:r>
                        <a:rPr lang="en-GB" sz="1000"/>
                        <a:t>Output to DIO used for Status LEDs and debug</a:t>
                      </a:r>
                      <a:endParaRPr sz="1000"/>
                    </a:p>
                  </a:txBody>
                  <a:tcPr marT="91425" marB="91425" marR="91425" marL="91425"/>
                </a:tc>
              </a:tr>
              <a:tr h="381000">
                <a:tc>
                  <a:txBody>
                    <a:bodyPr/>
                    <a:lstStyle/>
                    <a:p>
                      <a:pPr indent="0" lvl="0" marL="0" rtl="0" algn="l">
                        <a:spcBef>
                          <a:spcPts val="0"/>
                        </a:spcBef>
                        <a:spcAft>
                          <a:spcPts val="0"/>
                        </a:spcAft>
                        <a:buNone/>
                      </a:pPr>
                      <a:r>
                        <a:rPr lang="en-GB" sz="1000"/>
                        <a:t>Watchdog</a:t>
                      </a:r>
                      <a:endParaRPr sz="1000"/>
                    </a:p>
                  </a:txBody>
                  <a:tcPr marT="91425" marB="91425" marR="91425" marL="91425"/>
                </a:tc>
                <a:tc>
                  <a:txBody>
                    <a:bodyPr/>
                    <a:lstStyle/>
                    <a:p>
                      <a:pPr indent="0" lvl="0" marL="0" rtl="0" algn="l">
                        <a:spcBef>
                          <a:spcPts val="0"/>
                        </a:spcBef>
                        <a:spcAft>
                          <a:spcPts val="0"/>
                        </a:spcAft>
                        <a:buNone/>
                      </a:pPr>
                      <a:r>
                        <a:rPr lang="en-GB" sz="1000"/>
                        <a:t>Feed the watchdog. Feed rate should be defined by how long the state machine takes</a:t>
                      </a:r>
                      <a:endParaRPr sz="1000"/>
                    </a:p>
                  </a:txBody>
                  <a:tcPr marT="91425" marB="91425" marR="91425" marL="91425"/>
                </a:tc>
              </a:tr>
            </a:tbl>
          </a:graphicData>
        </a:graphic>
      </p:graphicFrame>
      <p:sp>
        <p:nvSpPr>
          <p:cNvPr id="239" name="Google Shape;239;p19"/>
          <p:cNvSpPr txBox="1"/>
          <p:nvPr/>
        </p:nvSpPr>
        <p:spPr>
          <a:xfrm>
            <a:off x="314275" y="294375"/>
            <a:ext cx="1728600" cy="5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Code modules</a:t>
            </a:r>
            <a:endParaRPr b="1" u="sng"/>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0"/>
          <p:cNvSpPr txBox="1"/>
          <p:nvPr/>
        </p:nvSpPr>
        <p:spPr>
          <a:xfrm>
            <a:off x="395650" y="217600"/>
            <a:ext cx="1114500" cy="55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Sensors</a:t>
            </a:r>
            <a:endParaRPr b="1" u="sng"/>
          </a:p>
        </p:txBody>
      </p:sp>
      <p:sp>
        <p:nvSpPr>
          <p:cNvPr id="245" name="Google Shape;245;p20"/>
          <p:cNvSpPr/>
          <p:nvPr/>
        </p:nvSpPr>
        <p:spPr>
          <a:xfrm>
            <a:off x="310150" y="692200"/>
            <a:ext cx="1349700" cy="13995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0"/>
          <p:cNvSpPr/>
          <p:nvPr/>
        </p:nvSpPr>
        <p:spPr>
          <a:xfrm>
            <a:off x="455675" y="1093550"/>
            <a:ext cx="1043100" cy="18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3-Axis Gyro</a:t>
            </a:r>
            <a:endParaRPr sz="800"/>
          </a:p>
        </p:txBody>
      </p:sp>
      <p:sp>
        <p:nvSpPr>
          <p:cNvPr id="247" name="Google Shape;247;p20"/>
          <p:cNvSpPr/>
          <p:nvPr/>
        </p:nvSpPr>
        <p:spPr>
          <a:xfrm>
            <a:off x="455675" y="1352025"/>
            <a:ext cx="10431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3-Axis Accelerometer</a:t>
            </a:r>
            <a:endParaRPr sz="800"/>
          </a:p>
        </p:txBody>
      </p:sp>
      <p:sp>
        <p:nvSpPr>
          <p:cNvPr id="248" name="Google Shape;248;p20"/>
          <p:cNvSpPr/>
          <p:nvPr/>
        </p:nvSpPr>
        <p:spPr>
          <a:xfrm>
            <a:off x="455675" y="1719121"/>
            <a:ext cx="1043100" cy="260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3-Axis Magnetometer</a:t>
            </a:r>
            <a:endParaRPr sz="800"/>
          </a:p>
        </p:txBody>
      </p:sp>
      <p:sp>
        <p:nvSpPr>
          <p:cNvPr id="249" name="Google Shape;249;p20"/>
          <p:cNvSpPr txBox="1"/>
          <p:nvPr/>
        </p:nvSpPr>
        <p:spPr>
          <a:xfrm>
            <a:off x="560650" y="486984"/>
            <a:ext cx="848700" cy="30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t>IMU</a:t>
            </a:r>
            <a:endParaRPr sz="800"/>
          </a:p>
        </p:txBody>
      </p:sp>
      <p:sp>
        <p:nvSpPr>
          <p:cNvPr id="250" name="Google Shape;250;p20"/>
          <p:cNvSpPr txBox="1"/>
          <p:nvPr/>
        </p:nvSpPr>
        <p:spPr>
          <a:xfrm>
            <a:off x="245950" y="2026125"/>
            <a:ext cx="1413900" cy="8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Angle Calculations will take place on the DMP (Digital Motion Processor)</a:t>
            </a:r>
            <a:endParaRPr sz="800"/>
          </a:p>
          <a:p>
            <a:pPr indent="0" lvl="0" marL="0" rtl="0" algn="l">
              <a:spcBef>
                <a:spcPts val="0"/>
              </a:spcBef>
              <a:spcAft>
                <a:spcPts val="0"/>
              </a:spcAft>
              <a:buNone/>
            </a:pPr>
            <a:r>
              <a:rPr lang="en-GB" sz="800"/>
              <a:t>MPU-6050 (6 Axis)</a:t>
            </a:r>
            <a:endParaRPr sz="800"/>
          </a:p>
          <a:p>
            <a:pPr indent="0" lvl="0" marL="0" rtl="0" algn="l">
              <a:spcBef>
                <a:spcPts val="0"/>
              </a:spcBef>
              <a:spcAft>
                <a:spcPts val="0"/>
              </a:spcAft>
              <a:buNone/>
            </a:pPr>
            <a:r>
              <a:rPr lang="en-GB" sz="800"/>
              <a:t>MPU-9250 (9 Axis)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DMP calculates the angle at a rate of 100Hz</a:t>
            </a:r>
            <a:endParaRPr sz="800"/>
          </a:p>
          <a:p>
            <a:pPr indent="0" lvl="0" marL="0" rtl="0" algn="l">
              <a:spcBef>
                <a:spcPts val="0"/>
              </a:spcBef>
              <a:spcAft>
                <a:spcPts val="0"/>
              </a:spcAft>
              <a:buNone/>
            </a:pPr>
            <a:r>
              <a:t/>
            </a:r>
            <a:endParaRPr sz="800"/>
          </a:p>
        </p:txBody>
      </p:sp>
      <p:sp>
        <p:nvSpPr>
          <p:cNvPr id="251" name="Google Shape;251;p20"/>
          <p:cNvSpPr/>
          <p:nvPr/>
        </p:nvSpPr>
        <p:spPr>
          <a:xfrm>
            <a:off x="2769800" y="954550"/>
            <a:ext cx="1349700" cy="11373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I2C Driver</a:t>
            </a:r>
            <a:endParaRPr/>
          </a:p>
        </p:txBody>
      </p:sp>
      <p:sp>
        <p:nvSpPr>
          <p:cNvPr id="252" name="Google Shape;252;p20"/>
          <p:cNvSpPr txBox="1"/>
          <p:nvPr/>
        </p:nvSpPr>
        <p:spPr>
          <a:xfrm>
            <a:off x="1813575" y="1056950"/>
            <a:ext cx="395400" cy="26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t>I2C</a:t>
            </a:r>
            <a:endParaRPr sz="800"/>
          </a:p>
        </p:txBody>
      </p:sp>
      <p:sp>
        <p:nvSpPr>
          <p:cNvPr id="253" name="Google Shape;253;p20"/>
          <p:cNvSpPr txBox="1"/>
          <p:nvPr/>
        </p:nvSpPr>
        <p:spPr>
          <a:xfrm>
            <a:off x="1813575" y="1393000"/>
            <a:ext cx="395400" cy="26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t>I2C</a:t>
            </a:r>
            <a:endParaRPr sz="800"/>
          </a:p>
        </p:txBody>
      </p:sp>
      <p:sp>
        <p:nvSpPr>
          <p:cNvPr id="254" name="Google Shape;254;p20"/>
          <p:cNvSpPr txBox="1"/>
          <p:nvPr/>
        </p:nvSpPr>
        <p:spPr>
          <a:xfrm>
            <a:off x="1813575" y="1765725"/>
            <a:ext cx="395400" cy="26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800"/>
              <a:t>I2C</a:t>
            </a:r>
            <a:endParaRPr sz="800"/>
          </a:p>
        </p:txBody>
      </p:sp>
      <p:cxnSp>
        <p:nvCxnSpPr>
          <p:cNvPr id="255" name="Google Shape;255;p20"/>
          <p:cNvCxnSpPr>
            <a:stCxn id="246" idx="3"/>
            <a:endCxn id="252" idx="1"/>
          </p:cNvCxnSpPr>
          <p:nvPr/>
        </p:nvCxnSpPr>
        <p:spPr>
          <a:xfrm>
            <a:off x="1498775" y="1187150"/>
            <a:ext cx="314700" cy="0"/>
          </a:xfrm>
          <a:prstGeom prst="straightConnector1">
            <a:avLst/>
          </a:prstGeom>
          <a:noFill/>
          <a:ln cap="flat" cmpd="sng" w="9525">
            <a:solidFill>
              <a:schemeClr val="dk2"/>
            </a:solidFill>
            <a:prstDash val="solid"/>
            <a:round/>
            <a:headEnd len="med" w="med" type="none"/>
            <a:tailEnd len="med" w="med" type="stealth"/>
          </a:ln>
        </p:spPr>
      </p:cxnSp>
      <p:cxnSp>
        <p:nvCxnSpPr>
          <p:cNvPr id="256" name="Google Shape;256;p20"/>
          <p:cNvCxnSpPr>
            <a:stCxn id="247" idx="3"/>
            <a:endCxn id="253" idx="1"/>
          </p:cNvCxnSpPr>
          <p:nvPr/>
        </p:nvCxnSpPr>
        <p:spPr>
          <a:xfrm>
            <a:off x="1498775" y="1502925"/>
            <a:ext cx="314700" cy="20400"/>
          </a:xfrm>
          <a:prstGeom prst="straightConnector1">
            <a:avLst/>
          </a:prstGeom>
          <a:noFill/>
          <a:ln cap="flat" cmpd="sng" w="9525">
            <a:solidFill>
              <a:schemeClr val="dk2"/>
            </a:solidFill>
            <a:prstDash val="solid"/>
            <a:round/>
            <a:headEnd len="med" w="med" type="none"/>
            <a:tailEnd len="med" w="med" type="stealth"/>
          </a:ln>
        </p:spPr>
      </p:cxnSp>
      <p:cxnSp>
        <p:nvCxnSpPr>
          <p:cNvPr id="257" name="Google Shape;257;p20"/>
          <p:cNvCxnSpPr>
            <a:stCxn id="248" idx="3"/>
            <a:endCxn id="254" idx="1"/>
          </p:cNvCxnSpPr>
          <p:nvPr/>
        </p:nvCxnSpPr>
        <p:spPr>
          <a:xfrm>
            <a:off x="1498775" y="1849321"/>
            <a:ext cx="314700" cy="46500"/>
          </a:xfrm>
          <a:prstGeom prst="straightConnector1">
            <a:avLst/>
          </a:prstGeom>
          <a:noFill/>
          <a:ln cap="flat" cmpd="sng" w="9525">
            <a:solidFill>
              <a:schemeClr val="dk2"/>
            </a:solidFill>
            <a:prstDash val="solid"/>
            <a:round/>
            <a:headEnd len="med" w="med" type="none"/>
            <a:tailEnd len="med" w="med" type="stealth"/>
          </a:ln>
        </p:spPr>
      </p:cxnSp>
      <p:cxnSp>
        <p:nvCxnSpPr>
          <p:cNvPr id="258" name="Google Shape;258;p20"/>
          <p:cNvCxnSpPr>
            <a:stCxn id="252" idx="3"/>
            <a:endCxn id="251" idx="1"/>
          </p:cNvCxnSpPr>
          <p:nvPr/>
        </p:nvCxnSpPr>
        <p:spPr>
          <a:xfrm>
            <a:off x="2208975" y="1187150"/>
            <a:ext cx="560700" cy="336000"/>
          </a:xfrm>
          <a:prstGeom prst="straightConnector1">
            <a:avLst/>
          </a:prstGeom>
          <a:noFill/>
          <a:ln cap="flat" cmpd="sng" w="9525">
            <a:solidFill>
              <a:schemeClr val="dk2"/>
            </a:solidFill>
            <a:prstDash val="solid"/>
            <a:round/>
            <a:headEnd len="med" w="med" type="none"/>
            <a:tailEnd len="med" w="med" type="stealth"/>
          </a:ln>
        </p:spPr>
      </p:cxnSp>
      <p:cxnSp>
        <p:nvCxnSpPr>
          <p:cNvPr id="259" name="Google Shape;259;p20"/>
          <p:cNvCxnSpPr>
            <a:stCxn id="253" idx="3"/>
            <a:endCxn id="251" idx="1"/>
          </p:cNvCxnSpPr>
          <p:nvPr/>
        </p:nvCxnSpPr>
        <p:spPr>
          <a:xfrm>
            <a:off x="2208975" y="1523200"/>
            <a:ext cx="560700" cy="0"/>
          </a:xfrm>
          <a:prstGeom prst="straightConnector1">
            <a:avLst/>
          </a:prstGeom>
          <a:noFill/>
          <a:ln cap="flat" cmpd="sng" w="9525">
            <a:solidFill>
              <a:schemeClr val="dk2"/>
            </a:solidFill>
            <a:prstDash val="solid"/>
            <a:round/>
            <a:headEnd len="med" w="med" type="none"/>
            <a:tailEnd len="med" w="med" type="stealth"/>
          </a:ln>
        </p:spPr>
      </p:cxnSp>
      <p:cxnSp>
        <p:nvCxnSpPr>
          <p:cNvPr id="260" name="Google Shape;260;p20"/>
          <p:cNvCxnSpPr>
            <a:stCxn id="254" idx="3"/>
            <a:endCxn id="251" idx="1"/>
          </p:cNvCxnSpPr>
          <p:nvPr/>
        </p:nvCxnSpPr>
        <p:spPr>
          <a:xfrm flipH="1" rot="10800000">
            <a:off x="2208975" y="1523325"/>
            <a:ext cx="560700" cy="372600"/>
          </a:xfrm>
          <a:prstGeom prst="straightConnector1">
            <a:avLst/>
          </a:prstGeom>
          <a:noFill/>
          <a:ln cap="flat" cmpd="sng" w="9525">
            <a:solidFill>
              <a:schemeClr val="dk2"/>
            </a:solidFill>
            <a:prstDash val="solid"/>
            <a:round/>
            <a:headEnd len="med" w="med" type="none"/>
            <a:tailEnd len="med" w="med" type="stealth"/>
          </a:ln>
        </p:spPr>
      </p:cxnSp>
      <p:sp>
        <p:nvSpPr>
          <p:cNvPr id="261" name="Google Shape;261;p20"/>
          <p:cNvSpPr txBox="1"/>
          <p:nvPr/>
        </p:nvSpPr>
        <p:spPr>
          <a:xfrm>
            <a:off x="2769800" y="2243750"/>
            <a:ext cx="1279200" cy="11373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800" u="sng"/>
              <a:t>I2C Driver</a:t>
            </a:r>
            <a:endParaRPr sz="800" u="sng"/>
          </a:p>
          <a:p>
            <a:pPr indent="0" lvl="0" marL="0" rtl="0" algn="l">
              <a:spcBef>
                <a:spcPts val="0"/>
              </a:spcBef>
              <a:spcAft>
                <a:spcPts val="0"/>
              </a:spcAft>
              <a:buNone/>
            </a:pPr>
            <a:r>
              <a:rPr lang="en-GB" sz="800"/>
              <a:t>Low level comms across I2C. This enable comms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Utilize the wire library, future may need to write own i2c implementation</a:t>
            </a:r>
            <a:endParaRPr sz="800"/>
          </a:p>
          <a:p>
            <a:pPr indent="0" lvl="0" marL="0" rtl="0" algn="l">
              <a:spcBef>
                <a:spcPts val="0"/>
              </a:spcBef>
              <a:spcAft>
                <a:spcPts val="0"/>
              </a:spcAft>
              <a:buNone/>
            </a:pPr>
            <a:r>
              <a:t/>
            </a:r>
            <a:endParaRPr sz="800"/>
          </a:p>
        </p:txBody>
      </p:sp>
      <p:sp>
        <p:nvSpPr>
          <p:cNvPr id="262" name="Google Shape;262;p20"/>
          <p:cNvSpPr/>
          <p:nvPr/>
        </p:nvSpPr>
        <p:spPr>
          <a:xfrm>
            <a:off x="4680325" y="987525"/>
            <a:ext cx="1349700" cy="1137300"/>
          </a:xfrm>
          <a:prstGeom prst="roundRect">
            <a:avLst>
              <a:gd fmla="val 16667" name="adj"/>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Sensors</a:t>
            </a:r>
            <a:endParaRPr/>
          </a:p>
        </p:txBody>
      </p:sp>
      <p:sp>
        <p:nvSpPr>
          <p:cNvPr id="263" name="Google Shape;263;p20"/>
          <p:cNvSpPr txBox="1"/>
          <p:nvPr/>
        </p:nvSpPr>
        <p:spPr>
          <a:xfrm>
            <a:off x="4598275" y="2190975"/>
            <a:ext cx="1513800" cy="27282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800" u="sng"/>
              <a:t>Sensors</a:t>
            </a:r>
            <a:endParaRPr sz="800" u="sng"/>
          </a:p>
          <a:p>
            <a:pPr indent="0" lvl="0" marL="0" rtl="0" algn="l">
              <a:spcBef>
                <a:spcPts val="0"/>
              </a:spcBef>
              <a:spcAft>
                <a:spcPts val="0"/>
              </a:spcAft>
              <a:buNone/>
            </a:pPr>
            <a:r>
              <a:rPr lang="en-GB" sz="800"/>
              <a:t>Utilise the API exposed from the I2C driver to configure and W/R from specific sensor</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ConfigGyro</a:t>
            </a:r>
            <a:endParaRPr sz="800"/>
          </a:p>
          <a:p>
            <a:pPr indent="0" lvl="0" marL="0" rtl="0" algn="l">
              <a:spcBef>
                <a:spcPts val="0"/>
              </a:spcBef>
              <a:spcAft>
                <a:spcPts val="0"/>
              </a:spcAft>
              <a:buNone/>
            </a:pPr>
            <a:r>
              <a:rPr lang="en-GB" sz="800"/>
              <a:t>readGyro[x,y,z]</a:t>
            </a:r>
            <a:endParaRPr sz="800"/>
          </a:p>
          <a:p>
            <a:pPr indent="0" lvl="0" marL="0" rtl="0" algn="l">
              <a:spcBef>
                <a:spcPts val="0"/>
              </a:spcBef>
              <a:spcAft>
                <a:spcPts val="0"/>
              </a:spcAft>
              <a:buNone/>
            </a:pPr>
            <a:r>
              <a:t/>
            </a:r>
            <a:endParaRPr sz="800"/>
          </a:p>
          <a:p>
            <a:pPr indent="0" lvl="0" marL="0" rtl="0" algn="l">
              <a:spcBef>
                <a:spcPts val="0"/>
              </a:spcBef>
              <a:spcAft>
                <a:spcPts val="0"/>
              </a:spcAft>
              <a:buClr>
                <a:schemeClr val="dk1"/>
              </a:buClr>
              <a:buSzPts val="1100"/>
              <a:buFont typeface="Arial"/>
              <a:buNone/>
            </a:pPr>
            <a:r>
              <a:rPr lang="en-GB" sz="800">
                <a:solidFill>
                  <a:schemeClr val="dk1"/>
                </a:solidFill>
              </a:rPr>
              <a:t>ConfigAcc</a:t>
            </a:r>
            <a:endParaRPr sz="800">
              <a:solidFill>
                <a:schemeClr val="dk1"/>
              </a:solidFill>
            </a:endParaRPr>
          </a:p>
          <a:p>
            <a:pPr indent="0" lvl="0" marL="0" rtl="0" algn="l">
              <a:spcBef>
                <a:spcPts val="0"/>
              </a:spcBef>
              <a:spcAft>
                <a:spcPts val="0"/>
              </a:spcAft>
              <a:buClr>
                <a:schemeClr val="dk1"/>
              </a:buClr>
              <a:buSzPts val="1100"/>
              <a:buFont typeface="Arial"/>
              <a:buNone/>
            </a:pPr>
            <a:r>
              <a:rPr lang="en-GB" sz="800">
                <a:solidFill>
                  <a:schemeClr val="dk1"/>
                </a:solidFill>
              </a:rPr>
              <a:t>readAcc[x,y,z]</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rPr lang="en-GB" sz="800">
                <a:solidFill>
                  <a:schemeClr val="dk1"/>
                </a:solidFill>
              </a:rPr>
              <a:t>ConfigMag</a:t>
            </a:r>
            <a:endParaRPr sz="800">
              <a:solidFill>
                <a:schemeClr val="dk1"/>
              </a:solidFill>
            </a:endParaRPr>
          </a:p>
          <a:p>
            <a:pPr indent="0" lvl="0" marL="0" rtl="0" algn="l">
              <a:spcBef>
                <a:spcPts val="0"/>
              </a:spcBef>
              <a:spcAft>
                <a:spcPts val="0"/>
              </a:spcAft>
              <a:buNone/>
            </a:pPr>
            <a:r>
              <a:rPr lang="en-GB" sz="800">
                <a:solidFill>
                  <a:schemeClr val="dk1"/>
                </a:solidFill>
              </a:rPr>
              <a:t>readMag[x,y,z]</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rPr lang="en-GB" sz="800">
                <a:solidFill>
                  <a:schemeClr val="dk1"/>
                </a:solidFill>
              </a:rPr>
              <a:t>ConfigDMP</a:t>
            </a:r>
            <a:endParaRPr sz="800">
              <a:solidFill>
                <a:schemeClr val="dk1"/>
              </a:solidFill>
            </a:endParaRPr>
          </a:p>
          <a:p>
            <a:pPr indent="0" lvl="0" marL="0" rtl="0" algn="l">
              <a:spcBef>
                <a:spcPts val="0"/>
              </a:spcBef>
              <a:spcAft>
                <a:spcPts val="0"/>
              </a:spcAft>
              <a:buClr>
                <a:schemeClr val="dk1"/>
              </a:buClr>
              <a:buSzPts val="1100"/>
              <a:buFont typeface="Arial"/>
              <a:buNone/>
            </a:pPr>
            <a:r>
              <a:rPr lang="en-GB" sz="800">
                <a:solidFill>
                  <a:schemeClr val="dk1"/>
                </a:solidFill>
              </a:rPr>
              <a:t>readDMP[Roll,Pitch,Yaw] </a:t>
            </a:r>
            <a:endParaRPr sz="800">
              <a:solidFill>
                <a:schemeClr val="dk1"/>
              </a:solidFill>
            </a:endParaRPr>
          </a:p>
          <a:p>
            <a:pPr indent="0" lvl="0" marL="0" rtl="0" algn="l">
              <a:spcBef>
                <a:spcPts val="0"/>
              </a:spcBef>
              <a:spcAft>
                <a:spcPts val="0"/>
              </a:spcAft>
              <a:buNone/>
            </a:pPr>
            <a:r>
              <a:t/>
            </a:r>
            <a:endParaRPr sz="800"/>
          </a:p>
          <a:p>
            <a:pPr indent="0" lvl="0" marL="0" rtl="0" algn="l">
              <a:spcBef>
                <a:spcPts val="0"/>
              </a:spcBef>
              <a:spcAft>
                <a:spcPts val="0"/>
              </a:spcAft>
              <a:buNone/>
            </a:pPr>
            <a:r>
              <a:t/>
            </a:r>
            <a:endParaRPr sz="800"/>
          </a:p>
        </p:txBody>
      </p:sp>
      <p:sp>
        <p:nvSpPr>
          <p:cNvPr id="264" name="Google Shape;264;p20"/>
          <p:cNvSpPr txBox="1"/>
          <p:nvPr/>
        </p:nvSpPr>
        <p:spPr>
          <a:xfrm>
            <a:off x="6304075" y="204425"/>
            <a:ext cx="2591700" cy="313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800"/>
              <a:t>Notes</a:t>
            </a:r>
            <a:endParaRPr b="1" sz="800"/>
          </a:p>
          <a:p>
            <a:pPr indent="0" lvl="0" marL="0" rtl="0" algn="l">
              <a:spcBef>
                <a:spcPts val="0"/>
              </a:spcBef>
              <a:spcAft>
                <a:spcPts val="0"/>
              </a:spcAft>
              <a:buNone/>
            </a:pPr>
            <a:r>
              <a:rPr b="1" lang="en-GB" sz="800"/>
              <a:t>Gyroscopes</a:t>
            </a:r>
            <a:r>
              <a:rPr lang="en-GB" sz="800"/>
              <a:t>, or gyros, are devices that measure or maintain rotational motion. MEMS (microelectromechanical system) gyros are small, inexpensive sensors that measure angular velocity. The units of angular velocity are measured in degrees per second (°/s) or revolutions per second (RPS).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An </a:t>
            </a:r>
            <a:r>
              <a:rPr b="1" lang="en-GB" sz="800"/>
              <a:t>accelerometer</a:t>
            </a:r>
            <a:r>
              <a:rPr lang="en-GB" sz="800"/>
              <a:t> is an electromechanical device used to measure acceleration forces. Such forces may be static, like the continuous force of gravity or, as is the case with many mobile devices, dynamic to sense movement or vibrations. Acceleration is the measurement of the change in velocity, or speed divided by time. Units dv/dt where V = velocity</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b="1" lang="en-GB" sz="800"/>
              <a:t>Magnetometers</a:t>
            </a:r>
            <a:r>
              <a:rPr lang="en-GB" sz="800"/>
              <a:t> are measurement instruments used for two general purposes: to measure the magnetization of a magnetic material like a ferromagnet, or to measure the strength and, in some cases, the direction of the magnetic field at a point in space. Units Tessla or Gauss</a:t>
            </a:r>
            <a:endParaRPr sz="800">
              <a:solidFill>
                <a:srgbClr val="222222"/>
              </a:solidFill>
              <a:highlight>
                <a:srgbClr val="FFFFFF"/>
              </a:highlight>
            </a:endParaRPr>
          </a:p>
        </p:txBody>
      </p:sp>
      <p:sp>
        <p:nvSpPr>
          <p:cNvPr id="265" name="Google Shape;265;p20"/>
          <p:cNvSpPr/>
          <p:nvPr/>
        </p:nvSpPr>
        <p:spPr>
          <a:xfrm>
            <a:off x="4042275" y="1295400"/>
            <a:ext cx="738600" cy="441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0"/>
          <p:cNvSpPr/>
          <p:nvPr/>
        </p:nvSpPr>
        <p:spPr>
          <a:xfrm>
            <a:off x="2476225" y="987525"/>
            <a:ext cx="5886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TWI 0</a:t>
            </a:r>
            <a:endParaRPr sz="800"/>
          </a:p>
        </p:txBody>
      </p:sp>
      <p:sp>
        <p:nvSpPr>
          <p:cNvPr id="267" name="Google Shape;267;p20"/>
          <p:cNvSpPr/>
          <p:nvPr/>
        </p:nvSpPr>
        <p:spPr>
          <a:xfrm>
            <a:off x="2476225" y="343600"/>
            <a:ext cx="5886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PCINT</a:t>
            </a:r>
            <a:endParaRPr sz="800"/>
          </a:p>
        </p:txBody>
      </p:sp>
      <p:cxnSp>
        <p:nvCxnSpPr>
          <p:cNvPr id="268" name="Google Shape;268;p20"/>
          <p:cNvCxnSpPr>
            <a:stCxn id="269" idx="3"/>
            <a:endCxn id="267" idx="1"/>
          </p:cNvCxnSpPr>
          <p:nvPr/>
        </p:nvCxnSpPr>
        <p:spPr>
          <a:xfrm flipH="1" rot="10800000">
            <a:off x="1506550" y="494463"/>
            <a:ext cx="969600" cy="446700"/>
          </a:xfrm>
          <a:prstGeom prst="straightConnector1">
            <a:avLst/>
          </a:prstGeom>
          <a:noFill/>
          <a:ln cap="flat" cmpd="sng" w="9525">
            <a:solidFill>
              <a:schemeClr val="dk2"/>
            </a:solidFill>
            <a:prstDash val="solid"/>
            <a:round/>
            <a:headEnd len="med" w="med" type="none"/>
            <a:tailEnd len="med" w="med" type="stealth"/>
          </a:ln>
        </p:spPr>
      </p:cxnSp>
      <p:sp>
        <p:nvSpPr>
          <p:cNvPr id="269" name="Google Shape;269;p20"/>
          <p:cNvSpPr/>
          <p:nvPr/>
        </p:nvSpPr>
        <p:spPr>
          <a:xfrm>
            <a:off x="463450" y="847563"/>
            <a:ext cx="1043100" cy="18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INT</a:t>
            </a:r>
            <a:endParaRPr sz="800"/>
          </a:p>
        </p:txBody>
      </p:sp>
      <p:sp>
        <p:nvSpPr>
          <p:cNvPr id="270" name="Google Shape;270;p20"/>
          <p:cNvSpPr txBox="1"/>
          <p:nvPr/>
        </p:nvSpPr>
        <p:spPr>
          <a:xfrm>
            <a:off x="3127075" y="17775"/>
            <a:ext cx="2985000" cy="8442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800" u="sng"/>
              <a:t>Data Ready/DMP</a:t>
            </a:r>
            <a:endParaRPr sz="800" u="sng"/>
          </a:p>
          <a:p>
            <a:pPr indent="0" lvl="0" marL="0" rtl="0" algn="l">
              <a:spcBef>
                <a:spcPts val="0"/>
              </a:spcBef>
              <a:spcAft>
                <a:spcPts val="0"/>
              </a:spcAft>
              <a:buNone/>
            </a:pPr>
            <a:r>
              <a:t/>
            </a:r>
            <a:endParaRPr sz="800" u="sng"/>
          </a:p>
          <a:p>
            <a:pPr indent="0" lvl="0" marL="0" rtl="0" algn="l">
              <a:spcBef>
                <a:spcPts val="0"/>
              </a:spcBef>
              <a:spcAft>
                <a:spcPts val="0"/>
              </a:spcAft>
              <a:buNone/>
            </a:pPr>
            <a:r>
              <a:rPr lang="en-GB" sz="800"/>
              <a:t>Interrupt generated when data is ready in the registers or in the DMP.</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This is a nod to read the data. This occurs @ 100hz (10ms)</a:t>
            </a:r>
            <a:endParaRPr sz="800">
              <a:solidFill>
                <a:srgbClr val="FF0000"/>
              </a:solidFill>
            </a:endParaRPr>
          </a:p>
          <a:p>
            <a:pPr indent="0" lvl="0" marL="0" rtl="0" algn="l">
              <a:spcBef>
                <a:spcPts val="0"/>
              </a:spcBef>
              <a:spcAft>
                <a:spcPts val="0"/>
              </a:spcAft>
              <a:buNone/>
            </a:pPr>
            <a:r>
              <a:t/>
            </a:r>
            <a:endParaRPr sz="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1"/>
          <p:cNvSpPr txBox="1"/>
          <p:nvPr/>
        </p:nvSpPr>
        <p:spPr>
          <a:xfrm>
            <a:off x="5966525" y="61900"/>
            <a:ext cx="1362000" cy="14724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1"/>
          <p:cNvSpPr/>
          <p:nvPr/>
        </p:nvSpPr>
        <p:spPr>
          <a:xfrm>
            <a:off x="3795100" y="116275"/>
            <a:ext cx="738900" cy="351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PinChange</a:t>
            </a:r>
            <a:endParaRPr sz="800"/>
          </a:p>
          <a:p>
            <a:pPr indent="0" lvl="0" marL="0" rtl="0" algn="l">
              <a:spcBef>
                <a:spcPts val="0"/>
              </a:spcBef>
              <a:spcAft>
                <a:spcPts val="0"/>
              </a:spcAft>
              <a:buNone/>
            </a:pPr>
            <a:r>
              <a:rPr lang="en-GB" sz="800"/>
              <a:t>Interrupt</a:t>
            </a:r>
            <a:endParaRPr sz="800"/>
          </a:p>
        </p:txBody>
      </p:sp>
      <p:sp>
        <p:nvSpPr>
          <p:cNvPr id="277" name="Google Shape;277;p21"/>
          <p:cNvSpPr/>
          <p:nvPr/>
        </p:nvSpPr>
        <p:spPr>
          <a:xfrm>
            <a:off x="3795100" y="538450"/>
            <a:ext cx="738900" cy="351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PinChange</a:t>
            </a:r>
            <a:endParaRPr sz="800"/>
          </a:p>
          <a:p>
            <a:pPr indent="0" lvl="0" marL="0" rtl="0" algn="l">
              <a:spcBef>
                <a:spcPts val="0"/>
              </a:spcBef>
              <a:spcAft>
                <a:spcPts val="0"/>
              </a:spcAft>
              <a:buNone/>
            </a:pPr>
            <a:r>
              <a:rPr lang="en-GB" sz="800"/>
              <a:t>Interrupt</a:t>
            </a:r>
            <a:endParaRPr sz="800"/>
          </a:p>
        </p:txBody>
      </p:sp>
      <p:sp>
        <p:nvSpPr>
          <p:cNvPr id="278" name="Google Shape;278;p21"/>
          <p:cNvSpPr/>
          <p:nvPr/>
        </p:nvSpPr>
        <p:spPr>
          <a:xfrm>
            <a:off x="3795100" y="960625"/>
            <a:ext cx="738900" cy="351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PinChange</a:t>
            </a:r>
            <a:endParaRPr sz="800"/>
          </a:p>
          <a:p>
            <a:pPr indent="0" lvl="0" marL="0" rtl="0" algn="l">
              <a:spcBef>
                <a:spcPts val="0"/>
              </a:spcBef>
              <a:spcAft>
                <a:spcPts val="0"/>
              </a:spcAft>
              <a:buNone/>
            </a:pPr>
            <a:r>
              <a:rPr lang="en-GB" sz="800"/>
              <a:t>Interrupt</a:t>
            </a:r>
            <a:endParaRPr sz="800"/>
          </a:p>
        </p:txBody>
      </p:sp>
      <p:sp>
        <p:nvSpPr>
          <p:cNvPr id="279" name="Google Shape;279;p21"/>
          <p:cNvSpPr/>
          <p:nvPr/>
        </p:nvSpPr>
        <p:spPr>
          <a:xfrm>
            <a:off x="3795100" y="1410950"/>
            <a:ext cx="738900" cy="351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PinChange</a:t>
            </a:r>
            <a:endParaRPr sz="800"/>
          </a:p>
          <a:p>
            <a:pPr indent="0" lvl="0" marL="0" rtl="0" algn="l">
              <a:spcBef>
                <a:spcPts val="0"/>
              </a:spcBef>
              <a:spcAft>
                <a:spcPts val="0"/>
              </a:spcAft>
              <a:buNone/>
            </a:pPr>
            <a:r>
              <a:rPr lang="en-GB" sz="800"/>
              <a:t>Interrupt</a:t>
            </a:r>
            <a:endParaRPr sz="800"/>
          </a:p>
        </p:txBody>
      </p:sp>
      <p:sp>
        <p:nvSpPr>
          <p:cNvPr id="280" name="Google Shape;280;p21"/>
          <p:cNvSpPr/>
          <p:nvPr/>
        </p:nvSpPr>
        <p:spPr>
          <a:xfrm>
            <a:off x="3795100" y="1861275"/>
            <a:ext cx="738900" cy="351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PinChange</a:t>
            </a:r>
            <a:endParaRPr sz="800"/>
          </a:p>
          <a:p>
            <a:pPr indent="0" lvl="0" marL="0" rtl="0" algn="l">
              <a:spcBef>
                <a:spcPts val="0"/>
              </a:spcBef>
              <a:spcAft>
                <a:spcPts val="0"/>
              </a:spcAft>
              <a:buNone/>
            </a:pPr>
            <a:r>
              <a:rPr lang="en-GB" sz="800"/>
              <a:t>Interrupt</a:t>
            </a:r>
            <a:endParaRPr sz="800"/>
          </a:p>
        </p:txBody>
      </p:sp>
      <p:sp>
        <p:nvSpPr>
          <p:cNvPr id="281" name="Google Shape;281;p21"/>
          <p:cNvSpPr/>
          <p:nvPr/>
        </p:nvSpPr>
        <p:spPr>
          <a:xfrm>
            <a:off x="6103725" y="84848"/>
            <a:ext cx="1100700" cy="21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Throttle Demand</a:t>
            </a:r>
            <a:endParaRPr sz="600"/>
          </a:p>
        </p:txBody>
      </p:sp>
      <p:sp>
        <p:nvSpPr>
          <p:cNvPr id="282" name="Google Shape;282;p21"/>
          <p:cNvSpPr/>
          <p:nvPr/>
        </p:nvSpPr>
        <p:spPr>
          <a:xfrm>
            <a:off x="6103725" y="312721"/>
            <a:ext cx="1100700" cy="21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Roll Demand</a:t>
            </a:r>
            <a:endParaRPr sz="800"/>
          </a:p>
        </p:txBody>
      </p:sp>
      <p:sp>
        <p:nvSpPr>
          <p:cNvPr id="283" name="Google Shape;283;p21"/>
          <p:cNvSpPr/>
          <p:nvPr/>
        </p:nvSpPr>
        <p:spPr>
          <a:xfrm>
            <a:off x="6103725" y="540594"/>
            <a:ext cx="1100700" cy="21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Pitch Demand</a:t>
            </a:r>
            <a:endParaRPr sz="800"/>
          </a:p>
        </p:txBody>
      </p:sp>
      <p:sp>
        <p:nvSpPr>
          <p:cNvPr id="284" name="Google Shape;284;p21"/>
          <p:cNvSpPr/>
          <p:nvPr/>
        </p:nvSpPr>
        <p:spPr>
          <a:xfrm>
            <a:off x="6103725" y="765190"/>
            <a:ext cx="1100700" cy="21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Yaw Demand</a:t>
            </a:r>
            <a:endParaRPr sz="800"/>
          </a:p>
        </p:txBody>
      </p:sp>
      <p:sp>
        <p:nvSpPr>
          <p:cNvPr id="285" name="Google Shape;285;p21"/>
          <p:cNvSpPr/>
          <p:nvPr/>
        </p:nvSpPr>
        <p:spPr>
          <a:xfrm>
            <a:off x="6103725" y="1000262"/>
            <a:ext cx="1127100" cy="21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AUX Demand</a:t>
            </a:r>
            <a:endParaRPr sz="800"/>
          </a:p>
        </p:txBody>
      </p:sp>
      <p:sp>
        <p:nvSpPr>
          <p:cNvPr id="286" name="Google Shape;286;p21"/>
          <p:cNvSpPr txBox="1"/>
          <p:nvPr/>
        </p:nvSpPr>
        <p:spPr>
          <a:xfrm>
            <a:off x="1455946" y="2324475"/>
            <a:ext cx="2550900" cy="27825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PinChange ISR (Generated Every 1KHz)</a:t>
            </a:r>
            <a:endParaRPr sz="1200"/>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sz="600">
                <a:solidFill>
                  <a:schemeClr val="dk1"/>
                </a:solidFill>
                <a:latin typeface="Courier New"/>
                <a:ea typeface="Courier New"/>
                <a:cs typeface="Courier New"/>
                <a:sym typeface="Courier New"/>
              </a:rPr>
              <a:t>void calcThrottlePulse()</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solidFill>
                  <a:schemeClr val="dk1"/>
                </a:solidFill>
                <a:latin typeface="Courier New"/>
                <a:ea typeface="Courier New"/>
                <a:cs typeface="Courier New"/>
                <a:sym typeface="Courier New"/>
              </a:rPr>
              <a:t>{</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solidFill>
                  <a:schemeClr val="dk1"/>
                </a:solidFill>
                <a:latin typeface="Courier New"/>
                <a:ea typeface="Courier New"/>
                <a:cs typeface="Courier New"/>
                <a:sym typeface="Courier New"/>
              </a:rPr>
              <a:t>  if(PCintPort::pinState)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solidFill>
                  <a:schemeClr val="dk1"/>
                </a:solidFill>
                <a:latin typeface="Courier New"/>
                <a:ea typeface="Courier New"/>
                <a:cs typeface="Courier New"/>
                <a:sym typeface="Courier New"/>
              </a:rPr>
              <a:t>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solidFill>
                  <a:schemeClr val="dk1"/>
                </a:solidFill>
                <a:latin typeface="Courier New"/>
                <a:ea typeface="Courier New"/>
                <a:cs typeface="Courier New"/>
                <a:sym typeface="Courier New"/>
              </a:rPr>
              <a:t>	unThrottleInStart = TCNT1;</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solidFill>
                  <a:schemeClr val="dk1"/>
                </a:solidFill>
                <a:latin typeface="Courier New"/>
                <a:ea typeface="Courier New"/>
                <a:cs typeface="Courier New"/>
                <a:sym typeface="Courier New"/>
              </a:rPr>
              <a:t>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solidFill>
                  <a:schemeClr val="dk1"/>
                </a:solidFill>
                <a:latin typeface="Courier New"/>
                <a:ea typeface="Courier New"/>
                <a:cs typeface="Courier New"/>
                <a:sym typeface="Courier New"/>
              </a:rPr>
              <a:t>  else</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solidFill>
                  <a:schemeClr val="dk1"/>
                </a:solidFill>
                <a:latin typeface="Courier New"/>
                <a:ea typeface="Courier New"/>
                <a:cs typeface="Courier New"/>
                <a:sym typeface="Courier New"/>
              </a:rPr>
              <a:t>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solidFill>
                  <a:schemeClr val="dk1"/>
                </a:solidFill>
                <a:latin typeface="Courier New"/>
                <a:ea typeface="Courier New"/>
                <a:cs typeface="Courier New"/>
                <a:sym typeface="Courier New"/>
              </a:rPr>
              <a:t>	unThrottleInShared = </a:t>
            </a:r>
            <a:r>
              <a:rPr b="1" lang="en-GB" sz="600">
                <a:solidFill>
                  <a:schemeClr val="dk1"/>
                </a:solidFill>
                <a:latin typeface="Courier New"/>
                <a:ea typeface="Courier New"/>
                <a:cs typeface="Courier New"/>
                <a:sym typeface="Courier New"/>
              </a:rPr>
              <a:t>(</a:t>
            </a:r>
            <a:r>
              <a:rPr lang="en-GB" sz="600">
                <a:solidFill>
                  <a:schemeClr val="dk1"/>
                </a:solidFill>
                <a:latin typeface="Courier New"/>
                <a:ea typeface="Courier New"/>
                <a:cs typeface="Courier New"/>
                <a:sym typeface="Courier New"/>
              </a:rPr>
              <a:t>TCNT1 - unThrottleInStart)&gt;&gt;1;</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solidFill>
                  <a:schemeClr val="dk1"/>
                </a:solidFill>
                <a:latin typeface="Courier New"/>
                <a:ea typeface="Courier New"/>
                <a:cs typeface="Courier New"/>
                <a:sym typeface="Courier New"/>
              </a:rPr>
              <a:t>	bUpdateFlagsShared |= THROTTLE_FLAG;</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solidFill>
                  <a:schemeClr val="dk1"/>
                </a:solidFill>
                <a:latin typeface="Courier New"/>
                <a:ea typeface="Courier New"/>
                <a:cs typeface="Courier New"/>
                <a:sym typeface="Courier New"/>
              </a:rPr>
              <a:t>  }</a:t>
            </a:r>
            <a:endParaRPr sz="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solidFill>
                  <a:schemeClr val="dk1"/>
                </a:solidFill>
                <a:latin typeface="Courier New"/>
                <a:ea typeface="Courier New"/>
                <a:cs typeface="Courier New"/>
                <a:sym typeface="Courier New"/>
              </a:rPr>
              <a:t>}</a:t>
            </a:r>
            <a:endParaRPr sz="600">
              <a:solidFill>
                <a:schemeClr val="dk1"/>
              </a:solidFill>
            </a:endParaRPr>
          </a:p>
          <a:p>
            <a:pPr indent="0" lvl="0" marL="0" rtl="0" algn="l">
              <a:spcBef>
                <a:spcPts val="0"/>
              </a:spcBef>
              <a:spcAft>
                <a:spcPts val="0"/>
              </a:spcAft>
              <a:buClr>
                <a:schemeClr val="dk1"/>
              </a:buClr>
              <a:buSzPts val="1100"/>
              <a:buFont typeface="Arial"/>
              <a:buNone/>
            </a:pPr>
            <a:r>
              <a:t/>
            </a:r>
            <a:endParaRPr sz="800">
              <a:solidFill>
                <a:schemeClr val="dk1"/>
              </a:solidFill>
            </a:endParaRPr>
          </a:p>
          <a:p>
            <a:pPr indent="0" lvl="0" marL="0" rtl="0" algn="l">
              <a:spcBef>
                <a:spcPts val="0"/>
              </a:spcBef>
              <a:spcAft>
                <a:spcPts val="0"/>
              </a:spcAft>
              <a:buNone/>
            </a:pPr>
            <a:r>
              <a:t/>
            </a:r>
            <a:endParaRPr/>
          </a:p>
        </p:txBody>
      </p:sp>
      <p:sp>
        <p:nvSpPr>
          <p:cNvPr id="287" name="Google Shape;287;p21"/>
          <p:cNvSpPr/>
          <p:nvPr/>
        </p:nvSpPr>
        <p:spPr>
          <a:xfrm>
            <a:off x="243975" y="1145475"/>
            <a:ext cx="991800" cy="71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Transmitter</a:t>
            </a:r>
            <a:endParaRPr sz="1000"/>
          </a:p>
        </p:txBody>
      </p:sp>
      <p:sp>
        <p:nvSpPr>
          <p:cNvPr id="288" name="Google Shape;288;p21"/>
          <p:cNvSpPr/>
          <p:nvPr/>
        </p:nvSpPr>
        <p:spPr>
          <a:xfrm>
            <a:off x="698925" y="634275"/>
            <a:ext cx="819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1"/>
          <p:cNvSpPr/>
          <p:nvPr/>
        </p:nvSpPr>
        <p:spPr>
          <a:xfrm>
            <a:off x="1865100" y="1352475"/>
            <a:ext cx="934200" cy="30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solidFill>
                  <a:schemeClr val="dk1"/>
                </a:solidFill>
              </a:rPr>
              <a:t>Receiver</a:t>
            </a:r>
            <a:endParaRPr/>
          </a:p>
        </p:txBody>
      </p:sp>
      <p:cxnSp>
        <p:nvCxnSpPr>
          <p:cNvPr id="290" name="Google Shape;290;p21"/>
          <p:cNvCxnSpPr>
            <a:stCxn id="287" idx="3"/>
            <a:endCxn id="289" idx="1"/>
          </p:cNvCxnSpPr>
          <p:nvPr/>
        </p:nvCxnSpPr>
        <p:spPr>
          <a:xfrm>
            <a:off x="1235775" y="1503375"/>
            <a:ext cx="629400" cy="0"/>
          </a:xfrm>
          <a:prstGeom prst="straightConnector1">
            <a:avLst/>
          </a:prstGeom>
          <a:noFill/>
          <a:ln cap="flat" cmpd="sng" w="38100">
            <a:solidFill>
              <a:schemeClr val="dk2"/>
            </a:solidFill>
            <a:prstDash val="dash"/>
            <a:round/>
            <a:headEnd len="med" w="med" type="none"/>
            <a:tailEnd len="med" w="med" type="none"/>
          </a:ln>
        </p:spPr>
      </p:cxnSp>
      <p:sp>
        <p:nvSpPr>
          <p:cNvPr id="291" name="Google Shape;291;p21"/>
          <p:cNvSpPr txBox="1"/>
          <p:nvPr/>
        </p:nvSpPr>
        <p:spPr>
          <a:xfrm>
            <a:off x="1278500" y="977175"/>
            <a:ext cx="848700" cy="4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Radio Link</a:t>
            </a:r>
            <a:endParaRPr sz="1000"/>
          </a:p>
          <a:p>
            <a:pPr indent="0" lvl="0" marL="0" rtl="0" algn="l">
              <a:spcBef>
                <a:spcPts val="0"/>
              </a:spcBef>
              <a:spcAft>
                <a:spcPts val="0"/>
              </a:spcAft>
              <a:buNone/>
            </a:pPr>
            <a:r>
              <a:rPr lang="en-GB" sz="1000"/>
              <a:t>2.4GHz</a:t>
            </a:r>
            <a:endParaRPr sz="1000"/>
          </a:p>
        </p:txBody>
      </p:sp>
      <p:sp>
        <p:nvSpPr>
          <p:cNvPr id="292" name="Google Shape;292;p21"/>
          <p:cNvSpPr/>
          <p:nvPr/>
        </p:nvSpPr>
        <p:spPr>
          <a:xfrm>
            <a:off x="1966438" y="747925"/>
            <a:ext cx="385182" cy="511218"/>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1"/>
          <p:cNvSpPr/>
          <p:nvPr/>
        </p:nvSpPr>
        <p:spPr>
          <a:xfrm flipH="1">
            <a:off x="1235769" y="634263"/>
            <a:ext cx="385182" cy="511218"/>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4" name="Google Shape;294;p21"/>
          <p:cNvCxnSpPr>
            <a:stCxn id="289" idx="3"/>
            <a:endCxn id="276" idx="1"/>
          </p:cNvCxnSpPr>
          <p:nvPr/>
        </p:nvCxnSpPr>
        <p:spPr>
          <a:xfrm flipH="1" rot="10800000">
            <a:off x="2799300" y="292275"/>
            <a:ext cx="995700" cy="1211100"/>
          </a:xfrm>
          <a:prstGeom prst="curvedConnector3">
            <a:avLst>
              <a:gd fmla="val 50003" name="adj1"/>
            </a:avLst>
          </a:prstGeom>
          <a:noFill/>
          <a:ln cap="flat" cmpd="sng" w="9525">
            <a:solidFill>
              <a:schemeClr val="dk2"/>
            </a:solidFill>
            <a:prstDash val="solid"/>
            <a:round/>
            <a:headEnd len="med" w="med" type="none"/>
            <a:tailEnd len="med" w="med" type="stealth"/>
          </a:ln>
        </p:spPr>
      </p:cxnSp>
      <p:cxnSp>
        <p:nvCxnSpPr>
          <p:cNvPr id="295" name="Google Shape;295;p21"/>
          <p:cNvCxnSpPr>
            <a:stCxn id="289" idx="3"/>
            <a:endCxn id="277" idx="1"/>
          </p:cNvCxnSpPr>
          <p:nvPr/>
        </p:nvCxnSpPr>
        <p:spPr>
          <a:xfrm flipH="1" rot="10800000">
            <a:off x="2799300" y="714375"/>
            <a:ext cx="995700" cy="789000"/>
          </a:xfrm>
          <a:prstGeom prst="curvedConnector3">
            <a:avLst>
              <a:gd fmla="val 50003" name="adj1"/>
            </a:avLst>
          </a:prstGeom>
          <a:noFill/>
          <a:ln cap="flat" cmpd="sng" w="9525">
            <a:solidFill>
              <a:schemeClr val="dk2"/>
            </a:solidFill>
            <a:prstDash val="solid"/>
            <a:round/>
            <a:headEnd len="med" w="med" type="none"/>
            <a:tailEnd len="med" w="med" type="stealth"/>
          </a:ln>
        </p:spPr>
      </p:cxnSp>
      <p:cxnSp>
        <p:nvCxnSpPr>
          <p:cNvPr id="296" name="Google Shape;296;p21"/>
          <p:cNvCxnSpPr>
            <a:stCxn id="289" idx="3"/>
            <a:endCxn id="278" idx="1"/>
          </p:cNvCxnSpPr>
          <p:nvPr/>
        </p:nvCxnSpPr>
        <p:spPr>
          <a:xfrm flipH="1" rot="10800000">
            <a:off x="2799300" y="1136475"/>
            <a:ext cx="995700" cy="366900"/>
          </a:xfrm>
          <a:prstGeom prst="curvedConnector3">
            <a:avLst>
              <a:gd fmla="val 50003" name="adj1"/>
            </a:avLst>
          </a:prstGeom>
          <a:noFill/>
          <a:ln cap="flat" cmpd="sng" w="9525">
            <a:solidFill>
              <a:schemeClr val="dk2"/>
            </a:solidFill>
            <a:prstDash val="solid"/>
            <a:round/>
            <a:headEnd len="med" w="med" type="none"/>
            <a:tailEnd len="med" w="med" type="stealth"/>
          </a:ln>
        </p:spPr>
      </p:cxnSp>
      <p:cxnSp>
        <p:nvCxnSpPr>
          <p:cNvPr id="297" name="Google Shape;297;p21"/>
          <p:cNvCxnSpPr>
            <a:stCxn id="289" idx="3"/>
            <a:endCxn id="279" idx="1"/>
          </p:cNvCxnSpPr>
          <p:nvPr/>
        </p:nvCxnSpPr>
        <p:spPr>
          <a:xfrm>
            <a:off x="2799300" y="1503375"/>
            <a:ext cx="995700" cy="83400"/>
          </a:xfrm>
          <a:prstGeom prst="curvedConnector3">
            <a:avLst>
              <a:gd fmla="val 50003" name="adj1"/>
            </a:avLst>
          </a:prstGeom>
          <a:noFill/>
          <a:ln cap="flat" cmpd="sng" w="9525">
            <a:solidFill>
              <a:schemeClr val="dk2"/>
            </a:solidFill>
            <a:prstDash val="solid"/>
            <a:round/>
            <a:headEnd len="med" w="med" type="none"/>
            <a:tailEnd len="med" w="med" type="stealth"/>
          </a:ln>
        </p:spPr>
      </p:cxnSp>
      <p:cxnSp>
        <p:nvCxnSpPr>
          <p:cNvPr id="298" name="Google Shape;298;p21"/>
          <p:cNvCxnSpPr>
            <a:stCxn id="289" idx="3"/>
            <a:endCxn id="280" idx="1"/>
          </p:cNvCxnSpPr>
          <p:nvPr/>
        </p:nvCxnSpPr>
        <p:spPr>
          <a:xfrm>
            <a:off x="2799300" y="1503375"/>
            <a:ext cx="995700" cy="534000"/>
          </a:xfrm>
          <a:prstGeom prst="curvedConnector3">
            <a:avLst>
              <a:gd fmla="val 50003" name="adj1"/>
            </a:avLst>
          </a:prstGeom>
          <a:noFill/>
          <a:ln cap="flat" cmpd="sng" w="9525">
            <a:solidFill>
              <a:schemeClr val="dk2"/>
            </a:solidFill>
            <a:prstDash val="solid"/>
            <a:round/>
            <a:headEnd len="med" w="med" type="none"/>
            <a:tailEnd len="med" w="med" type="stealth"/>
          </a:ln>
        </p:spPr>
      </p:cxnSp>
      <p:sp>
        <p:nvSpPr>
          <p:cNvPr id="299" name="Google Shape;299;p21"/>
          <p:cNvSpPr txBox="1"/>
          <p:nvPr/>
        </p:nvSpPr>
        <p:spPr>
          <a:xfrm>
            <a:off x="4561600" y="1597650"/>
            <a:ext cx="4534800" cy="40263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Radio</a:t>
            </a:r>
            <a:endParaRPr sz="1200"/>
          </a:p>
          <a:p>
            <a:pPr indent="0" lvl="0" marL="0" rtl="0" algn="l">
              <a:spcBef>
                <a:spcPts val="0"/>
              </a:spcBef>
              <a:spcAft>
                <a:spcPts val="0"/>
              </a:spcAft>
              <a:buClr>
                <a:schemeClr val="dk1"/>
              </a:buClr>
              <a:buSzPts val="1100"/>
              <a:buFont typeface="Arial"/>
              <a:buNone/>
            </a:pPr>
            <a:r>
              <a:rPr lang="en-GB" sz="600"/>
              <a:t> </a:t>
            </a:r>
            <a:r>
              <a:rPr lang="en-GB" sz="600">
                <a:latin typeface="Courier New"/>
                <a:ea typeface="Courier New"/>
                <a:cs typeface="Courier New"/>
                <a:sym typeface="Courier New"/>
              </a:rPr>
              <a:t>// check shared update flags to see if any channels have a new signal</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if(bUpdateFlagsShared)</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noInterrupts(); // turn interrupts off quickly while we take local copies of the shared variables</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 take a local copy of which channels were updated in case we need to use this in the rest of loop</a:t>
            </a:r>
            <a:endParaRPr sz="600">
              <a:latin typeface="Courier New"/>
              <a:ea typeface="Courier New"/>
              <a:cs typeface="Courier New"/>
              <a:sym typeface="Courier New"/>
            </a:endParaRPr>
          </a:p>
          <a:p>
            <a:pPr indent="0" lvl="0" marL="0" rtl="0" algn="l">
              <a:spcBef>
                <a:spcPts val="0"/>
              </a:spcBef>
              <a:spcAft>
                <a:spcPts val="0"/>
              </a:spcAft>
              <a:buNone/>
            </a:pPr>
            <a:r>
              <a:rPr lang="en-GB" sz="600">
                <a:latin typeface="Courier New"/>
                <a:ea typeface="Courier New"/>
                <a:cs typeface="Courier New"/>
                <a:sym typeface="Courier New"/>
              </a:rPr>
              <a:t>	bUpdateFlags = bUpdateFlagsShared;</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if(bUpdateFlags &amp; THROTTLE_FLAG)</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unThrottleIn = unThrottleInShared;</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if(bUpdateFlags &amp; STEERING_FLAG)</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unSteeringIn = unSteeringInShared;</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if(bUpdateFlags &amp; AUX_FLAG)</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unAuxIn = unAuxInShared;</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 clear shared copy of updated flags as we have already taken the updates</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 we still have a local copy if we need to use it in bUpdateFlags</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bUpdateFlagsShared = 0;</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interrupts(); // we have local copies of the inputs, so now we can turn interrupts back on</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 as soon as interrupts are back on, we can no longer use the shared copies, the interrupt</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 service routines own these and could update them at any time. During the update, the</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 shared copies may contain junk. Luckily we have our local copies to work with :-)</a:t>
            </a:r>
            <a:endParaRPr sz="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600">
                <a:latin typeface="Courier New"/>
                <a:ea typeface="Courier New"/>
                <a:cs typeface="Courier New"/>
                <a:sym typeface="Courier New"/>
              </a:rPr>
              <a:t>  }</a:t>
            </a:r>
            <a:endParaRPr sz="600">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p:txBody>
      </p:sp>
      <p:sp>
        <p:nvSpPr>
          <p:cNvPr id="300" name="Google Shape;300;p21"/>
          <p:cNvSpPr/>
          <p:nvPr/>
        </p:nvSpPr>
        <p:spPr>
          <a:xfrm>
            <a:off x="4604525" y="309850"/>
            <a:ext cx="1362000" cy="1102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Global Variable</a:t>
            </a:r>
            <a:endParaRPr sz="800"/>
          </a:p>
          <a:p>
            <a:pPr indent="0" lvl="0" marL="0" rtl="0" algn="l">
              <a:spcBef>
                <a:spcPts val="0"/>
              </a:spcBef>
              <a:spcAft>
                <a:spcPts val="0"/>
              </a:spcAft>
              <a:buNone/>
            </a:pPr>
            <a:r>
              <a:rPr lang="en-GB" sz="800"/>
              <a:t>[b_radioFlags_GV]</a:t>
            </a:r>
            <a:endParaRPr sz="800"/>
          </a:p>
        </p:txBody>
      </p:sp>
      <p:sp>
        <p:nvSpPr>
          <p:cNvPr id="301" name="Google Shape;301;p21"/>
          <p:cNvSpPr/>
          <p:nvPr/>
        </p:nvSpPr>
        <p:spPr>
          <a:xfrm>
            <a:off x="7360225" y="486500"/>
            <a:ext cx="1445400" cy="871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Global Variable</a:t>
            </a:r>
            <a:endParaRPr sz="800"/>
          </a:p>
          <a:p>
            <a:pPr indent="0" lvl="0" marL="0" rtl="0" algn="l">
              <a:spcBef>
                <a:spcPts val="0"/>
              </a:spcBef>
              <a:spcAft>
                <a:spcPts val="0"/>
              </a:spcAft>
              <a:buNone/>
            </a:pPr>
            <a:r>
              <a:rPr lang="en-GB" sz="800"/>
              <a:t>[iPilotDemand_GV]]</a:t>
            </a:r>
            <a:endParaRPr sz="800"/>
          </a:p>
        </p:txBody>
      </p:sp>
      <p:sp>
        <p:nvSpPr>
          <p:cNvPr id="302" name="Google Shape;302;p21"/>
          <p:cNvSpPr txBox="1"/>
          <p:nvPr/>
        </p:nvSpPr>
        <p:spPr>
          <a:xfrm>
            <a:off x="151675" y="2301150"/>
            <a:ext cx="1199400" cy="27825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Read PWM Driver</a:t>
            </a:r>
            <a:endParaRPr sz="1200"/>
          </a:p>
          <a:p>
            <a:pPr indent="0" lvl="0" marL="0" rtl="0" algn="l">
              <a:spcBef>
                <a:spcPts val="0"/>
              </a:spcBef>
              <a:spcAft>
                <a:spcPts val="0"/>
              </a:spcAft>
              <a:buNone/>
            </a:pPr>
            <a:r>
              <a:rPr lang="en-GB" sz="800"/>
              <a:t>Configure the Pin Change Interrupt</a:t>
            </a:r>
            <a:endParaRPr sz="800"/>
          </a:p>
          <a:p>
            <a:pPr indent="0" lvl="0" marL="0" rtl="0" algn="l">
              <a:spcBef>
                <a:spcPts val="0"/>
              </a:spcBef>
              <a:spcAft>
                <a:spcPts val="0"/>
              </a:spcAft>
              <a:buNone/>
            </a:pPr>
            <a:r>
              <a:t/>
            </a:r>
            <a:endParaRPr sz="1200"/>
          </a:p>
          <a:p>
            <a:pPr indent="0" lvl="0" marL="0" rtl="0" algn="l">
              <a:spcBef>
                <a:spcPts val="0"/>
              </a:spcBef>
              <a:spcAft>
                <a:spcPts val="0"/>
              </a:spcAft>
              <a:buNone/>
            </a:pPr>
            <a:r>
              <a:rPr lang="en-GB" sz="800"/>
              <a:t>configChangeInterrupt(PIN, CHANGE Type)</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Enable</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Disable</a:t>
            </a:r>
            <a:endParaRPr sz="800"/>
          </a:p>
          <a:p>
            <a:pPr indent="0" lvl="0" marL="0" rtl="0" algn="l">
              <a:spcBef>
                <a:spcPts val="0"/>
              </a:spcBef>
              <a:spcAft>
                <a:spcPts val="0"/>
              </a:spcAft>
              <a:buNone/>
            </a:pPr>
            <a:r>
              <a:t/>
            </a:r>
            <a:endParaRPr sz="8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3" name="Google Shape;303;p21"/>
          <p:cNvSpPr txBox="1"/>
          <p:nvPr/>
        </p:nvSpPr>
        <p:spPr>
          <a:xfrm>
            <a:off x="246900" y="123450"/>
            <a:ext cx="1882500" cy="2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Radio</a:t>
            </a:r>
            <a:endParaRPr b="1" u="sng"/>
          </a:p>
        </p:txBody>
      </p:sp>
      <p:sp>
        <p:nvSpPr>
          <p:cNvPr id="304" name="Google Shape;304;p21"/>
          <p:cNvSpPr/>
          <p:nvPr/>
        </p:nvSpPr>
        <p:spPr>
          <a:xfrm>
            <a:off x="3272575" y="-11300"/>
            <a:ext cx="5886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EXTINT</a:t>
            </a:r>
            <a:endParaRPr sz="800"/>
          </a:p>
        </p:txBody>
      </p:sp>
      <p:sp>
        <p:nvSpPr>
          <p:cNvPr id="305" name="Google Shape;305;p21"/>
          <p:cNvSpPr/>
          <p:nvPr/>
        </p:nvSpPr>
        <p:spPr>
          <a:xfrm>
            <a:off x="6099825" y="1235312"/>
            <a:ext cx="1127100" cy="213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Gear </a:t>
            </a:r>
            <a:r>
              <a:rPr lang="en-GB" sz="800"/>
              <a:t>Demand</a:t>
            </a:r>
            <a:endParaRPr sz="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2"/>
          <p:cNvSpPr/>
          <p:nvPr/>
        </p:nvSpPr>
        <p:spPr>
          <a:xfrm flipH="1" rot="-10546751">
            <a:off x="8237600" y="1421830"/>
            <a:ext cx="81521" cy="435008"/>
          </a:xfrm>
          <a:prstGeom prst="roundRect">
            <a:avLst>
              <a:gd fmla="val 16667" name="adj"/>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2"/>
          <p:cNvSpPr/>
          <p:nvPr/>
        </p:nvSpPr>
        <p:spPr>
          <a:xfrm flipH="1" rot="10176046">
            <a:off x="4689673" y="1421702"/>
            <a:ext cx="81438" cy="435094"/>
          </a:xfrm>
          <a:prstGeom prst="roundRect">
            <a:avLst>
              <a:gd fmla="val 16667" name="adj"/>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
          <p:cNvSpPr/>
          <p:nvPr/>
        </p:nvSpPr>
        <p:spPr>
          <a:xfrm>
            <a:off x="4029600" y="1755375"/>
            <a:ext cx="4889400" cy="3184800"/>
          </a:xfrm>
          <a:prstGeom prst="roundRect">
            <a:avLst>
              <a:gd fmla="val 16667" name="adj"/>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p>
        </p:txBody>
      </p:sp>
      <p:sp>
        <p:nvSpPr>
          <p:cNvPr id="313" name="Google Shape;313;p22"/>
          <p:cNvSpPr/>
          <p:nvPr/>
        </p:nvSpPr>
        <p:spPr>
          <a:xfrm>
            <a:off x="6433350" y="411450"/>
            <a:ext cx="239100" cy="1344000"/>
          </a:xfrm>
          <a:prstGeom prst="roundRect">
            <a:avLst>
              <a:gd fmla="val 16667" name="adj"/>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2"/>
          <p:cNvSpPr txBox="1"/>
          <p:nvPr/>
        </p:nvSpPr>
        <p:spPr>
          <a:xfrm>
            <a:off x="131425" y="64800"/>
            <a:ext cx="1882500" cy="2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Radio</a:t>
            </a:r>
            <a:endParaRPr b="1" u="sng"/>
          </a:p>
        </p:txBody>
      </p:sp>
      <p:sp>
        <p:nvSpPr>
          <p:cNvPr id="315" name="Google Shape;315;p22"/>
          <p:cNvSpPr/>
          <p:nvPr/>
        </p:nvSpPr>
        <p:spPr>
          <a:xfrm>
            <a:off x="4339700" y="2602175"/>
            <a:ext cx="1544400" cy="1491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2"/>
          <p:cNvSpPr/>
          <p:nvPr/>
        </p:nvSpPr>
        <p:spPr>
          <a:xfrm>
            <a:off x="7177750" y="2602125"/>
            <a:ext cx="1544400" cy="1491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p:nvPr/>
        </p:nvSpPr>
        <p:spPr>
          <a:xfrm>
            <a:off x="4423275" y="2675775"/>
            <a:ext cx="1377300" cy="1344000"/>
          </a:xfrm>
          <a:prstGeom prst="ellipse">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2"/>
          <p:cNvSpPr/>
          <p:nvPr/>
        </p:nvSpPr>
        <p:spPr>
          <a:xfrm>
            <a:off x="7261300" y="2675775"/>
            <a:ext cx="1377300" cy="1344000"/>
          </a:xfrm>
          <a:prstGeom prst="ellipse">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2"/>
          <p:cNvSpPr/>
          <p:nvPr/>
        </p:nvSpPr>
        <p:spPr>
          <a:xfrm>
            <a:off x="5054025" y="3371225"/>
            <a:ext cx="115800" cy="783000"/>
          </a:xfrm>
          <a:prstGeom prst="roundRect">
            <a:avLst>
              <a:gd fmla="val 16667" name="adj"/>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2"/>
          <p:cNvSpPr/>
          <p:nvPr/>
        </p:nvSpPr>
        <p:spPr>
          <a:xfrm>
            <a:off x="7892050" y="3371225"/>
            <a:ext cx="115800" cy="204900"/>
          </a:xfrm>
          <a:prstGeom prst="roundRect">
            <a:avLst>
              <a:gd fmla="val 16667" name="adj"/>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2"/>
          <p:cNvSpPr/>
          <p:nvPr/>
        </p:nvSpPr>
        <p:spPr>
          <a:xfrm>
            <a:off x="4029600" y="2518775"/>
            <a:ext cx="273900" cy="1574700"/>
          </a:xfrm>
          <a:prstGeom prst="up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2"/>
          <p:cNvSpPr/>
          <p:nvPr/>
        </p:nvSpPr>
        <p:spPr>
          <a:xfrm>
            <a:off x="6903850" y="2518775"/>
            <a:ext cx="273900" cy="1574700"/>
          </a:xfrm>
          <a:prstGeom prst="up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2"/>
          <p:cNvSpPr/>
          <p:nvPr/>
        </p:nvSpPr>
        <p:spPr>
          <a:xfrm rot="5400000">
            <a:off x="7813000" y="3538575"/>
            <a:ext cx="273900" cy="1574700"/>
          </a:xfrm>
          <a:prstGeom prst="up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2"/>
          <p:cNvSpPr/>
          <p:nvPr/>
        </p:nvSpPr>
        <p:spPr>
          <a:xfrm rot="5400000">
            <a:off x="4876275" y="3538575"/>
            <a:ext cx="273900" cy="1574700"/>
          </a:xfrm>
          <a:prstGeom prst="up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2"/>
          <p:cNvSpPr txBox="1"/>
          <p:nvPr/>
        </p:nvSpPr>
        <p:spPr>
          <a:xfrm>
            <a:off x="3366075" y="3165275"/>
            <a:ext cx="8598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Throttle</a:t>
            </a:r>
            <a:endParaRPr/>
          </a:p>
        </p:txBody>
      </p:sp>
      <p:sp>
        <p:nvSpPr>
          <p:cNvPr id="326" name="Google Shape;326;p22"/>
          <p:cNvSpPr txBox="1"/>
          <p:nvPr/>
        </p:nvSpPr>
        <p:spPr>
          <a:xfrm>
            <a:off x="4651500" y="4421425"/>
            <a:ext cx="8598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Rudder (Yaw)</a:t>
            </a:r>
            <a:endParaRPr/>
          </a:p>
        </p:txBody>
      </p:sp>
      <p:sp>
        <p:nvSpPr>
          <p:cNvPr id="327" name="Google Shape;327;p22"/>
          <p:cNvSpPr txBox="1"/>
          <p:nvPr/>
        </p:nvSpPr>
        <p:spPr>
          <a:xfrm>
            <a:off x="6101025" y="3123575"/>
            <a:ext cx="8598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Elevator</a:t>
            </a:r>
            <a:endParaRPr/>
          </a:p>
          <a:p>
            <a:pPr indent="0" lvl="0" marL="0" rtl="0" algn="l">
              <a:spcBef>
                <a:spcPts val="0"/>
              </a:spcBef>
              <a:spcAft>
                <a:spcPts val="0"/>
              </a:spcAft>
              <a:buNone/>
            </a:pPr>
            <a:r>
              <a:rPr lang="en-GB"/>
              <a:t>(Pitch)</a:t>
            </a:r>
            <a:endParaRPr/>
          </a:p>
        </p:txBody>
      </p:sp>
      <p:sp>
        <p:nvSpPr>
          <p:cNvPr id="328" name="Google Shape;328;p22"/>
          <p:cNvSpPr txBox="1"/>
          <p:nvPr/>
        </p:nvSpPr>
        <p:spPr>
          <a:xfrm>
            <a:off x="7569500" y="4386675"/>
            <a:ext cx="8598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Ailerons</a:t>
            </a:r>
            <a:endParaRPr/>
          </a:p>
          <a:p>
            <a:pPr indent="0" lvl="0" marL="0" rtl="0" algn="l">
              <a:spcBef>
                <a:spcPts val="0"/>
              </a:spcBef>
              <a:spcAft>
                <a:spcPts val="0"/>
              </a:spcAft>
              <a:buNone/>
            </a:pPr>
            <a:r>
              <a:rPr lang="en-GB"/>
              <a:t>(Roll)</a:t>
            </a:r>
            <a:endParaRPr/>
          </a:p>
        </p:txBody>
      </p:sp>
      <p:sp>
        <p:nvSpPr>
          <p:cNvPr id="329" name="Google Shape;329;p22"/>
          <p:cNvSpPr txBox="1"/>
          <p:nvPr/>
        </p:nvSpPr>
        <p:spPr>
          <a:xfrm>
            <a:off x="3936725" y="2237075"/>
            <a:ext cx="5931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+tve</a:t>
            </a:r>
            <a:endParaRPr/>
          </a:p>
        </p:txBody>
      </p:sp>
      <p:sp>
        <p:nvSpPr>
          <p:cNvPr id="330" name="Google Shape;330;p22"/>
          <p:cNvSpPr txBox="1"/>
          <p:nvPr/>
        </p:nvSpPr>
        <p:spPr>
          <a:xfrm>
            <a:off x="5800575" y="4143375"/>
            <a:ext cx="5931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+tve</a:t>
            </a:r>
            <a:endParaRPr/>
          </a:p>
        </p:txBody>
      </p:sp>
      <p:sp>
        <p:nvSpPr>
          <p:cNvPr id="331" name="Google Shape;331;p22"/>
          <p:cNvSpPr txBox="1"/>
          <p:nvPr/>
        </p:nvSpPr>
        <p:spPr>
          <a:xfrm>
            <a:off x="6744250" y="2237075"/>
            <a:ext cx="5931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+tve</a:t>
            </a:r>
            <a:endParaRPr/>
          </a:p>
        </p:txBody>
      </p:sp>
      <p:sp>
        <p:nvSpPr>
          <p:cNvPr id="332" name="Google Shape;332;p22"/>
          <p:cNvSpPr txBox="1"/>
          <p:nvPr/>
        </p:nvSpPr>
        <p:spPr>
          <a:xfrm>
            <a:off x="8417350" y="3914775"/>
            <a:ext cx="5931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+tve</a:t>
            </a:r>
            <a:endParaRPr/>
          </a:p>
        </p:txBody>
      </p:sp>
      <p:sp>
        <p:nvSpPr>
          <p:cNvPr id="333" name="Google Shape;333;p22"/>
          <p:cNvSpPr txBox="1"/>
          <p:nvPr/>
        </p:nvSpPr>
        <p:spPr>
          <a:xfrm>
            <a:off x="3946200" y="3940975"/>
            <a:ext cx="5931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-tve</a:t>
            </a:r>
            <a:endParaRPr/>
          </a:p>
        </p:txBody>
      </p:sp>
      <p:sp>
        <p:nvSpPr>
          <p:cNvPr id="334" name="Google Shape;334;p22"/>
          <p:cNvSpPr txBox="1"/>
          <p:nvPr/>
        </p:nvSpPr>
        <p:spPr>
          <a:xfrm>
            <a:off x="6761238" y="4093375"/>
            <a:ext cx="5931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-tve</a:t>
            </a:r>
            <a:endParaRPr/>
          </a:p>
        </p:txBody>
      </p:sp>
      <p:graphicFrame>
        <p:nvGraphicFramePr>
          <p:cNvPr id="335" name="Google Shape;335;p22"/>
          <p:cNvGraphicFramePr/>
          <p:nvPr/>
        </p:nvGraphicFramePr>
        <p:xfrm>
          <a:off x="299100" y="562263"/>
          <a:ext cx="3000000" cy="3000000"/>
        </p:xfrm>
        <a:graphic>
          <a:graphicData uri="http://schemas.openxmlformats.org/drawingml/2006/table">
            <a:tbl>
              <a:tblPr>
                <a:noFill/>
                <a:tableStyleId>{7985B7D9-D6BB-4394-92BC-0BEC9817FC1B}</a:tableStyleId>
              </a:tblPr>
              <a:tblGrid>
                <a:gridCol w="1022325"/>
                <a:gridCol w="1540850"/>
              </a:tblGrid>
              <a:tr h="381000">
                <a:tc>
                  <a:txBody>
                    <a:bodyPr/>
                    <a:lstStyle/>
                    <a:p>
                      <a:pPr indent="0" lvl="0" marL="0" rtl="0" algn="l">
                        <a:spcBef>
                          <a:spcPts val="0"/>
                        </a:spcBef>
                        <a:spcAft>
                          <a:spcPts val="0"/>
                        </a:spcAft>
                        <a:buNone/>
                      </a:pPr>
                      <a:r>
                        <a:rPr lang="en-GB"/>
                        <a:t>Channel</a:t>
                      </a:r>
                      <a:endParaRPr/>
                    </a:p>
                  </a:txBody>
                  <a:tcPr marT="91425" marB="91425" marR="91425" marL="91425"/>
                </a:tc>
                <a:tc>
                  <a:txBody>
                    <a:bodyPr/>
                    <a:lstStyle/>
                    <a:p>
                      <a:pPr indent="0" lvl="0" marL="0" rtl="0" algn="l">
                        <a:spcBef>
                          <a:spcPts val="0"/>
                        </a:spcBef>
                        <a:spcAft>
                          <a:spcPts val="0"/>
                        </a:spcAft>
                        <a:buNone/>
                      </a:pPr>
                      <a:r>
                        <a:rPr lang="en-GB"/>
                        <a:t>Mapped (Min,Max)</a:t>
                      </a:r>
                      <a:endParaRPr/>
                    </a:p>
                  </a:txBody>
                  <a:tcPr marT="91425" marB="91425" marR="91425" marL="91425"/>
                </a:tc>
              </a:tr>
              <a:tr h="381000">
                <a:tc>
                  <a:txBody>
                    <a:bodyPr/>
                    <a:lstStyle/>
                    <a:p>
                      <a:pPr indent="0" lvl="0" marL="0" rtl="0" algn="l">
                        <a:spcBef>
                          <a:spcPts val="0"/>
                        </a:spcBef>
                        <a:spcAft>
                          <a:spcPts val="0"/>
                        </a:spcAft>
                        <a:buNone/>
                      </a:pPr>
                      <a:r>
                        <a:rPr lang="en-GB"/>
                        <a:t>Throttle</a:t>
                      </a:r>
                      <a:endParaRPr/>
                    </a:p>
                  </a:txBody>
                  <a:tcPr marT="91425" marB="91425" marR="91425" marL="91425"/>
                </a:tc>
                <a:tc>
                  <a:txBody>
                    <a:bodyPr/>
                    <a:lstStyle/>
                    <a:p>
                      <a:pPr indent="0" lvl="0" marL="0" rtl="0" algn="l">
                        <a:spcBef>
                          <a:spcPts val="0"/>
                        </a:spcBef>
                        <a:spcAft>
                          <a:spcPts val="0"/>
                        </a:spcAft>
                        <a:buNone/>
                      </a:pPr>
                      <a:r>
                        <a:rPr lang="en-GB"/>
                        <a:t>1000,2000</a:t>
                      </a:r>
                      <a:endParaRPr/>
                    </a:p>
                  </a:txBody>
                  <a:tcPr marT="91425" marB="91425" marR="91425" marL="91425"/>
                </a:tc>
              </a:tr>
              <a:tr h="381000">
                <a:tc>
                  <a:txBody>
                    <a:bodyPr/>
                    <a:lstStyle/>
                    <a:p>
                      <a:pPr indent="0" lvl="0" marL="0" rtl="0" algn="l">
                        <a:spcBef>
                          <a:spcPts val="0"/>
                        </a:spcBef>
                        <a:spcAft>
                          <a:spcPts val="0"/>
                        </a:spcAft>
                        <a:buNone/>
                      </a:pPr>
                      <a:r>
                        <a:rPr lang="en-GB"/>
                        <a:t>Roll</a:t>
                      </a:r>
                      <a:endParaRPr/>
                    </a:p>
                  </a:txBody>
                  <a:tcPr marT="91425" marB="91425" marR="91425" marL="91425"/>
                </a:tc>
                <a:tc>
                  <a:txBody>
                    <a:bodyPr/>
                    <a:lstStyle/>
                    <a:p>
                      <a:pPr indent="0" lvl="0" marL="0" rtl="0" algn="l">
                        <a:spcBef>
                          <a:spcPts val="0"/>
                        </a:spcBef>
                        <a:spcAft>
                          <a:spcPts val="0"/>
                        </a:spcAft>
                        <a:buNone/>
                      </a:pPr>
                      <a:r>
                        <a:rPr lang="en-GB"/>
                        <a:t>-1, 1</a:t>
                      </a:r>
                      <a:endParaRPr/>
                    </a:p>
                  </a:txBody>
                  <a:tcPr marT="91425" marB="91425" marR="91425" marL="91425"/>
                </a:tc>
              </a:tr>
              <a:tr h="381000">
                <a:tc>
                  <a:txBody>
                    <a:bodyPr/>
                    <a:lstStyle/>
                    <a:p>
                      <a:pPr indent="0" lvl="0" marL="0" rtl="0" algn="l">
                        <a:spcBef>
                          <a:spcPts val="0"/>
                        </a:spcBef>
                        <a:spcAft>
                          <a:spcPts val="0"/>
                        </a:spcAft>
                        <a:buNone/>
                      </a:pPr>
                      <a:r>
                        <a:rPr lang="en-GB"/>
                        <a:t>Pitch</a:t>
                      </a:r>
                      <a:endParaRPr/>
                    </a:p>
                  </a:txBody>
                  <a:tcPr marT="91425" marB="91425" marR="91425" marL="91425"/>
                </a:tc>
                <a:tc>
                  <a:txBody>
                    <a:bodyPr/>
                    <a:lstStyle/>
                    <a:p>
                      <a:pPr indent="0" lvl="0" marL="0" rtl="0" algn="l">
                        <a:spcBef>
                          <a:spcPts val="0"/>
                        </a:spcBef>
                        <a:spcAft>
                          <a:spcPts val="0"/>
                        </a:spcAft>
                        <a:buNone/>
                      </a:pPr>
                      <a:r>
                        <a:rPr lang="en-GB"/>
                        <a:t>-1, 1</a:t>
                      </a:r>
                      <a:endParaRPr/>
                    </a:p>
                  </a:txBody>
                  <a:tcPr marT="91425" marB="91425" marR="91425" marL="91425"/>
                </a:tc>
              </a:tr>
              <a:tr h="381000">
                <a:tc>
                  <a:txBody>
                    <a:bodyPr/>
                    <a:lstStyle/>
                    <a:p>
                      <a:pPr indent="0" lvl="0" marL="0" rtl="0" algn="l">
                        <a:spcBef>
                          <a:spcPts val="0"/>
                        </a:spcBef>
                        <a:spcAft>
                          <a:spcPts val="0"/>
                        </a:spcAft>
                        <a:buNone/>
                      </a:pPr>
                      <a:r>
                        <a:rPr lang="en-GB"/>
                        <a:t>Yaw</a:t>
                      </a:r>
                      <a:endParaRPr/>
                    </a:p>
                  </a:txBody>
                  <a:tcPr marT="91425" marB="91425" marR="91425" marL="91425"/>
                </a:tc>
                <a:tc>
                  <a:txBody>
                    <a:bodyPr/>
                    <a:lstStyle/>
                    <a:p>
                      <a:pPr indent="0" lvl="0" marL="0" rtl="0" algn="l">
                        <a:spcBef>
                          <a:spcPts val="0"/>
                        </a:spcBef>
                        <a:spcAft>
                          <a:spcPts val="0"/>
                        </a:spcAft>
                        <a:buNone/>
                      </a:pPr>
                      <a:r>
                        <a:rPr lang="en-GB"/>
                        <a:t>-1, 1</a:t>
                      </a:r>
                      <a:endParaRPr/>
                    </a:p>
                  </a:txBody>
                  <a:tcPr marT="91425" marB="91425" marR="91425" marL="91425"/>
                </a:tc>
              </a:tr>
              <a:tr h="381000">
                <a:tc>
                  <a:txBody>
                    <a:bodyPr/>
                    <a:lstStyle/>
                    <a:p>
                      <a:pPr indent="0" lvl="0" marL="0" rtl="0" algn="l">
                        <a:spcBef>
                          <a:spcPts val="0"/>
                        </a:spcBef>
                        <a:spcAft>
                          <a:spcPts val="0"/>
                        </a:spcAft>
                        <a:buNone/>
                      </a:pPr>
                      <a:r>
                        <a:rPr lang="en-GB"/>
                        <a:t>AUX</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GB"/>
                        <a:t>Gear</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336" name="Google Shape;336;p22"/>
          <p:cNvSpPr txBox="1"/>
          <p:nvPr/>
        </p:nvSpPr>
        <p:spPr>
          <a:xfrm>
            <a:off x="300650" y="3576125"/>
            <a:ext cx="2563200" cy="12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Note:</a:t>
            </a:r>
            <a:endParaRPr/>
          </a:p>
          <a:p>
            <a:pPr indent="0" lvl="0" marL="0" rtl="0" algn="l">
              <a:spcBef>
                <a:spcPts val="0"/>
              </a:spcBef>
              <a:spcAft>
                <a:spcPts val="0"/>
              </a:spcAft>
              <a:buNone/>
            </a:pPr>
            <a:r>
              <a:rPr lang="en-GB"/>
              <a:t>Flap Gyro = AUX1</a:t>
            </a:r>
            <a:endParaRPr/>
          </a:p>
          <a:p>
            <a:pPr indent="0" lvl="0" marL="0" rtl="0" algn="l">
              <a:spcBef>
                <a:spcPts val="0"/>
              </a:spcBef>
              <a:spcAft>
                <a:spcPts val="0"/>
              </a:spcAft>
              <a:buNone/>
            </a:pPr>
            <a:r>
              <a:rPr lang="en-GB"/>
              <a:t>F-Mode Gear = GEAR</a:t>
            </a:r>
            <a:endParaRPr/>
          </a:p>
          <a:p>
            <a:pPr indent="0" lvl="0" marL="0" rtl="0" algn="l">
              <a:spcBef>
                <a:spcPts val="0"/>
              </a:spcBef>
              <a:spcAft>
                <a:spcPts val="0"/>
              </a:spcAft>
              <a:buNone/>
            </a:pPr>
            <a:r>
              <a:rPr lang="en-GB"/>
              <a:t>TH Cut = TH_CUT</a:t>
            </a:r>
            <a:endParaRPr/>
          </a:p>
        </p:txBody>
      </p:sp>
      <p:sp>
        <p:nvSpPr>
          <p:cNvPr id="337" name="Google Shape;337;p22"/>
          <p:cNvSpPr/>
          <p:nvPr/>
        </p:nvSpPr>
        <p:spPr>
          <a:xfrm flipH="1" rot="10800000">
            <a:off x="5329030" y="1860645"/>
            <a:ext cx="81300" cy="226500"/>
          </a:xfrm>
          <a:prstGeom prst="roundRect">
            <a:avLst>
              <a:gd fmla="val 16667" name="adj"/>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2"/>
          <p:cNvSpPr txBox="1"/>
          <p:nvPr/>
        </p:nvSpPr>
        <p:spPr>
          <a:xfrm>
            <a:off x="4674450" y="1243700"/>
            <a:ext cx="8139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TH CUT</a:t>
            </a:r>
            <a:endParaRPr sz="1000"/>
          </a:p>
        </p:txBody>
      </p:sp>
      <p:sp>
        <p:nvSpPr>
          <p:cNvPr id="339" name="Google Shape;339;p22"/>
          <p:cNvSpPr txBox="1"/>
          <p:nvPr/>
        </p:nvSpPr>
        <p:spPr>
          <a:xfrm>
            <a:off x="5130225" y="2009713"/>
            <a:ext cx="8139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Flap</a:t>
            </a:r>
            <a:endParaRPr sz="1000"/>
          </a:p>
          <a:p>
            <a:pPr indent="0" lvl="0" marL="0" rtl="0" algn="l">
              <a:spcBef>
                <a:spcPts val="0"/>
              </a:spcBef>
              <a:spcAft>
                <a:spcPts val="0"/>
              </a:spcAft>
              <a:buNone/>
            </a:pPr>
            <a:r>
              <a:rPr lang="en-GB" sz="1000"/>
              <a:t>GYRO</a:t>
            </a:r>
            <a:endParaRPr sz="1000"/>
          </a:p>
        </p:txBody>
      </p:sp>
      <p:sp>
        <p:nvSpPr>
          <p:cNvPr id="340" name="Google Shape;340;p22"/>
          <p:cNvSpPr txBox="1"/>
          <p:nvPr/>
        </p:nvSpPr>
        <p:spPr>
          <a:xfrm>
            <a:off x="7743825" y="1052750"/>
            <a:ext cx="8139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F Mode Gear</a:t>
            </a:r>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cxnSp>
        <p:nvCxnSpPr>
          <p:cNvPr id="345" name="Google Shape;345;p23"/>
          <p:cNvCxnSpPr/>
          <p:nvPr/>
        </p:nvCxnSpPr>
        <p:spPr>
          <a:xfrm rot="10800000">
            <a:off x="916325" y="922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46" name="Google Shape;346;p23"/>
          <p:cNvCxnSpPr/>
          <p:nvPr/>
        </p:nvCxnSpPr>
        <p:spPr>
          <a:xfrm>
            <a:off x="916325" y="922900"/>
            <a:ext cx="762600" cy="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23"/>
          <p:cNvCxnSpPr/>
          <p:nvPr/>
        </p:nvCxnSpPr>
        <p:spPr>
          <a:xfrm>
            <a:off x="916325" y="545800"/>
            <a:ext cx="0" cy="300900"/>
          </a:xfrm>
          <a:prstGeom prst="straightConnector1">
            <a:avLst/>
          </a:prstGeom>
          <a:noFill/>
          <a:ln cap="flat" cmpd="sng" w="9525">
            <a:solidFill>
              <a:schemeClr val="dk2"/>
            </a:solidFill>
            <a:prstDash val="dot"/>
            <a:round/>
            <a:headEnd len="med" w="med" type="none"/>
            <a:tailEnd len="med" w="med" type="triangle"/>
          </a:ln>
        </p:spPr>
      </p:cxnSp>
      <p:cxnSp>
        <p:nvCxnSpPr>
          <p:cNvPr id="348" name="Google Shape;348;p23"/>
          <p:cNvCxnSpPr/>
          <p:nvPr/>
        </p:nvCxnSpPr>
        <p:spPr>
          <a:xfrm>
            <a:off x="2434225" y="587250"/>
            <a:ext cx="0" cy="300900"/>
          </a:xfrm>
          <a:prstGeom prst="straightConnector1">
            <a:avLst/>
          </a:prstGeom>
          <a:noFill/>
          <a:ln cap="flat" cmpd="sng" w="9525">
            <a:solidFill>
              <a:schemeClr val="dk2"/>
            </a:solidFill>
            <a:prstDash val="dot"/>
            <a:round/>
            <a:headEnd len="med" w="med" type="none"/>
            <a:tailEnd len="med" w="med" type="triangle"/>
          </a:ln>
        </p:spPr>
      </p:cxnSp>
      <p:sp>
        <p:nvSpPr>
          <p:cNvPr id="349" name="Google Shape;349;p23"/>
          <p:cNvSpPr txBox="1"/>
          <p:nvPr/>
        </p:nvSpPr>
        <p:spPr>
          <a:xfrm>
            <a:off x="966025" y="197900"/>
            <a:ext cx="1411200" cy="35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t>20ms (50Hz)</a:t>
            </a:r>
            <a:endParaRPr sz="1200"/>
          </a:p>
        </p:txBody>
      </p:sp>
      <p:cxnSp>
        <p:nvCxnSpPr>
          <p:cNvPr id="350" name="Google Shape;350;p23"/>
          <p:cNvCxnSpPr/>
          <p:nvPr/>
        </p:nvCxnSpPr>
        <p:spPr>
          <a:xfrm>
            <a:off x="916325" y="552500"/>
            <a:ext cx="1524900" cy="0"/>
          </a:xfrm>
          <a:prstGeom prst="straightConnector1">
            <a:avLst/>
          </a:prstGeom>
          <a:noFill/>
          <a:ln cap="flat" cmpd="sng" w="9525">
            <a:solidFill>
              <a:schemeClr val="dk2"/>
            </a:solidFill>
            <a:prstDash val="dot"/>
            <a:round/>
            <a:headEnd len="med" w="med" type="none"/>
            <a:tailEnd len="med" w="med" type="none"/>
          </a:ln>
        </p:spPr>
      </p:cxnSp>
      <p:sp>
        <p:nvSpPr>
          <p:cNvPr id="351" name="Google Shape;351;p23"/>
          <p:cNvSpPr txBox="1"/>
          <p:nvPr/>
        </p:nvSpPr>
        <p:spPr>
          <a:xfrm>
            <a:off x="4106775" y="234100"/>
            <a:ext cx="3564900" cy="4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PWM Signal RX from Transmitter</a:t>
            </a:r>
            <a:endParaRPr sz="1000"/>
          </a:p>
          <a:p>
            <a:pPr indent="0" lvl="0" marL="0" rtl="0" algn="l">
              <a:spcBef>
                <a:spcPts val="0"/>
              </a:spcBef>
              <a:spcAft>
                <a:spcPts val="0"/>
              </a:spcAft>
              <a:buNone/>
            </a:pPr>
            <a:r>
              <a:rPr lang="en-GB" sz="1000"/>
              <a:t>Duty Cycle = 50%</a:t>
            </a:r>
            <a:endParaRPr sz="1000"/>
          </a:p>
        </p:txBody>
      </p:sp>
      <p:cxnSp>
        <p:nvCxnSpPr>
          <p:cNvPr id="352" name="Google Shape;352;p23"/>
          <p:cNvCxnSpPr/>
          <p:nvPr/>
        </p:nvCxnSpPr>
        <p:spPr>
          <a:xfrm rot="10800000">
            <a:off x="1671625" y="922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23"/>
          <p:cNvCxnSpPr/>
          <p:nvPr/>
        </p:nvCxnSpPr>
        <p:spPr>
          <a:xfrm>
            <a:off x="1671625" y="1163800"/>
            <a:ext cx="762600" cy="0"/>
          </a:xfrm>
          <a:prstGeom prst="straightConnector1">
            <a:avLst/>
          </a:prstGeom>
          <a:noFill/>
          <a:ln cap="flat" cmpd="sng" w="9525">
            <a:solidFill>
              <a:schemeClr val="dk2"/>
            </a:solidFill>
            <a:prstDash val="solid"/>
            <a:round/>
            <a:headEnd len="med" w="med" type="none"/>
            <a:tailEnd len="med" w="med" type="none"/>
          </a:ln>
        </p:spPr>
      </p:cxnSp>
      <p:cxnSp>
        <p:nvCxnSpPr>
          <p:cNvPr id="354" name="Google Shape;354;p23"/>
          <p:cNvCxnSpPr/>
          <p:nvPr/>
        </p:nvCxnSpPr>
        <p:spPr>
          <a:xfrm rot="10800000">
            <a:off x="2434225" y="922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55" name="Google Shape;355;p23"/>
          <p:cNvCxnSpPr/>
          <p:nvPr/>
        </p:nvCxnSpPr>
        <p:spPr>
          <a:xfrm>
            <a:off x="2434225" y="922900"/>
            <a:ext cx="762600" cy="0"/>
          </a:xfrm>
          <a:prstGeom prst="straightConnector1">
            <a:avLst/>
          </a:prstGeom>
          <a:noFill/>
          <a:ln cap="flat" cmpd="sng" w="9525">
            <a:solidFill>
              <a:schemeClr val="dk2"/>
            </a:solidFill>
            <a:prstDash val="solid"/>
            <a:round/>
            <a:headEnd len="med" w="med" type="none"/>
            <a:tailEnd len="med" w="med" type="none"/>
          </a:ln>
        </p:spPr>
      </p:cxnSp>
      <p:cxnSp>
        <p:nvCxnSpPr>
          <p:cNvPr id="356" name="Google Shape;356;p23"/>
          <p:cNvCxnSpPr/>
          <p:nvPr/>
        </p:nvCxnSpPr>
        <p:spPr>
          <a:xfrm rot="10800000">
            <a:off x="3189525" y="922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57" name="Google Shape;357;p23"/>
          <p:cNvCxnSpPr/>
          <p:nvPr/>
        </p:nvCxnSpPr>
        <p:spPr>
          <a:xfrm>
            <a:off x="3189525" y="1163800"/>
            <a:ext cx="762600" cy="0"/>
          </a:xfrm>
          <a:prstGeom prst="straightConnector1">
            <a:avLst/>
          </a:prstGeom>
          <a:noFill/>
          <a:ln cap="flat" cmpd="sng" w="9525">
            <a:solidFill>
              <a:schemeClr val="dk2"/>
            </a:solidFill>
            <a:prstDash val="solid"/>
            <a:round/>
            <a:headEnd len="med" w="med" type="none"/>
            <a:tailEnd len="med" w="med" type="none"/>
          </a:ln>
        </p:spPr>
      </p:cxnSp>
      <p:cxnSp>
        <p:nvCxnSpPr>
          <p:cNvPr id="358" name="Google Shape;358;p23"/>
          <p:cNvCxnSpPr/>
          <p:nvPr/>
        </p:nvCxnSpPr>
        <p:spPr>
          <a:xfrm rot="10800000">
            <a:off x="3952125" y="922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59" name="Google Shape;359;p23"/>
          <p:cNvCxnSpPr/>
          <p:nvPr/>
        </p:nvCxnSpPr>
        <p:spPr>
          <a:xfrm>
            <a:off x="3952125" y="922900"/>
            <a:ext cx="762600" cy="0"/>
          </a:xfrm>
          <a:prstGeom prst="straightConnector1">
            <a:avLst/>
          </a:prstGeom>
          <a:noFill/>
          <a:ln cap="flat" cmpd="sng" w="9525">
            <a:solidFill>
              <a:schemeClr val="dk2"/>
            </a:solidFill>
            <a:prstDash val="solid"/>
            <a:round/>
            <a:headEnd len="med" w="med" type="none"/>
            <a:tailEnd len="med" w="med" type="none"/>
          </a:ln>
        </p:spPr>
      </p:cxnSp>
      <p:cxnSp>
        <p:nvCxnSpPr>
          <p:cNvPr id="360" name="Google Shape;360;p23"/>
          <p:cNvCxnSpPr/>
          <p:nvPr/>
        </p:nvCxnSpPr>
        <p:spPr>
          <a:xfrm rot="10800000">
            <a:off x="4707425" y="922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61" name="Google Shape;361;p23"/>
          <p:cNvCxnSpPr/>
          <p:nvPr/>
        </p:nvCxnSpPr>
        <p:spPr>
          <a:xfrm>
            <a:off x="4707425" y="1163800"/>
            <a:ext cx="762600" cy="0"/>
          </a:xfrm>
          <a:prstGeom prst="straightConnector1">
            <a:avLst/>
          </a:prstGeom>
          <a:noFill/>
          <a:ln cap="flat" cmpd="sng" w="9525">
            <a:solidFill>
              <a:schemeClr val="dk2"/>
            </a:solidFill>
            <a:prstDash val="solid"/>
            <a:round/>
            <a:headEnd len="med" w="med" type="none"/>
            <a:tailEnd len="med" w="med" type="none"/>
          </a:ln>
        </p:spPr>
      </p:cxnSp>
      <p:cxnSp>
        <p:nvCxnSpPr>
          <p:cNvPr id="362" name="Google Shape;362;p23"/>
          <p:cNvCxnSpPr/>
          <p:nvPr/>
        </p:nvCxnSpPr>
        <p:spPr>
          <a:xfrm rot="10800000">
            <a:off x="5462725" y="922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63" name="Google Shape;363;p23"/>
          <p:cNvCxnSpPr/>
          <p:nvPr/>
        </p:nvCxnSpPr>
        <p:spPr>
          <a:xfrm>
            <a:off x="5462725" y="922900"/>
            <a:ext cx="762600" cy="0"/>
          </a:xfrm>
          <a:prstGeom prst="straightConnector1">
            <a:avLst/>
          </a:prstGeom>
          <a:noFill/>
          <a:ln cap="flat" cmpd="sng" w="9525">
            <a:solidFill>
              <a:schemeClr val="dk2"/>
            </a:solidFill>
            <a:prstDash val="solid"/>
            <a:round/>
            <a:headEnd len="med" w="med" type="none"/>
            <a:tailEnd len="med" w="med" type="none"/>
          </a:ln>
        </p:spPr>
      </p:cxnSp>
      <p:cxnSp>
        <p:nvCxnSpPr>
          <p:cNvPr id="364" name="Google Shape;364;p23"/>
          <p:cNvCxnSpPr/>
          <p:nvPr/>
        </p:nvCxnSpPr>
        <p:spPr>
          <a:xfrm rot="10800000">
            <a:off x="6218025" y="922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65" name="Google Shape;365;p23"/>
          <p:cNvCxnSpPr/>
          <p:nvPr/>
        </p:nvCxnSpPr>
        <p:spPr>
          <a:xfrm>
            <a:off x="6218025" y="1163800"/>
            <a:ext cx="762600" cy="0"/>
          </a:xfrm>
          <a:prstGeom prst="straightConnector1">
            <a:avLst/>
          </a:prstGeom>
          <a:noFill/>
          <a:ln cap="flat" cmpd="sng" w="9525">
            <a:solidFill>
              <a:schemeClr val="dk2"/>
            </a:solidFill>
            <a:prstDash val="solid"/>
            <a:round/>
            <a:headEnd len="med" w="med" type="none"/>
            <a:tailEnd len="med" w="med" type="none"/>
          </a:ln>
        </p:spPr>
      </p:cxnSp>
      <p:cxnSp>
        <p:nvCxnSpPr>
          <p:cNvPr id="366" name="Google Shape;366;p23"/>
          <p:cNvCxnSpPr/>
          <p:nvPr/>
        </p:nvCxnSpPr>
        <p:spPr>
          <a:xfrm rot="10800000">
            <a:off x="916325" y="1980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67" name="Google Shape;367;p23"/>
          <p:cNvCxnSpPr/>
          <p:nvPr/>
        </p:nvCxnSpPr>
        <p:spPr>
          <a:xfrm>
            <a:off x="916325" y="1980900"/>
            <a:ext cx="70200" cy="0"/>
          </a:xfrm>
          <a:prstGeom prst="straightConnector1">
            <a:avLst/>
          </a:prstGeom>
          <a:noFill/>
          <a:ln cap="flat" cmpd="sng" w="9525">
            <a:solidFill>
              <a:schemeClr val="dk2"/>
            </a:solidFill>
            <a:prstDash val="solid"/>
            <a:round/>
            <a:headEnd len="med" w="med" type="none"/>
            <a:tailEnd len="med" w="med" type="none"/>
          </a:ln>
        </p:spPr>
      </p:cxnSp>
      <p:cxnSp>
        <p:nvCxnSpPr>
          <p:cNvPr id="368" name="Google Shape;368;p23"/>
          <p:cNvCxnSpPr/>
          <p:nvPr/>
        </p:nvCxnSpPr>
        <p:spPr>
          <a:xfrm rot="10800000">
            <a:off x="985825" y="1980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69" name="Google Shape;369;p23"/>
          <p:cNvCxnSpPr/>
          <p:nvPr/>
        </p:nvCxnSpPr>
        <p:spPr>
          <a:xfrm>
            <a:off x="986550" y="2221800"/>
            <a:ext cx="1447800" cy="0"/>
          </a:xfrm>
          <a:prstGeom prst="straightConnector1">
            <a:avLst/>
          </a:prstGeom>
          <a:noFill/>
          <a:ln cap="flat" cmpd="sng" w="9525">
            <a:solidFill>
              <a:schemeClr val="dk2"/>
            </a:solidFill>
            <a:prstDash val="solid"/>
            <a:round/>
            <a:headEnd len="med" w="med" type="none"/>
            <a:tailEnd len="med" w="med" type="none"/>
          </a:ln>
        </p:spPr>
      </p:cxnSp>
      <p:cxnSp>
        <p:nvCxnSpPr>
          <p:cNvPr id="370" name="Google Shape;370;p23"/>
          <p:cNvCxnSpPr/>
          <p:nvPr/>
        </p:nvCxnSpPr>
        <p:spPr>
          <a:xfrm rot="10800000">
            <a:off x="2430513" y="1980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71" name="Google Shape;371;p23"/>
          <p:cNvCxnSpPr/>
          <p:nvPr/>
        </p:nvCxnSpPr>
        <p:spPr>
          <a:xfrm>
            <a:off x="2430513" y="1980900"/>
            <a:ext cx="70200" cy="0"/>
          </a:xfrm>
          <a:prstGeom prst="straightConnector1">
            <a:avLst/>
          </a:prstGeom>
          <a:noFill/>
          <a:ln cap="flat" cmpd="sng" w="9525">
            <a:solidFill>
              <a:schemeClr val="dk2"/>
            </a:solidFill>
            <a:prstDash val="solid"/>
            <a:round/>
            <a:headEnd len="med" w="med" type="none"/>
            <a:tailEnd len="med" w="med" type="none"/>
          </a:ln>
        </p:spPr>
      </p:cxnSp>
      <p:cxnSp>
        <p:nvCxnSpPr>
          <p:cNvPr id="372" name="Google Shape;372;p23"/>
          <p:cNvCxnSpPr/>
          <p:nvPr/>
        </p:nvCxnSpPr>
        <p:spPr>
          <a:xfrm rot="10800000">
            <a:off x="2500013" y="1980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73" name="Google Shape;373;p23"/>
          <p:cNvCxnSpPr/>
          <p:nvPr/>
        </p:nvCxnSpPr>
        <p:spPr>
          <a:xfrm>
            <a:off x="2500738" y="2221800"/>
            <a:ext cx="1447800" cy="0"/>
          </a:xfrm>
          <a:prstGeom prst="straightConnector1">
            <a:avLst/>
          </a:prstGeom>
          <a:noFill/>
          <a:ln cap="flat" cmpd="sng" w="9525">
            <a:solidFill>
              <a:schemeClr val="dk2"/>
            </a:solidFill>
            <a:prstDash val="solid"/>
            <a:round/>
            <a:headEnd len="med" w="med" type="none"/>
            <a:tailEnd len="med" w="med" type="none"/>
          </a:ln>
        </p:spPr>
      </p:cxnSp>
      <p:cxnSp>
        <p:nvCxnSpPr>
          <p:cNvPr id="374" name="Google Shape;374;p23"/>
          <p:cNvCxnSpPr/>
          <p:nvPr/>
        </p:nvCxnSpPr>
        <p:spPr>
          <a:xfrm rot="10800000">
            <a:off x="3948400" y="1980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75" name="Google Shape;375;p23"/>
          <p:cNvCxnSpPr/>
          <p:nvPr/>
        </p:nvCxnSpPr>
        <p:spPr>
          <a:xfrm>
            <a:off x="3948400" y="1980900"/>
            <a:ext cx="70200" cy="0"/>
          </a:xfrm>
          <a:prstGeom prst="straightConnector1">
            <a:avLst/>
          </a:prstGeom>
          <a:noFill/>
          <a:ln cap="flat" cmpd="sng" w="9525">
            <a:solidFill>
              <a:schemeClr val="dk2"/>
            </a:solidFill>
            <a:prstDash val="solid"/>
            <a:round/>
            <a:headEnd len="med" w="med" type="none"/>
            <a:tailEnd len="med" w="med" type="none"/>
          </a:ln>
        </p:spPr>
      </p:cxnSp>
      <p:cxnSp>
        <p:nvCxnSpPr>
          <p:cNvPr id="376" name="Google Shape;376;p23"/>
          <p:cNvCxnSpPr/>
          <p:nvPr/>
        </p:nvCxnSpPr>
        <p:spPr>
          <a:xfrm rot="10800000">
            <a:off x="4017900" y="1980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77" name="Google Shape;377;p23"/>
          <p:cNvCxnSpPr/>
          <p:nvPr/>
        </p:nvCxnSpPr>
        <p:spPr>
          <a:xfrm>
            <a:off x="4018625" y="2221800"/>
            <a:ext cx="1447800" cy="0"/>
          </a:xfrm>
          <a:prstGeom prst="straightConnector1">
            <a:avLst/>
          </a:prstGeom>
          <a:noFill/>
          <a:ln cap="flat" cmpd="sng" w="9525">
            <a:solidFill>
              <a:schemeClr val="dk2"/>
            </a:solidFill>
            <a:prstDash val="solid"/>
            <a:round/>
            <a:headEnd len="med" w="med" type="none"/>
            <a:tailEnd len="med" w="med" type="none"/>
          </a:ln>
        </p:spPr>
      </p:cxnSp>
      <p:cxnSp>
        <p:nvCxnSpPr>
          <p:cNvPr id="378" name="Google Shape;378;p23"/>
          <p:cNvCxnSpPr/>
          <p:nvPr/>
        </p:nvCxnSpPr>
        <p:spPr>
          <a:xfrm rot="10800000">
            <a:off x="5463475" y="1980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79" name="Google Shape;379;p23"/>
          <p:cNvCxnSpPr/>
          <p:nvPr/>
        </p:nvCxnSpPr>
        <p:spPr>
          <a:xfrm>
            <a:off x="5463475" y="1980900"/>
            <a:ext cx="70200" cy="0"/>
          </a:xfrm>
          <a:prstGeom prst="straightConnector1">
            <a:avLst/>
          </a:prstGeom>
          <a:noFill/>
          <a:ln cap="flat" cmpd="sng" w="9525">
            <a:solidFill>
              <a:schemeClr val="dk2"/>
            </a:solidFill>
            <a:prstDash val="solid"/>
            <a:round/>
            <a:headEnd len="med" w="med" type="none"/>
            <a:tailEnd len="med" w="med" type="none"/>
          </a:ln>
        </p:spPr>
      </p:cxnSp>
      <p:cxnSp>
        <p:nvCxnSpPr>
          <p:cNvPr id="380" name="Google Shape;380;p23"/>
          <p:cNvCxnSpPr/>
          <p:nvPr/>
        </p:nvCxnSpPr>
        <p:spPr>
          <a:xfrm rot="10800000">
            <a:off x="5532975" y="198090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81" name="Google Shape;381;p23"/>
          <p:cNvCxnSpPr/>
          <p:nvPr/>
        </p:nvCxnSpPr>
        <p:spPr>
          <a:xfrm>
            <a:off x="5533700" y="2221800"/>
            <a:ext cx="1447800" cy="0"/>
          </a:xfrm>
          <a:prstGeom prst="straightConnector1">
            <a:avLst/>
          </a:prstGeom>
          <a:noFill/>
          <a:ln cap="flat" cmpd="sng" w="9525">
            <a:solidFill>
              <a:schemeClr val="dk2"/>
            </a:solidFill>
            <a:prstDash val="solid"/>
            <a:round/>
            <a:headEnd len="med" w="med" type="none"/>
            <a:tailEnd len="med" w="med" type="none"/>
          </a:ln>
        </p:spPr>
      </p:cxnSp>
      <p:cxnSp>
        <p:nvCxnSpPr>
          <p:cNvPr id="382" name="Google Shape;382;p23"/>
          <p:cNvCxnSpPr/>
          <p:nvPr/>
        </p:nvCxnSpPr>
        <p:spPr>
          <a:xfrm>
            <a:off x="916325" y="1680000"/>
            <a:ext cx="0" cy="300900"/>
          </a:xfrm>
          <a:prstGeom prst="straightConnector1">
            <a:avLst/>
          </a:prstGeom>
          <a:noFill/>
          <a:ln cap="flat" cmpd="sng" w="9525">
            <a:solidFill>
              <a:schemeClr val="dk2"/>
            </a:solidFill>
            <a:prstDash val="dot"/>
            <a:round/>
            <a:headEnd len="med" w="med" type="none"/>
            <a:tailEnd len="med" w="med" type="triangle"/>
          </a:ln>
        </p:spPr>
      </p:cxnSp>
      <p:cxnSp>
        <p:nvCxnSpPr>
          <p:cNvPr id="383" name="Google Shape;383;p23"/>
          <p:cNvCxnSpPr/>
          <p:nvPr/>
        </p:nvCxnSpPr>
        <p:spPr>
          <a:xfrm>
            <a:off x="985825" y="1680000"/>
            <a:ext cx="0" cy="300900"/>
          </a:xfrm>
          <a:prstGeom prst="straightConnector1">
            <a:avLst/>
          </a:prstGeom>
          <a:noFill/>
          <a:ln cap="flat" cmpd="sng" w="9525">
            <a:solidFill>
              <a:schemeClr val="dk2"/>
            </a:solidFill>
            <a:prstDash val="dot"/>
            <a:round/>
            <a:headEnd len="med" w="med" type="none"/>
            <a:tailEnd len="med" w="med" type="triangle"/>
          </a:ln>
        </p:spPr>
      </p:cxnSp>
      <p:cxnSp>
        <p:nvCxnSpPr>
          <p:cNvPr id="384" name="Google Shape;384;p23"/>
          <p:cNvCxnSpPr/>
          <p:nvPr/>
        </p:nvCxnSpPr>
        <p:spPr>
          <a:xfrm>
            <a:off x="909175" y="1684050"/>
            <a:ext cx="87300" cy="2700"/>
          </a:xfrm>
          <a:prstGeom prst="straightConnector1">
            <a:avLst/>
          </a:prstGeom>
          <a:noFill/>
          <a:ln cap="flat" cmpd="sng" w="9525">
            <a:solidFill>
              <a:schemeClr val="dk2"/>
            </a:solidFill>
            <a:prstDash val="dot"/>
            <a:round/>
            <a:headEnd len="med" w="med" type="none"/>
            <a:tailEnd len="med" w="med" type="none"/>
          </a:ln>
        </p:spPr>
      </p:cxnSp>
      <p:sp>
        <p:nvSpPr>
          <p:cNvPr id="385" name="Google Shape;385;p23"/>
          <p:cNvSpPr txBox="1"/>
          <p:nvPr/>
        </p:nvSpPr>
        <p:spPr>
          <a:xfrm>
            <a:off x="364621" y="1397671"/>
            <a:ext cx="1411200" cy="35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t>1</a:t>
            </a:r>
            <a:r>
              <a:rPr lang="en-GB" sz="1200"/>
              <a:t>ms (1KHz)</a:t>
            </a:r>
            <a:endParaRPr sz="1200"/>
          </a:p>
        </p:txBody>
      </p:sp>
      <p:cxnSp>
        <p:nvCxnSpPr>
          <p:cNvPr id="386" name="Google Shape;386;p23"/>
          <p:cNvCxnSpPr/>
          <p:nvPr/>
        </p:nvCxnSpPr>
        <p:spPr>
          <a:xfrm rot="10800000">
            <a:off x="919763" y="324885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87" name="Google Shape;387;p23"/>
          <p:cNvCxnSpPr/>
          <p:nvPr/>
        </p:nvCxnSpPr>
        <p:spPr>
          <a:xfrm>
            <a:off x="919763" y="3248850"/>
            <a:ext cx="150300" cy="0"/>
          </a:xfrm>
          <a:prstGeom prst="straightConnector1">
            <a:avLst/>
          </a:prstGeom>
          <a:noFill/>
          <a:ln cap="flat" cmpd="sng" w="9525">
            <a:solidFill>
              <a:schemeClr val="dk2"/>
            </a:solidFill>
            <a:prstDash val="solid"/>
            <a:round/>
            <a:headEnd len="med" w="med" type="none"/>
            <a:tailEnd len="med" w="med" type="none"/>
          </a:ln>
        </p:spPr>
      </p:cxnSp>
      <p:cxnSp>
        <p:nvCxnSpPr>
          <p:cNvPr id="388" name="Google Shape;388;p23"/>
          <p:cNvCxnSpPr/>
          <p:nvPr/>
        </p:nvCxnSpPr>
        <p:spPr>
          <a:xfrm rot="10800000">
            <a:off x="1065463" y="324885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89" name="Google Shape;389;p23"/>
          <p:cNvCxnSpPr/>
          <p:nvPr/>
        </p:nvCxnSpPr>
        <p:spPr>
          <a:xfrm>
            <a:off x="1070175" y="3489750"/>
            <a:ext cx="1367700" cy="0"/>
          </a:xfrm>
          <a:prstGeom prst="straightConnector1">
            <a:avLst/>
          </a:prstGeom>
          <a:noFill/>
          <a:ln cap="flat" cmpd="sng" w="9525">
            <a:solidFill>
              <a:schemeClr val="dk2"/>
            </a:solidFill>
            <a:prstDash val="solid"/>
            <a:round/>
            <a:headEnd len="med" w="med" type="none"/>
            <a:tailEnd len="med" w="med" type="none"/>
          </a:ln>
        </p:spPr>
      </p:cxnSp>
      <p:cxnSp>
        <p:nvCxnSpPr>
          <p:cNvPr id="390" name="Google Shape;390;p23"/>
          <p:cNvCxnSpPr/>
          <p:nvPr/>
        </p:nvCxnSpPr>
        <p:spPr>
          <a:xfrm>
            <a:off x="916325" y="2947950"/>
            <a:ext cx="0" cy="300900"/>
          </a:xfrm>
          <a:prstGeom prst="straightConnector1">
            <a:avLst/>
          </a:prstGeom>
          <a:noFill/>
          <a:ln cap="flat" cmpd="sng" w="9525">
            <a:solidFill>
              <a:schemeClr val="dk2"/>
            </a:solidFill>
            <a:prstDash val="dot"/>
            <a:round/>
            <a:headEnd len="med" w="med" type="none"/>
            <a:tailEnd len="med" w="med" type="triangle"/>
          </a:ln>
        </p:spPr>
      </p:cxnSp>
      <p:cxnSp>
        <p:nvCxnSpPr>
          <p:cNvPr id="391" name="Google Shape;391;p23"/>
          <p:cNvCxnSpPr/>
          <p:nvPr/>
        </p:nvCxnSpPr>
        <p:spPr>
          <a:xfrm>
            <a:off x="1065475" y="2947950"/>
            <a:ext cx="0" cy="300900"/>
          </a:xfrm>
          <a:prstGeom prst="straightConnector1">
            <a:avLst/>
          </a:prstGeom>
          <a:noFill/>
          <a:ln cap="flat" cmpd="sng" w="9525">
            <a:solidFill>
              <a:schemeClr val="dk2"/>
            </a:solidFill>
            <a:prstDash val="dot"/>
            <a:round/>
            <a:headEnd len="med" w="med" type="none"/>
            <a:tailEnd len="med" w="med" type="triangle"/>
          </a:ln>
        </p:spPr>
      </p:cxnSp>
      <p:cxnSp>
        <p:nvCxnSpPr>
          <p:cNvPr id="392" name="Google Shape;392;p23"/>
          <p:cNvCxnSpPr/>
          <p:nvPr/>
        </p:nvCxnSpPr>
        <p:spPr>
          <a:xfrm>
            <a:off x="909175" y="2944125"/>
            <a:ext cx="161100" cy="0"/>
          </a:xfrm>
          <a:prstGeom prst="straightConnector1">
            <a:avLst/>
          </a:prstGeom>
          <a:noFill/>
          <a:ln cap="flat" cmpd="sng" w="9525">
            <a:solidFill>
              <a:schemeClr val="dk2"/>
            </a:solidFill>
            <a:prstDash val="dot"/>
            <a:round/>
            <a:headEnd len="med" w="med" type="none"/>
            <a:tailEnd len="med" w="med" type="none"/>
          </a:ln>
        </p:spPr>
      </p:cxnSp>
      <p:sp>
        <p:nvSpPr>
          <p:cNvPr id="393" name="Google Shape;393;p23"/>
          <p:cNvSpPr txBox="1"/>
          <p:nvPr/>
        </p:nvSpPr>
        <p:spPr>
          <a:xfrm>
            <a:off x="545196" y="2649508"/>
            <a:ext cx="1411200" cy="35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t>2</a:t>
            </a:r>
            <a:r>
              <a:rPr lang="en-GB" sz="1200"/>
              <a:t>ms (500Hz)</a:t>
            </a:r>
            <a:endParaRPr sz="1200"/>
          </a:p>
        </p:txBody>
      </p:sp>
      <p:cxnSp>
        <p:nvCxnSpPr>
          <p:cNvPr id="394" name="Google Shape;394;p23"/>
          <p:cNvCxnSpPr/>
          <p:nvPr/>
        </p:nvCxnSpPr>
        <p:spPr>
          <a:xfrm rot="10800000">
            <a:off x="2430463" y="324885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95" name="Google Shape;395;p23"/>
          <p:cNvCxnSpPr/>
          <p:nvPr/>
        </p:nvCxnSpPr>
        <p:spPr>
          <a:xfrm>
            <a:off x="2430463" y="3248850"/>
            <a:ext cx="150300" cy="0"/>
          </a:xfrm>
          <a:prstGeom prst="straightConnector1">
            <a:avLst/>
          </a:prstGeom>
          <a:noFill/>
          <a:ln cap="flat" cmpd="sng" w="9525">
            <a:solidFill>
              <a:schemeClr val="dk2"/>
            </a:solidFill>
            <a:prstDash val="solid"/>
            <a:round/>
            <a:headEnd len="med" w="med" type="none"/>
            <a:tailEnd len="med" w="med" type="none"/>
          </a:ln>
        </p:spPr>
      </p:cxnSp>
      <p:cxnSp>
        <p:nvCxnSpPr>
          <p:cNvPr id="396" name="Google Shape;396;p23"/>
          <p:cNvCxnSpPr/>
          <p:nvPr/>
        </p:nvCxnSpPr>
        <p:spPr>
          <a:xfrm rot="10800000">
            <a:off x="2576163" y="324885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97" name="Google Shape;397;p23"/>
          <p:cNvCxnSpPr/>
          <p:nvPr/>
        </p:nvCxnSpPr>
        <p:spPr>
          <a:xfrm>
            <a:off x="2580875" y="3489750"/>
            <a:ext cx="1367700" cy="0"/>
          </a:xfrm>
          <a:prstGeom prst="straightConnector1">
            <a:avLst/>
          </a:prstGeom>
          <a:noFill/>
          <a:ln cap="flat" cmpd="sng" w="9525">
            <a:solidFill>
              <a:schemeClr val="dk2"/>
            </a:solidFill>
            <a:prstDash val="solid"/>
            <a:round/>
            <a:headEnd len="med" w="med" type="none"/>
            <a:tailEnd len="med" w="med" type="none"/>
          </a:ln>
        </p:spPr>
      </p:cxnSp>
      <p:cxnSp>
        <p:nvCxnSpPr>
          <p:cNvPr id="398" name="Google Shape;398;p23"/>
          <p:cNvCxnSpPr/>
          <p:nvPr/>
        </p:nvCxnSpPr>
        <p:spPr>
          <a:xfrm rot="10800000">
            <a:off x="3948363" y="324885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399" name="Google Shape;399;p23"/>
          <p:cNvCxnSpPr/>
          <p:nvPr/>
        </p:nvCxnSpPr>
        <p:spPr>
          <a:xfrm>
            <a:off x="3948363" y="3248850"/>
            <a:ext cx="150300" cy="0"/>
          </a:xfrm>
          <a:prstGeom prst="straightConnector1">
            <a:avLst/>
          </a:prstGeom>
          <a:noFill/>
          <a:ln cap="flat" cmpd="sng" w="9525">
            <a:solidFill>
              <a:schemeClr val="dk2"/>
            </a:solidFill>
            <a:prstDash val="solid"/>
            <a:round/>
            <a:headEnd len="med" w="med" type="none"/>
            <a:tailEnd len="med" w="med" type="none"/>
          </a:ln>
        </p:spPr>
      </p:cxnSp>
      <p:cxnSp>
        <p:nvCxnSpPr>
          <p:cNvPr id="400" name="Google Shape;400;p23"/>
          <p:cNvCxnSpPr/>
          <p:nvPr/>
        </p:nvCxnSpPr>
        <p:spPr>
          <a:xfrm rot="10800000">
            <a:off x="4094063" y="324885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401" name="Google Shape;401;p23"/>
          <p:cNvCxnSpPr/>
          <p:nvPr/>
        </p:nvCxnSpPr>
        <p:spPr>
          <a:xfrm>
            <a:off x="4098775" y="3489750"/>
            <a:ext cx="1367700" cy="0"/>
          </a:xfrm>
          <a:prstGeom prst="straightConnector1">
            <a:avLst/>
          </a:prstGeom>
          <a:noFill/>
          <a:ln cap="flat" cmpd="sng" w="9525">
            <a:solidFill>
              <a:schemeClr val="dk2"/>
            </a:solidFill>
            <a:prstDash val="solid"/>
            <a:round/>
            <a:headEnd len="med" w="med" type="none"/>
            <a:tailEnd len="med" w="med" type="none"/>
          </a:ln>
        </p:spPr>
      </p:cxnSp>
      <p:cxnSp>
        <p:nvCxnSpPr>
          <p:cNvPr id="402" name="Google Shape;402;p23"/>
          <p:cNvCxnSpPr/>
          <p:nvPr/>
        </p:nvCxnSpPr>
        <p:spPr>
          <a:xfrm rot="10800000">
            <a:off x="5463963" y="324885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403" name="Google Shape;403;p23"/>
          <p:cNvCxnSpPr/>
          <p:nvPr/>
        </p:nvCxnSpPr>
        <p:spPr>
          <a:xfrm>
            <a:off x="5463963" y="3248850"/>
            <a:ext cx="150300" cy="0"/>
          </a:xfrm>
          <a:prstGeom prst="straightConnector1">
            <a:avLst/>
          </a:prstGeom>
          <a:noFill/>
          <a:ln cap="flat" cmpd="sng" w="9525">
            <a:solidFill>
              <a:schemeClr val="dk2"/>
            </a:solidFill>
            <a:prstDash val="solid"/>
            <a:round/>
            <a:headEnd len="med" w="med" type="none"/>
            <a:tailEnd len="med" w="med" type="none"/>
          </a:ln>
        </p:spPr>
      </p:cxnSp>
      <p:cxnSp>
        <p:nvCxnSpPr>
          <p:cNvPr id="404" name="Google Shape;404;p23"/>
          <p:cNvCxnSpPr/>
          <p:nvPr/>
        </p:nvCxnSpPr>
        <p:spPr>
          <a:xfrm rot="10800000">
            <a:off x="5609663" y="3248850"/>
            <a:ext cx="0" cy="240900"/>
          </a:xfrm>
          <a:prstGeom prst="straightConnector1">
            <a:avLst/>
          </a:prstGeom>
          <a:noFill/>
          <a:ln cap="flat" cmpd="sng" w="9525">
            <a:solidFill>
              <a:schemeClr val="dk2"/>
            </a:solidFill>
            <a:prstDash val="solid"/>
            <a:round/>
            <a:headEnd len="med" w="med" type="none"/>
            <a:tailEnd len="med" w="med" type="none"/>
          </a:ln>
        </p:spPr>
      </p:cxnSp>
      <p:cxnSp>
        <p:nvCxnSpPr>
          <p:cNvPr id="405" name="Google Shape;405;p23"/>
          <p:cNvCxnSpPr/>
          <p:nvPr/>
        </p:nvCxnSpPr>
        <p:spPr>
          <a:xfrm>
            <a:off x="5614375" y="3489750"/>
            <a:ext cx="1367700" cy="0"/>
          </a:xfrm>
          <a:prstGeom prst="straightConnector1">
            <a:avLst/>
          </a:prstGeom>
          <a:noFill/>
          <a:ln cap="flat" cmpd="sng" w="9525">
            <a:solidFill>
              <a:schemeClr val="dk2"/>
            </a:solidFill>
            <a:prstDash val="solid"/>
            <a:round/>
            <a:headEnd len="med" w="med" type="none"/>
            <a:tailEnd len="med" w="med" type="none"/>
          </a:ln>
        </p:spPr>
      </p:cxnSp>
      <p:sp>
        <p:nvSpPr>
          <p:cNvPr id="406" name="Google Shape;406;p23"/>
          <p:cNvSpPr txBox="1"/>
          <p:nvPr/>
        </p:nvSpPr>
        <p:spPr>
          <a:xfrm>
            <a:off x="1578500" y="1402275"/>
            <a:ext cx="2100300" cy="4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PWM Signal RX from Transmitter</a:t>
            </a:r>
            <a:endParaRPr sz="1000"/>
          </a:p>
          <a:p>
            <a:pPr indent="0" lvl="0" marL="0" rtl="0" algn="l">
              <a:spcBef>
                <a:spcPts val="0"/>
              </a:spcBef>
              <a:spcAft>
                <a:spcPts val="0"/>
              </a:spcAft>
              <a:buNone/>
            </a:pPr>
            <a:r>
              <a:rPr lang="en-GB" sz="1000"/>
              <a:t>Duty Cycle = 5%,1000us</a:t>
            </a:r>
            <a:endParaRPr sz="1000"/>
          </a:p>
        </p:txBody>
      </p:sp>
      <p:sp>
        <p:nvSpPr>
          <p:cNvPr id="407" name="Google Shape;407;p23"/>
          <p:cNvSpPr txBox="1"/>
          <p:nvPr/>
        </p:nvSpPr>
        <p:spPr>
          <a:xfrm>
            <a:off x="1739025" y="2649500"/>
            <a:ext cx="2100300" cy="4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PWM Signal RX from Transmitter</a:t>
            </a:r>
            <a:endParaRPr sz="1000"/>
          </a:p>
          <a:p>
            <a:pPr indent="0" lvl="0" marL="0" rtl="0" algn="l">
              <a:spcBef>
                <a:spcPts val="0"/>
              </a:spcBef>
              <a:spcAft>
                <a:spcPts val="0"/>
              </a:spcAft>
              <a:buNone/>
            </a:pPr>
            <a:r>
              <a:rPr lang="en-GB" sz="1000"/>
              <a:t>Duty Cycle = 10%, 2000us</a:t>
            </a:r>
            <a:endParaRPr sz="1000"/>
          </a:p>
        </p:txBody>
      </p:sp>
      <p:sp>
        <p:nvSpPr>
          <p:cNvPr id="408" name="Google Shape;408;p23"/>
          <p:cNvSpPr txBox="1"/>
          <p:nvPr/>
        </p:nvSpPr>
        <p:spPr>
          <a:xfrm>
            <a:off x="1611950" y="4106775"/>
            <a:ext cx="3564900" cy="7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5-10% (1000us - 2000us) duty cycle gives the band of the received PWM signal. This could be 0-100% throttle or full left and right, forward or backward, depending on what input. </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4"/>
          <p:cNvSpPr/>
          <p:nvPr/>
        </p:nvSpPr>
        <p:spPr>
          <a:xfrm>
            <a:off x="3480425" y="947925"/>
            <a:ext cx="11007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Controller</a:t>
            </a:r>
            <a:endParaRPr/>
          </a:p>
        </p:txBody>
      </p:sp>
      <p:sp>
        <p:nvSpPr>
          <p:cNvPr id="414" name="Google Shape;414;p24"/>
          <p:cNvSpPr/>
          <p:nvPr/>
        </p:nvSpPr>
        <p:spPr>
          <a:xfrm>
            <a:off x="5497450" y="947925"/>
            <a:ext cx="11007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System</a:t>
            </a:r>
            <a:endParaRPr/>
          </a:p>
        </p:txBody>
      </p:sp>
      <p:sp>
        <p:nvSpPr>
          <p:cNvPr id="415" name="Google Shape;415;p24"/>
          <p:cNvSpPr/>
          <p:nvPr/>
        </p:nvSpPr>
        <p:spPr>
          <a:xfrm>
            <a:off x="3772400" y="1777350"/>
            <a:ext cx="11007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Sensors</a:t>
            </a:r>
            <a:endParaRPr/>
          </a:p>
        </p:txBody>
      </p:sp>
      <p:sp>
        <p:nvSpPr>
          <p:cNvPr id="416" name="Google Shape;416;p24"/>
          <p:cNvSpPr/>
          <p:nvPr/>
        </p:nvSpPr>
        <p:spPr>
          <a:xfrm>
            <a:off x="1773950" y="1046599"/>
            <a:ext cx="327300" cy="3087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7" name="Google Shape;417;p24"/>
          <p:cNvCxnSpPr>
            <a:stCxn id="416" idx="6"/>
            <a:endCxn id="413" idx="1"/>
          </p:cNvCxnSpPr>
          <p:nvPr/>
        </p:nvCxnSpPr>
        <p:spPr>
          <a:xfrm>
            <a:off x="2101250" y="1200949"/>
            <a:ext cx="1379100" cy="2700"/>
          </a:xfrm>
          <a:prstGeom prst="straightConnector1">
            <a:avLst/>
          </a:prstGeom>
          <a:noFill/>
          <a:ln cap="flat" cmpd="sng" w="19050">
            <a:solidFill>
              <a:schemeClr val="dk2"/>
            </a:solidFill>
            <a:prstDash val="solid"/>
            <a:round/>
            <a:headEnd len="med" w="med" type="none"/>
            <a:tailEnd len="med" w="med" type="stealth"/>
          </a:ln>
        </p:spPr>
      </p:cxnSp>
      <p:cxnSp>
        <p:nvCxnSpPr>
          <p:cNvPr id="418" name="Google Shape;418;p24"/>
          <p:cNvCxnSpPr>
            <a:stCxn id="413" idx="3"/>
            <a:endCxn id="414" idx="1"/>
          </p:cNvCxnSpPr>
          <p:nvPr/>
        </p:nvCxnSpPr>
        <p:spPr>
          <a:xfrm>
            <a:off x="4581125" y="1203525"/>
            <a:ext cx="916200" cy="0"/>
          </a:xfrm>
          <a:prstGeom prst="straightConnector1">
            <a:avLst/>
          </a:prstGeom>
          <a:noFill/>
          <a:ln cap="flat" cmpd="sng" w="19050">
            <a:solidFill>
              <a:schemeClr val="dk2"/>
            </a:solidFill>
            <a:prstDash val="solid"/>
            <a:round/>
            <a:headEnd len="med" w="med" type="none"/>
            <a:tailEnd len="med" w="med" type="stealth"/>
          </a:ln>
        </p:spPr>
      </p:cxnSp>
      <p:cxnSp>
        <p:nvCxnSpPr>
          <p:cNvPr id="419" name="Google Shape;419;p24"/>
          <p:cNvCxnSpPr>
            <a:stCxn id="414" idx="3"/>
          </p:cNvCxnSpPr>
          <p:nvPr/>
        </p:nvCxnSpPr>
        <p:spPr>
          <a:xfrm>
            <a:off x="6598150" y="1203525"/>
            <a:ext cx="1750800" cy="0"/>
          </a:xfrm>
          <a:prstGeom prst="straightConnector1">
            <a:avLst/>
          </a:prstGeom>
          <a:noFill/>
          <a:ln cap="flat" cmpd="sng" w="19050">
            <a:solidFill>
              <a:schemeClr val="dk2"/>
            </a:solidFill>
            <a:prstDash val="solid"/>
            <a:round/>
            <a:headEnd len="med" w="med" type="none"/>
            <a:tailEnd len="med" w="med" type="stealth"/>
          </a:ln>
        </p:spPr>
      </p:cxnSp>
      <p:cxnSp>
        <p:nvCxnSpPr>
          <p:cNvPr id="420" name="Google Shape;420;p24"/>
          <p:cNvCxnSpPr>
            <a:stCxn id="415" idx="1"/>
            <a:endCxn id="416" idx="4"/>
          </p:cNvCxnSpPr>
          <p:nvPr/>
        </p:nvCxnSpPr>
        <p:spPr>
          <a:xfrm rot="10800000">
            <a:off x="1937600" y="1355250"/>
            <a:ext cx="1834800" cy="677700"/>
          </a:xfrm>
          <a:prstGeom prst="bentConnector2">
            <a:avLst/>
          </a:prstGeom>
          <a:noFill/>
          <a:ln cap="flat" cmpd="sng" w="19050">
            <a:solidFill>
              <a:schemeClr val="dk2"/>
            </a:solidFill>
            <a:prstDash val="solid"/>
            <a:round/>
            <a:headEnd len="med" w="med" type="none"/>
            <a:tailEnd len="med" w="med" type="stealth"/>
          </a:ln>
        </p:spPr>
      </p:cxnSp>
      <p:cxnSp>
        <p:nvCxnSpPr>
          <p:cNvPr id="421" name="Google Shape;421;p24"/>
          <p:cNvCxnSpPr>
            <a:stCxn id="414" idx="3"/>
            <a:endCxn id="415" idx="3"/>
          </p:cNvCxnSpPr>
          <p:nvPr/>
        </p:nvCxnSpPr>
        <p:spPr>
          <a:xfrm flipH="1">
            <a:off x="4873150" y="1203525"/>
            <a:ext cx="1725000" cy="829500"/>
          </a:xfrm>
          <a:prstGeom prst="bentConnector3">
            <a:avLst>
              <a:gd fmla="val -13804" name="adj1"/>
            </a:avLst>
          </a:prstGeom>
          <a:noFill/>
          <a:ln cap="flat" cmpd="sng" w="19050">
            <a:solidFill>
              <a:schemeClr val="dk2"/>
            </a:solidFill>
            <a:prstDash val="solid"/>
            <a:round/>
            <a:headEnd len="med" w="med" type="none"/>
            <a:tailEnd len="med" w="med" type="stealth"/>
          </a:ln>
        </p:spPr>
      </p:cxnSp>
      <p:cxnSp>
        <p:nvCxnSpPr>
          <p:cNvPr id="422" name="Google Shape;422;p24"/>
          <p:cNvCxnSpPr>
            <a:endCxn id="416" idx="2"/>
          </p:cNvCxnSpPr>
          <p:nvPr/>
        </p:nvCxnSpPr>
        <p:spPr>
          <a:xfrm>
            <a:off x="930350" y="1200949"/>
            <a:ext cx="843600" cy="0"/>
          </a:xfrm>
          <a:prstGeom prst="straightConnector1">
            <a:avLst/>
          </a:prstGeom>
          <a:noFill/>
          <a:ln cap="flat" cmpd="sng" w="19050">
            <a:solidFill>
              <a:schemeClr val="dk2"/>
            </a:solidFill>
            <a:prstDash val="solid"/>
            <a:round/>
            <a:headEnd len="med" w="med" type="none"/>
            <a:tailEnd len="med" w="med" type="stealth"/>
          </a:ln>
        </p:spPr>
      </p:cxnSp>
      <p:sp>
        <p:nvSpPr>
          <p:cNvPr id="423" name="Google Shape;423;p24"/>
          <p:cNvSpPr txBox="1"/>
          <p:nvPr/>
        </p:nvSpPr>
        <p:spPr>
          <a:xfrm>
            <a:off x="930400" y="871725"/>
            <a:ext cx="9510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Reference</a:t>
            </a:r>
            <a:endParaRPr sz="1000"/>
          </a:p>
        </p:txBody>
      </p:sp>
      <p:sp>
        <p:nvSpPr>
          <p:cNvPr id="424" name="Google Shape;424;p24"/>
          <p:cNvSpPr txBox="1"/>
          <p:nvPr/>
        </p:nvSpPr>
        <p:spPr>
          <a:xfrm>
            <a:off x="6747300" y="871725"/>
            <a:ext cx="11007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System Output</a:t>
            </a:r>
            <a:endParaRPr sz="1000"/>
          </a:p>
        </p:txBody>
      </p:sp>
      <p:sp>
        <p:nvSpPr>
          <p:cNvPr id="425" name="Google Shape;425;p24"/>
          <p:cNvSpPr txBox="1"/>
          <p:nvPr/>
        </p:nvSpPr>
        <p:spPr>
          <a:xfrm>
            <a:off x="4581314" y="886226"/>
            <a:ext cx="9510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System Input</a:t>
            </a:r>
            <a:endParaRPr sz="1000"/>
          </a:p>
        </p:txBody>
      </p:sp>
      <p:sp>
        <p:nvSpPr>
          <p:cNvPr id="426" name="Google Shape;426;p24"/>
          <p:cNvSpPr txBox="1"/>
          <p:nvPr/>
        </p:nvSpPr>
        <p:spPr>
          <a:xfrm>
            <a:off x="2214500" y="870350"/>
            <a:ext cx="11007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Measured Error</a:t>
            </a:r>
            <a:endParaRPr sz="1000"/>
          </a:p>
        </p:txBody>
      </p:sp>
      <p:sp>
        <p:nvSpPr>
          <p:cNvPr id="427" name="Google Shape;427;p24"/>
          <p:cNvSpPr txBox="1"/>
          <p:nvPr/>
        </p:nvSpPr>
        <p:spPr>
          <a:xfrm>
            <a:off x="2166200" y="1701150"/>
            <a:ext cx="13776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Measured Output</a:t>
            </a:r>
            <a:endParaRPr sz="1000"/>
          </a:p>
        </p:txBody>
      </p:sp>
      <p:sp>
        <p:nvSpPr>
          <p:cNvPr id="428" name="Google Shape;428;p24"/>
          <p:cNvSpPr txBox="1"/>
          <p:nvPr/>
        </p:nvSpPr>
        <p:spPr>
          <a:xfrm>
            <a:off x="1720963" y="1025911"/>
            <a:ext cx="2694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a:t>
            </a:r>
            <a:endParaRPr sz="1000"/>
          </a:p>
        </p:txBody>
      </p:sp>
      <p:sp>
        <p:nvSpPr>
          <p:cNvPr id="429" name="Google Shape;429;p24"/>
          <p:cNvSpPr txBox="1"/>
          <p:nvPr/>
        </p:nvSpPr>
        <p:spPr>
          <a:xfrm>
            <a:off x="1835501" y="1095549"/>
            <a:ext cx="2694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a:t>
            </a:r>
            <a:endParaRPr sz="1000"/>
          </a:p>
        </p:txBody>
      </p:sp>
      <p:sp>
        <p:nvSpPr>
          <p:cNvPr id="430" name="Google Shape;430;p24"/>
          <p:cNvSpPr/>
          <p:nvPr/>
        </p:nvSpPr>
        <p:spPr>
          <a:xfrm>
            <a:off x="3404225" y="3310125"/>
            <a:ext cx="11007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Controller</a:t>
            </a:r>
            <a:endParaRPr/>
          </a:p>
          <a:p>
            <a:pPr indent="0" lvl="0" marL="0" rtl="0" algn="ctr">
              <a:spcBef>
                <a:spcPts val="0"/>
              </a:spcBef>
              <a:spcAft>
                <a:spcPts val="0"/>
              </a:spcAft>
              <a:buNone/>
            </a:pPr>
            <a:r>
              <a:rPr lang="en-GB"/>
              <a:t>(PID)</a:t>
            </a:r>
            <a:endParaRPr/>
          </a:p>
        </p:txBody>
      </p:sp>
      <p:sp>
        <p:nvSpPr>
          <p:cNvPr id="431" name="Google Shape;431;p24"/>
          <p:cNvSpPr/>
          <p:nvPr/>
        </p:nvSpPr>
        <p:spPr>
          <a:xfrm>
            <a:off x="5649850" y="3310125"/>
            <a:ext cx="13389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System</a:t>
            </a:r>
            <a:endParaRPr/>
          </a:p>
          <a:p>
            <a:pPr indent="0" lvl="0" marL="0" rtl="0" algn="ctr">
              <a:spcBef>
                <a:spcPts val="0"/>
              </a:spcBef>
              <a:spcAft>
                <a:spcPts val="0"/>
              </a:spcAft>
              <a:buNone/>
            </a:pPr>
            <a:r>
              <a:rPr lang="en-GB"/>
              <a:t>(Quadcopter)</a:t>
            </a:r>
            <a:endParaRPr/>
          </a:p>
        </p:txBody>
      </p:sp>
      <p:sp>
        <p:nvSpPr>
          <p:cNvPr id="432" name="Google Shape;432;p24"/>
          <p:cNvSpPr/>
          <p:nvPr/>
        </p:nvSpPr>
        <p:spPr>
          <a:xfrm>
            <a:off x="3924800" y="4139550"/>
            <a:ext cx="11007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Sensors</a:t>
            </a:r>
            <a:endParaRPr/>
          </a:p>
          <a:p>
            <a:pPr indent="0" lvl="0" marL="0" rtl="0" algn="ctr">
              <a:spcBef>
                <a:spcPts val="0"/>
              </a:spcBef>
              <a:spcAft>
                <a:spcPts val="0"/>
              </a:spcAft>
              <a:buNone/>
            </a:pPr>
            <a:r>
              <a:rPr lang="en-GB"/>
              <a:t>(IMU)</a:t>
            </a:r>
            <a:endParaRPr/>
          </a:p>
        </p:txBody>
      </p:sp>
      <p:sp>
        <p:nvSpPr>
          <p:cNvPr id="433" name="Google Shape;433;p24"/>
          <p:cNvSpPr/>
          <p:nvPr/>
        </p:nvSpPr>
        <p:spPr>
          <a:xfrm>
            <a:off x="1926350" y="3408799"/>
            <a:ext cx="327300" cy="3087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4" name="Google Shape;434;p24"/>
          <p:cNvCxnSpPr>
            <a:stCxn id="433" idx="6"/>
            <a:endCxn id="430" idx="1"/>
          </p:cNvCxnSpPr>
          <p:nvPr/>
        </p:nvCxnSpPr>
        <p:spPr>
          <a:xfrm>
            <a:off x="2253650" y="3563149"/>
            <a:ext cx="1150500" cy="2700"/>
          </a:xfrm>
          <a:prstGeom prst="straightConnector1">
            <a:avLst/>
          </a:prstGeom>
          <a:noFill/>
          <a:ln cap="flat" cmpd="sng" w="19050">
            <a:solidFill>
              <a:schemeClr val="dk2"/>
            </a:solidFill>
            <a:prstDash val="solid"/>
            <a:round/>
            <a:headEnd len="med" w="med" type="none"/>
            <a:tailEnd len="med" w="med" type="stealth"/>
          </a:ln>
        </p:spPr>
      </p:cxnSp>
      <p:cxnSp>
        <p:nvCxnSpPr>
          <p:cNvPr id="435" name="Google Shape;435;p24"/>
          <p:cNvCxnSpPr>
            <a:stCxn id="430" idx="3"/>
            <a:endCxn id="431" idx="1"/>
          </p:cNvCxnSpPr>
          <p:nvPr/>
        </p:nvCxnSpPr>
        <p:spPr>
          <a:xfrm>
            <a:off x="4504925" y="3565725"/>
            <a:ext cx="1144800" cy="0"/>
          </a:xfrm>
          <a:prstGeom prst="straightConnector1">
            <a:avLst/>
          </a:prstGeom>
          <a:noFill/>
          <a:ln cap="flat" cmpd="sng" w="19050">
            <a:solidFill>
              <a:schemeClr val="dk2"/>
            </a:solidFill>
            <a:prstDash val="solid"/>
            <a:round/>
            <a:headEnd len="med" w="med" type="none"/>
            <a:tailEnd len="med" w="med" type="stealth"/>
          </a:ln>
        </p:spPr>
      </p:cxnSp>
      <p:cxnSp>
        <p:nvCxnSpPr>
          <p:cNvPr id="436" name="Google Shape;436;p24"/>
          <p:cNvCxnSpPr>
            <a:stCxn id="431" idx="3"/>
          </p:cNvCxnSpPr>
          <p:nvPr/>
        </p:nvCxnSpPr>
        <p:spPr>
          <a:xfrm>
            <a:off x="6988750" y="3565725"/>
            <a:ext cx="1750800" cy="0"/>
          </a:xfrm>
          <a:prstGeom prst="straightConnector1">
            <a:avLst/>
          </a:prstGeom>
          <a:noFill/>
          <a:ln cap="flat" cmpd="sng" w="19050">
            <a:solidFill>
              <a:schemeClr val="dk2"/>
            </a:solidFill>
            <a:prstDash val="solid"/>
            <a:round/>
            <a:headEnd len="med" w="med" type="none"/>
            <a:tailEnd len="med" w="med" type="stealth"/>
          </a:ln>
        </p:spPr>
      </p:cxnSp>
      <p:cxnSp>
        <p:nvCxnSpPr>
          <p:cNvPr id="437" name="Google Shape;437;p24"/>
          <p:cNvCxnSpPr>
            <a:stCxn id="432" idx="1"/>
            <a:endCxn id="433" idx="4"/>
          </p:cNvCxnSpPr>
          <p:nvPr/>
        </p:nvCxnSpPr>
        <p:spPr>
          <a:xfrm rot="10800000">
            <a:off x="2090000" y="3717450"/>
            <a:ext cx="1834800" cy="677700"/>
          </a:xfrm>
          <a:prstGeom prst="bentConnector2">
            <a:avLst/>
          </a:prstGeom>
          <a:noFill/>
          <a:ln cap="flat" cmpd="sng" w="19050">
            <a:solidFill>
              <a:schemeClr val="dk2"/>
            </a:solidFill>
            <a:prstDash val="solid"/>
            <a:round/>
            <a:headEnd len="med" w="med" type="none"/>
            <a:tailEnd len="med" w="med" type="stealth"/>
          </a:ln>
        </p:spPr>
      </p:cxnSp>
      <p:cxnSp>
        <p:nvCxnSpPr>
          <p:cNvPr id="438" name="Google Shape;438;p24"/>
          <p:cNvCxnSpPr>
            <a:stCxn id="431" idx="3"/>
            <a:endCxn id="432" idx="3"/>
          </p:cNvCxnSpPr>
          <p:nvPr/>
        </p:nvCxnSpPr>
        <p:spPr>
          <a:xfrm flipH="1">
            <a:off x="5025550" y="3565725"/>
            <a:ext cx="1963200" cy="829500"/>
          </a:xfrm>
          <a:prstGeom prst="bentConnector3">
            <a:avLst>
              <a:gd fmla="val -12129" name="adj1"/>
            </a:avLst>
          </a:prstGeom>
          <a:noFill/>
          <a:ln cap="flat" cmpd="sng" w="19050">
            <a:solidFill>
              <a:schemeClr val="dk2"/>
            </a:solidFill>
            <a:prstDash val="solid"/>
            <a:round/>
            <a:headEnd len="med" w="med" type="none"/>
            <a:tailEnd len="med" w="med" type="stealth"/>
          </a:ln>
        </p:spPr>
      </p:cxnSp>
      <p:cxnSp>
        <p:nvCxnSpPr>
          <p:cNvPr id="439" name="Google Shape;439;p24"/>
          <p:cNvCxnSpPr>
            <a:endCxn id="433" idx="2"/>
          </p:cNvCxnSpPr>
          <p:nvPr/>
        </p:nvCxnSpPr>
        <p:spPr>
          <a:xfrm>
            <a:off x="1082750" y="3563149"/>
            <a:ext cx="843600" cy="0"/>
          </a:xfrm>
          <a:prstGeom prst="straightConnector1">
            <a:avLst/>
          </a:prstGeom>
          <a:noFill/>
          <a:ln cap="flat" cmpd="sng" w="19050">
            <a:solidFill>
              <a:schemeClr val="dk2"/>
            </a:solidFill>
            <a:prstDash val="solid"/>
            <a:round/>
            <a:headEnd len="med" w="med" type="none"/>
            <a:tailEnd len="med" w="med" type="stealth"/>
          </a:ln>
        </p:spPr>
      </p:cxnSp>
      <p:sp>
        <p:nvSpPr>
          <p:cNvPr id="440" name="Google Shape;440;p24"/>
          <p:cNvSpPr txBox="1"/>
          <p:nvPr/>
        </p:nvSpPr>
        <p:spPr>
          <a:xfrm>
            <a:off x="1082800" y="3108600"/>
            <a:ext cx="951000" cy="3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Pilot Demand</a:t>
            </a:r>
            <a:endParaRPr sz="1000"/>
          </a:p>
          <a:p>
            <a:pPr indent="0" lvl="0" marL="0" rtl="0" algn="l">
              <a:spcBef>
                <a:spcPts val="0"/>
              </a:spcBef>
              <a:spcAft>
                <a:spcPts val="0"/>
              </a:spcAft>
              <a:buNone/>
            </a:pPr>
            <a:r>
              <a:rPr lang="en-GB" sz="1000"/>
              <a:t>Angle/Rate</a:t>
            </a:r>
            <a:endParaRPr sz="1000"/>
          </a:p>
        </p:txBody>
      </p:sp>
      <p:sp>
        <p:nvSpPr>
          <p:cNvPr id="441" name="Google Shape;441;p24"/>
          <p:cNvSpPr txBox="1"/>
          <p:nvPr/>
        </p:nvSpPr>
        <p:spPr>
          <a:xfrm>
            <a:off x="7204500" y="3233925"/>
            <a:ext cx="18348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Angle or Rate change</a:t>
            </a:r>
            <a:endParaRPr sz="1000"/>
          </a:p>
        </p:txBody>
      </p:sp>
      <p:sp>
        <p:nvSpPr>
          <p:cNvPr id="442" name="Google Shape;442;p24"/>
          <p:cNvSpPr txBox="1"/>
          <p:nvPr/>
        </p:nvSpPr>
        <p:spPr>
          <a:xfrm>
            <a:off x="4581327" y="3248425"/>
            <a:ext cx="11007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Motor Demand</a:t>
            </a:r>
            <a:endParaRPr sz="1000"/>
          </a:p>
        </p:txBody>
      </p:sp>
      <p:sp>
        <p:nvSpPr>
          <p:cNvPr id="443" name="Google Shape;443;p24"/>
          <p:cNvSpPr txBox="1"/>
          <p:nvPr/>
        </p:nvSpPr>
        <p:spPr>
          <a:xfrm>
            <a:off x="2366900" y="3099050"/>
            <a:ext cx="1100700" cy="4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Measured Error</a:t>
            </a:r>
            <a:endParaRPr sz="1000"/>
          </a:p>
          <a:p>
            <a:pPr indent="0" lvl="0" marL="0" rtl="0" algn="l">
              <a:spcBef>
                <a:spcPts val="0"/>
              </a:spcBef>
              <a:spcAft>
                <a:spcPts val="0"/>
              </a:spcAft>
              <a:buNone/>
            </a:pPr>
            <a:r>
              <a:rPr lang="en-GB" sz="1000"/>
              <a:t>Angle/Rate</a:t>
            </a:r>
            <a:endParaRPr sz="1000"/>
          </a:p>
        </p:txBody>
      </p:sp>
      <p:sp>
        <p:nvSpPr>
          <p:cNvPr id="444" name="Google Shape;444;p24"/>
          <p:cNvSpPr txBox="1"/>
          <p:nvPr/>
        </p:nvSpPr>
        <p:spPr>
          <a:xfrm>
            <a:off x="2090000" y="3928100"/>
            <a:ext cx="1500300" cy="4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Roll, Pitch and Yaw Angle/rate</a:t>
            </a:r>
            <a:endParaRPr sz="1000"/>
          </a:p>
        </p:txBody>
      </p:sp>
      <p:sp>
        <p:nvSpPr>
          <p:cNvPr id="445" name="Google Shape;445;p24"/>
          <p:cNvSpPr txBox="1"/>
          <p:nvPr/>
        </p:nvSpPr>
        <p:spPr>
          <a:xfrm>
            <a:off x="1873363" y="3388111"/>
            <a:ext cx="2694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a:t>
            </a:r>
            <a:endParaRPr sz="1000"/>
          </a:p>
        </p:txBody>
      </p:sp>
      <p:sp>
        <p:nvSpPr>
          <p:cNvPr id="446" name="Google Shape;446;p24"/>
          <p:cNvSpPr txBox="1"/>
          <p:nvPr/>
        </p:nvSpPr>
        <p:spPr>
          <a:xfrm>
            <a:off x="1987901" y="3457749"/>
            <a:ext cx="2694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a:t>
            </a:r>
            <a:endParaRPr sz="1000"/>
          </a:p>
        </p:txBody>
      </p:sp>
      <p:sp>
        <p:nvSpPr>
          <p:cNvPr id="447" name="Google Shape;447;p24"/>
          <p:cNvSpPr txBox="1"/>
          <p:nvPr/>
        </p:nvSpPr>
        <p:spPr>
          <a:xfrm>
            <a:off x="812675" y="236600"/>
            <a:ext cx="2959800" cy="4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u="sng"/>
              <a:t>PID - </a:t>
            </a:r>
            <a:r>
              <a:rPr lang="en-GB" u="sng"/>
              <a:t>Generic Closed Loop Control</a:t>
            </a:r>
            <a:endParaRPr u="sng"/>
          </a:p>
        </p:txBody>
      </p:sp>
      <p:sp>
        <p:nvSpPr>
          <p:cNvPr id="448" name="Google Shape;448;p24"/>
          <p:cNvSpPr txBox="1"/>
          <p:nvPr/>
        </p:nvSpPr>
        <p:spPr>
          <a:xfrm>
            <a:off x="812675" y="2641800"/>
            <a:ext cx="3635100" cy="4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u="sng"/>
              <a:t>Quadcopter Closed Loop Control (Simple)</a:t>
            </a:r>
            <a:endParaRPr u="sng"/>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5"/>
          <p:cNvSpPr/>
          <p:nvPr/>
        </p:nvSpPr>
        <p:spPr>
          <a:xfrm>
            <a:off x="1365000" y="1641225"/>
            <a:ext cx="4398300" cy="2439900"/>
          </a:xfrm>
          <a:prstGeom prst="rect">
            <a:avLst/>
          </a:prstGeom>
          <a:noFill/>
          <a:ln cap="flat" cmpd="sng" w="19050">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5"/>
          <p:cNvSpPr/>
          <p:nvPr/>
        </p:nvSpPr>
        <p:spPr>
          <a:xfrm>
            <a:off x="2247125" y="2594250"/>
            <a:ext cx="11007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Error</a:t>
            </a:r>
            <a:endParaRPr/>
          </a:p>
          <a:p>
            <a:pPr indent="0" lvl="0" marL="0" rtl="0" algn="ctr">
              <a:spcBef>
                <a:spcPts val="0"/>
              </a:spcBef>
              <a:spcAft>
                <a:spcPts val="0"/>
              </a:spcAft>
              <a:buNone/>
            </a:pPr>
            <a:r>
              <a:rPr lang="en-GB"/>
              <a:t>e(t)</a:t>
            </a:r>
            <a:endParaRPr/>
          </a:p>
        </p:txBody>
      </p:sp>
      <p:sp>
        <p:nvSpPr>
          <p:cNvPr id="455" name="Google Shape;455;p25"/>
          <p:cNvSpPr/>
          <p:nvPr/>
        </p:nvSpPr>
        <p:spPr>
          <a:xfrm>
            <a:off x="3623325" y="1845575"/>
            <a:ext cx="14037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Kp * e(t)</a:t>
            </a:r>
            <a:endParaRPr/>
          </a:p>
        </p:txBody>
      </p:sp>
      <p:sp>
        <p:nvSpPr>
          <p:cNvPr id="456" name="Google Shape;456;p25"/>
          <p:cNvSpPr/>
          <p:nvPr/>
        </p:nvSpPr>
        <p:spPr>
          <a:xfrm>
            <a:off x="3623325" y="2590800"/>
            <a:ext cx="14037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Ki * ∫ e(</a:t>
            </a:r>
            <a:r>
              <a:rPr lang="en-GB">
                <a:solidFill>
                  <a:schemeClr val="dk1"/>
                </a:solidFill>
              </a:rPr>
              <a:t>t</a:t>
            </a:r>
            <a:r>
              <a:rPr lang="en-GB"/>
              <a:t>) d</a:t>
            </a:r>
            <a:r>
              <a:rPr lang="en-GB">
                <a:solidFill>
                  <a:schemeClr val="dk1"/>
                </a:solidFill>
              </a:rPr>
              <a:t>t</a:t>
            </a:r>
            <a:endParaRPr/>
          </a:p>
        </p:txBody>
      </p:sp>
      <p:sp>
        <p:nvSpPr>
          <p:cNvPr id="457" name="Google Shape;457;p25"/>
          <p:cNvSpPr/>
          <p:nvPr/>
        </p:nvSpPr>
        <p:spPr>
          <a:xfrm>
            <a:off x="3623325" y="3336025"/>
            <a:ext cx="14037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Kd * d/dt * e(t)</a:t>
            </a:r>
            <a:endParaRPr/>
          </a:p>
        </p:txBody>
      </p:sp>
      <p:sp>
        <p:nvSpPr>
          <p:cNvPr id="458" name="Google Shape;458;p25"/>
          <p:cNvSpPr txBox="1"/>
          <p:nvPr/>
        </p:nvSpPr>
        <p:spPr>
          <a:xfrm>
            <a:off x="5332850" y="2628150"/>
            <a:ext cx="327600" cy="442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a:t>
            </a:r>
            <a:endParaRPr/>
          </a:p>
        </p:txBody>
      </p:sp>
      <p:cxnSp>
        <p:nvCxnSpPr>
          <p:cNvPr id="459" name="Google Shape;459;p25"/>
          <p:cNvCxnSpPr>
            <a:stCxn id="455" idx="3"/>
            <a:endCxn id="458" idx="0"/>
          </p:cNvCxnSpPr>
          <p:nvPr/>
        </p:nvCxnSpPr>
        <p:spPr>
          <a:xfrm>
            <a:off x="5027025" y="2101175"/>
            <a:ext cx="469500" cy="527100"/>
          </a:xfrm>
          <a:prstGeom prst="bentConnector2">
            <a:avLst/>
          </a:prstGeom>
          <a:noFill/>
          <a:ln cap="flat" cmpd="sng" w="19050">
            <a:solidFill>
              <a:schemeClr val="dk2"/>
            </a:solidFill>
            <a:prstDash val="solid"/>
            <a:round/>
            <a:headEnd len="med" w="med" type="none"/>
            <a:tailEnd len="med" w="med" type="stealth"/>
          </a:ln>
        </p:spPr>
      </p:cxnSp>
      <p:cxnSp>
        <p:nvCxnSpPr>
          <p:cNvPr id="460" name="Google Shape;460;p25"/>
          <p:cNvCxnSpPr>
            <a:stCxn id="456" idx="3"/>
            <a:endCxn id="458" idx="1"/>
          </p:cNvCxnSpPr>
          <p:nvPr/>
        </p:nvCxnSpPr>
        <p:spPr>
          <a:xfrm>
            <a:off x="5027025" y="2846400"/>
            <a:ext cx="305700" cy="3000"/>
          </a:xfrm>
          <a:prstGeom prst="straightConnector1">
            <a:avLst/>
          </a:prstGeom>
          <a:noFill/>
          <a:ln cap="flat" cmpd="sng" w="19050">
            <a:solidFill>
              <a:schemeClr val="dk2"/>
            </a:solidFill>
            <a:prstDash val="solid"/>
            <a:round/>
            <a:headEnd len="med" w="med" type="none"/>
            <a:tailEnd len="med" w="med" type="stealth"/>
          </a:ln>
        </p:spPr>
      </p:cxnSp>
      <p:cxnSp>
        <p:nvCxnSpPr>
          <p:cNvPr id="461" name="Google Shape;461;p25"/>
          <p:cNvCxnSpPr>
            <a:stCxn id="457" idx="3"/>
            <a:endCxn id="458" idx="2"/>
          </p:cNvCxnSpPr>
          <p:nvPr/>
        </p:nvCxnSpPr>
        <p:spPr>
          <a:xfrm flipH="1" rot="10800000">
            <a:off x="5027025" y="3070525"/>
            <a:ext cx="469500" cy="521100"/>
          </a:xfrm>
          <a:prstGeom prst="bentConnector2">
            <a:avLst/>
          </a:prstGeom>
          <a:noFill/>
          <a:ln cap="flat" cmpd="sng" w="19050">
            <a:solidFill>
              <a:schemeClr val="dk2"/>
            </a:solidFill>
            <a:prstDash val="solid"/>
            <a:round/>
            <a:headEnd len="med" w="med" type="none"/>
            <a:tailEnd len="med" w="med" type="stealth"/>
          </a:ln>
        </p:spPr>
      </p:cxnSp>
      <p:cxnSp>
        <p:nvCxnSpPr>
          <p:cNvPr id="462" name="Google Shape;462;p25"/>
          <p:cNvCxnSpPr>
            <a:stCxn id="454" idx="0"/>
            <a:endCxn id="455" idx="1"/>
          </p:cNvCxnSpPr>
          <p:nvPr/>
        </p:nvCxnSpPr>
        <p:spPr>
          <a:xfrm rot="-5400000">
            <a:off x="2963825" y="1934700"/>
            <a:ext cx="493200" cy="825900"/>
          </a:xfrm>
          <a:prstGeom prst="bentConnector2">
            <a:avLst/>
          </a:prstGeom>
          <a:noFill/>
          <a:ln cap="flat" cmpd="sng" w="19050">
            <a:solidFill>
              <a:schemeClr val="dk2"/>
            </a:solidFill>
            <a:prstDash val="solid"/>
            <a:round/>
            <a:headEnd len="med" w="med" type="none"/>
            <a:tailEnd len="med" w="med" type="stealth"/>
          </a:ln>
        </p:spPr>
      </p:cxnSp>
      <p:cxnSp>
        <p:nvCxnSpPr>
          <p:cNvPr id="463" name="Google Shape;463;p25"/>
          <p:cNvCxnSpPr>
            <a:stCxn id="454" idx="3"/>
            <a:endCxn id="456" idx="1"/>
          </p:cNvCxnSpPr>
          <p:nvPr/>
        </p:nvCxnSpPr>
        <p:spPr>
          <a:xfrm flipH="1" rot="10800000">
            <a:off x="3347825" y="2846550"/>
            <a:ext cx="275400" cy="3300"/>
          </a:xfrm>
          <a:prstGeom prst="straightConnector1">
            <a:avLst/>
          </a:prstGeom>
          <a:noFill/>
          <a:ln cap="flat" cmpd="sng" w="19050">
            <a:solidFill>
              <a:schemeClr val="dk2"/>
            </a:solidFill>
            <a:prstDash val="solid"/>
            <a:round/>
            <a:headEnd len="med" w="med" type="none"/>
            <a:tailEnd len="med" w="med" type="stealth"/>
          </a:ln>
        </p:spPr>
      </p:cxnSp>
      <p:cxnSp>
        <p:nvCxnSpPr>
          <p:cNvPr id="464" name="Google Shape;464;p25"/>
          <p:cNvCxnSpPr>
            <a:stCxn id="454" idx="2"/>
            <a:endCxn id="457" idx="1"/>
          </p:cNvCxnSpPr>
          <p:nvPr/>
        </p:nvCxnSpPr>
        <p:spPr>
          <a:xfrm flipH="1" rot="-5400000">
            <a:off x="2967275" y="2935650"/>
            <a:ext cx="486300" cy="825900"/>
          </a:xfrm>
          <a:prstGeom prst="bentConnector2">
            <a:avLst/>
          </a:prstGeom>
          <a:noFill/>
          <a:ln cap="flat" cmpd="sng" w="19050">
            <a:solidFill>
              <a:schemeClr val="dk2"/>
            </a:solidFill>
            <a:prstDash val="solid"/>
            <a:round/>
            <a:headEnd len="med" w="med" type="none"/>
            <a:tailEnd len="med" w="med" type="stealth"/>
          </a:ln>
        </p:spPr>
      </p:cxnSp>
      <p:sp>
        <p:nvSpPr>
          <p:cNvPr id="465" name="Google Shape;465;p25"/>
          <p:cNvSpPr/>
          <p:nvPr/>
        </p:nvSpPr>
        <p:spPr>
          <a:xfrm>
            <a:off x="6411850" y="2593464"/>
            <a:ext cx="13389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System</a:t>
            </a:r>
            <a:endParaRPr/>
          </a:p>
          <a:p>
            <a:pPr indent="0" lvl="0" marL="0" rtl="0" algn="ctr">
              <a:spcBef>
                <a:spcPts val="0"/>
              </a:spcBef>
              <a:spcAft>
                <a:spcPts val="0"/>
              </a:spcAft>
              <a:buNone/>
            </a:pPr>
            <a:r>
              <a:rPr lang="en-GB"/>
              <a:t>(Quadcopter)</a:t>
            </a:r>
            <a:endParaRPr/>
          </a:p>
        </p:txBody>
      </p:sp>
      <p:sp>
        <p:nvSpPr>
          <p:cNvPr id="466" name="Google Shape;466;p25"/>
          <p:cNvSpPr/>
          <p:nvPr/>
        </p:nvSpPr>
        <p:spPr>
          <a:xfrm>
            <a:off x="3848600" y="4520550"/>
            <a:ext cx="1100700" cy="51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Sensors</a:t>
            </a:r>
            <a:endParaRPr/>
          </a:p>
          <a:p>
            <a:pPr indent="0" lvl="0" marL="0" rtl="0" algn="ctr">
              <a:spcBef>
                <a:spcPts val="0"/>
              </a:spcBef>
              <a:spcAft>
                <a:spcPts val="0"/>
              </a:spcAft>
              <a:buNone/>
            </a:pPr>
            <a:r>
              <a:rPr lang="en-GB"/>
              <a:t>(IMU)</a:t>
            </a:r>
            <a:endParaRPr/>
          </a:p>
        </p:txBody>
      </p:sp>
      <p:sp>
        <p:nvSpPr>
          <p:cNvPr id="467" name="Google Shape;467;p25"/>
          <p:cNvSpPr/>
          <p:nvPr/>
        </p:nvSpPr>
        <p:spPr>
          <a:xfrm>
            <a:off x="935750" y="2692138"/>
            <a:ext cx="327300" cy="3087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8" name="Google Shape;468;p25"/>
          <p:cNvCxnSpPr>
            <a:stCxn id="467" idx="6"/>
            <a:endCxn id="454" idx="1"/>
          </p:cNvCxnSpPr>
          <p:nvPr/>
        </p:nvCxnSpPr>
        <p:spPr>
          <a:xfrm>
            <a:off x="1263050" y="2846488"/>
            <a:ext cx="984000" cy="3300"/>
          </a:xfrm>
          <a:prstGeom prst="straightConnector1">
            <a:avLst/>
          </a:prstGeom>
          <a:noFill/>
          <a:ln cap="flat" cmpd="sng" w="19050">
            <a:solidFill>
              <a:schemeClr val="dk2"/>
            </a:solidFill>
            <a:prstDash val="solid"/>
            <a:round/>
            <a:headEnd len="med" w="med" type="none"/>
            <a:tailEnd len="med" w="med" type="stealth"/>
          </a:ln>
        </p:spPr>
      </p:cxnSp>
      <p:cxnSp>
        <p:nvCxnSpPr>
          <p:cNvPr id="469" name="Google Shape;469;p25"/>
          <p:cNvCxnSpPr>
            <a:stCxn id="458" idx="3"/>
            <a:endCxn id="465" idx="1"/>
          </p:cNvCxnSpPr>
          <p:nvPr/>
        </p:nvCxnSpPr>
        <p:spPr>
          <a:xfrm flipH="1" rot="10800000">
            <a:off x="5660450" y="2849100"/>
            <a:ext cx="751500" cy="300"/>
          </a:xfrm>
          <a:prstGeom prst="straightConnector1">
            <a:avLst/>
          </a:prstGeom>
          <a:noFill/>
          <a:ln cap="flat" cmpd="sng" w="19050">
            <a:solidFill>
              <a:schemeClr val="dk2"/>
            </a:solidFill>
            <a:prstDash val="solid"/>
            <a:round/>
            <a:headEnd len="med" w="med" type="none"/>
            <a:tailEnd len="med" w="med" type="stealth"/>
          </a:ln>
        </p:spPr>
      </p:cxnSp>
      <p:cxnSp>
        <p:nvCxnSpPr>
          <p:cNvPr id="470" name="Google Shape;470;p25"/>
          <p:cNvCxnSpPr>
            <a:stCxn id="465" idx="3"/>
          </p:cNvCxnSpPr>
          <p:nvPr/>
        </p:nvCxnSpPr>
        <p:spPr>
          <a:xfrm>
            <a:off x="7750750" y="2849064"/>
            <a:ext cx="1137300" cy="9300"/>
          </a:xfrm>
          <a:prstGeom prst="straightConnector1">
            <a:avLst/>
          </a:prstGeom>
          <a:noFill/>
          <a:ln cap="flat" cmpd="sng" w="19050">
            <a:solidFill>
              <a:schemeClr val="dk2"/>
            </a:solidFill>
            <a:prstDash val="solid"/>
            <a:round/>
            <a:headEnd len="med" w="med" type="none"/>
            <a:tailEnd len="med" w="med" type="stealth"/>
          </a:ln>
        </p:spPr>
      </p:cxnSp>
      <p:cxnSp>
        <p:nvCxnSpPr>
          <p:cNvPr id="471" name="Google Shape;471;p25"/>
          <p:cNvCxnSpPr>
            <a:stCxn id="466" idx="1"/>
            <a:endCxn id="467" idx="4"/>
          </p:cNvCxnSpPr>
          <p:nvPr/>
        </p:nvCxnSpPr>
        <p:spPr>
          <a:xfrm rot="10800000">
            <a:off x="1099400" y="3000750"/>
            <a:ext cx="2749200" cy="1775400"/>
          </a:xfrm>
          <a:prstGeom prst="bentConnector2">
            <a:avLst/>
          </a:prstGeom>
          <a:noFill/>
          <a:ln cap="flat" cmpd="sng" w="19050">
            <a:solidFill>
              <a:schemeClr val="dk2"/>
            </a:solidFill>
            <a:prstDash val="solid"/>
            <a:round/>
            <a:headEnd len="med" w="med" type="none"/>
            <a:tailEnd len="med" w="med" type="stealth"/>
          </a:ln>
        </p:spPr>
      </p:cxnSp>
      <p:cxnSp>
        <p:nvCxnSpPr>
          <p:cNvPr id="472" name="Google Shape;472;p25"/>
          <p:cNvCxnSpPr>
            <a:stCxn id="465" idx="3"/>
            <a:endCxn id="466" idx="3"/>
          </p:cNvCxnSpPr>
          <p:nvPr/>
        </p:nvCxnSpPr>
        <p:spPr>
          <a:xfrm flipH="1">
            <a:off x="4949350" y="2849064"/>
            <a:ext cx="2801400" cy="1927200"/>
          </a:xfrm>
          <a:prstGeom prst="bentConnector3">
            <a:avLst>
              <a:gd fmla="val -7859" name="adj1"/>
            </a:avLst>
          </a:prstGeom>
          <a:noFill/>
          <a:ln cap="flat" cmpd="sng" w="19050">
            <a:solidFill>
              <a:schemeClr val="dk2"/>
            </a:solidFill>
            <a:prstDash val="solid"/>
            <a:round/>
            <a:headEnd len="med" w="med" type="none"/>
            <a:tailEnd len="med" w="med" type="stealth"/>
          </a:ln>
        </p:spPr>
      </p:cxnSp>
      <p:cxnSp>
        <p:nvCxnSpPr>
          <p:cNvPr id="473" name="Google Shape;473;p25"/>
          <p:cNvCxnSpPr>
            <a:endCxn id="467" idx="2"/>
          </p:cNvCxnSpPr>
          <p:nvPr/>
        </p:nvCxnSpPr>
        <p:spPr>
          <a:xfrm>
            <a:off x="92150" y="2846488"/>
            <a:ext cx="843600" cy="0"/>
          </a:xfrm>
          <a:prstGeom prst="straightConnector1">
            <a:avLst/>
          </a:prstGeom>
          <a:noFill/>
          <a:ln cap="flat" cmpd="sng" w="19050">
            <a:solidFill>
              <a:schemeClr val="dk2"/>
            </a:solidFill>
            <a:prstDash val="solid"/>
            <a:round/>
            <a:headEnd len="med" w="med" type="none"/>
            <a:tailEnd len="med" w="med" type="stealth"/>
          </a:ln>
        </p:spPr>
      </p:cxnSp>
      <p:sp>
        <p:nvSpPr>
          <p:cNvPr id="474" name="Google Shape;474;p25"/>
          <p:cNvSpPr txBox="1"/>
          <p:nvPr/>
        </p:nvSpPr>
        <p:spPr>
          <a:xfrm>
            <a:off x="92200" y="2391939"/>
            <a:ext cx="951000" cy="3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Pilot Demand</a:t>
            </a:r>
            <a:endParaRPr sz="1000"/>
          </a:p>
          <a:p>
            <a:pPr indent="0" lvl="0" marL="0" rtl="0" algn="l">
              <a:spcBef>
                <a:spcPts val="0"/>
              </a:spcBef>
              <a:spcAft>
                <a:spcPts val="0"/>
              </a:spcAft>
              <a:buNone/>
            </a:pPr>
            <a:r>
              <a:rPr lang="en-GB" sz="1000"/>
              <a:t>Angle/Rate</a:t>
            </a:r>
            <a:endParaRPr sz="1000"/>
          </a:p>
        </p:txBody>
      </p:sp>
      <p:sp>
        <p:nvSpPr>
          <p:cNvPr id="475" name="Google Shape;475;p25"/>
          <p:cNvSpPr txBox="1"/>
          <p:nvPr/>
        </p:nvSpPr>
        <p:spPr>
          <a:xfrm>
            <a:off x="7737900" y="2517264"/>
            <a:ext cx="18348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Angle or Rate change</a:t>
            </a:r>
            <a:endParaRPr sz="1000"/>
          </a:p>
        </p:txBody>
      </p:sp>
      <p:sp>
        <p:nvSpPr>
          <p:cNvPr id="476" name="Google Shape;476;p25"/>
          <p:cNvSpPr txBox="1"/>
          <p:nvPr/>
        </p:nvSpPr>
        <p:spPr>
          <a:xfrm>
            <a:off x="5736650" y="2378450"/>
            <a:ext cx="8436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Motor Demand</a:t>
            </a:r>
            <a:endParaRPr sz="1000"/>
          </a:p>
        </p:txBody>
      </p:sp>
      <p:sp>
        <p:nvSpPr>
          <p:cNvPr id="477" name="Google Shape;477;p25"/>
          <p:cNvSpPr txBox="1"/>
          <p:nvPr/>
        </p:nvSpPr>
        <p:spPr>
          <a:xfrm>
            <a:off x="1339250" y="2383000"/>
            <a:ext cx="1100700" cy="4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Measured Error</a:t>
            </a:r>
            <a:endParaRPr sz="1000"/>
          </a:p>
          <a:p>
            <a:pPr indent="0" lvl="0" marL="0" rtl="0" algn="l">
              <a:spcBef>
                <a:spcPts val="0"/>
              </a:spcBef>
              <a:spcAft>
                <a:spcPts val="0"/>
              </a:spcAft>
              <a:buNone/>
            </a:pPr>
            <a:r>
              <a:rPr lang="en-GB" sz="1000"/>
              <a:t>Angle/Rate</a:t>
            </a:r>
            <a:endParaRPr sz="1000"/>
          </a:p>
        </p:txBody>
      </p:sp>
      <p:sp>
        <p:nvSpPr>
          <p:cNvPr id="478" name="Google Shape;478;p25"/>
          <p:cNvSpPr txBox="1"/>
          <p:nvPr/>
        </p:nvSpPr>
        <p:spPr>
          <a:xfrm>
            <a:off x="2013800" y="4309100"/>
            <a:ext cx="1500300" cy="4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Roll, Pitch and Yaw Angle/rate</a:t>
            </a:r>
            <a:endParaRPr sz="1000"/>
          </a:p>
        </p:txBody>
      </p:sp>
      <p:sp>
        <p:nvSpPr>
          <p:cNvPr id="479" name="Google Shape;479;p25"/>
          <p:cNvSpPr txBox="1"/>
          <p:nvPr/>
        </p:nvSpPr>
        <p:spPr>
          <a:xfrm>
            <a:off x="882763" y="2671450"/>
            <a:ext cx="2694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a:t>
            </a:r>
            <a:endParaRPr sz="1000"/>
          </a:p>
        </p:txBody>
      </p:sp>
      <p:sp>
        <p:nvSpPr>
          <p:cNvPr id="480" name="Google Shape;480;p25"/>
          <p:cNvSpPr txBox="1"/>
          <p:nvPr/>
        </p:nvSpPr>
        <p:spPr>
          <a:xfrm>
            <a:off x="997301" y="2741088"/>
            <a:ext cx="2694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a:t>
            </a:r>
            <a:endParaRPr sz="1000"/>
          </a:p>
        </p:txBody>
      </p:sp>
      <p:sp>
        <p:nvSpPr>
          <p:cNvPr id="481" name="Google Shape;481;p25"/>
          <p:cNvSpPr txBox="1"/>
          <p:nvPr/>
        </p:nvSpPr>
        <p:spPr>
          <a:xfrm>
            <a:off x="62775" y="95850"/>
            <a:ext cx="35286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Will need a Control loop for Roll, Pitch and Yaw.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For Both </a:t>
            </a:r>
            <a:r>
              <a:rPr lang="en-GB"/>
              <a:t>Position</a:t>
            </a:r>
            <a:r>
              <a:rPr lang="en-GB"/>
              <a:t> (angle) and Rate in total 6 PID Loops</a:t>
            </a:r>
            <a:endParaRPr/>
          </a:p>
        </p:txBody>
      </p:sp>
      <p:sp>
        <p:nvSpPr>
          <p:cNvPr id="482" name="Google Shape;482;p25"/>
          <p:cNvSpPr txBox="1"/>
          <p:nvPr/>
        </p:nvSpPr>
        <p:spPr>
          <a:xfrm>
            <a:off x="4556625" y="171450"/>
            <a:ext cx="4543500" cy="13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Notes: Proportional - </a:t>
            </a:r>
            <a:r>
              <a:rPr lang="en-GB" sz="1000"/>
              <a:t>Integral</a:t>
            </a:r>
            <a:r>
              <a:rPr lang="en-GB" sz="1000"/>
              <a:t> - Derivative</a:t>
            </a:r>
            <a:endParaRPr sz="1000"/>
          </a:p>
          <a:p>
            <a:pPr indent="0" lvl="0" marL="0" rtl="0" algn="l">
              <a:spcBef>
                <a:spcPts val="0"/>
              </a:spcBef>
              <a:spcAft>
                <a:spcPts val="0"/>
              </a:spcAft>
              <a:buNone/>
            </a:pPr>
            <a:r>
              <a:rPr b="1" i="1" lang="en-GB" sz="1000"/>
              <a:t>Proportional </a:t>
            </a:r>
            <a:r>
              <a:rPr lang="en-GB" sz="1000"/>
              <a:t>depends on the present error</a:t>
            </a:r>
            <a:endParaRPr sz="1000"/>
          </a:p>
          <a:p>
            <a:pPr indent="0" lvl="0" marL="0" rtl="0" algn="l">
              <a:spcBef>
                <a:spcPts val="0"/>
              </a:spcBef>
              <a:spcAft>
                <a:spcPts val="0"/>
              </a:spcAft>
              <a:buNone/>
            </a:pPr>
            <a:r>
              <a:rPr b="1" i="1" lang="en-GB" sz="1000"/>
              <a:t>Integral</a:t>
            </a:r>
            <a:r>
              <a:rPr b="1" i="1" lang="en-GB" sz="1000"/>
              <a:t> </a:t>
            </a:r>
            <a:r>
              <a:rPr lang="en-GB" sz="1000"/>
              <a:t>depended on the accumulation of past errors</a:t>
            </a:r>
            <a:endParaRPr sz="1000"/>
          </a:p>
          <a:p>
            <a:pPr indent="0" lvl="0" marL="0" rtl="0" algn="l">
              <a:spcBef>
                <a:spcPts val="0"/>
              </a:spcBef>
              <a:spcAft>
                <a:spcPts val="0"/>
              </a:spcAft>
              <a:buNone/>
            </a:pPr>
            <a:r>
              <a:rPr b="1" i="1" lang="en-GB" sz="1000"/>
              <a:t>Differential </a:t>
            </a:r>
            <a:r>
              <a:rPr lang="en-GB" sz="1000"/>
              <a:t>is a prediction of future errors (</a:t>
            </a:r>
            <a:r>
              <a:rPr lang="en-GB" sz="1000"/>
              <a:t>Affected</a:t>
            </a:r>
            <a:r>
              <a:rPr lang="en-GB" sz="1000"/>
              <a:t> by noise/vibration)</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p:txBody>
      </p:sp>
      <p:sp>
        <p:nvSpPr>
          <p:cNvPr id="483" name="Google Shape;483;p25"/>
          <p:cNvSpPr txBox="1"/>
          <p:nvPr/>
        </p:nvSpPr>
        <p:spPr>
          <a:xfrm>
            <a:off x="3024350" y="1321675"/>
            <a:ext cx="2749200" cy="3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Where: e = Setpoint - Input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26"/>
          <p:cNvSpPr txBox="1"/>
          <p:nvPr/>
        </p:nvSpPr>
        <p:spPr>
          <a:xfrm>
            <a:off x="1063475" y="655500"/>
            <a:ext cx="4320900" cy="43074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800">
                <a:latin typeface="Courier New"/>
                <a:ea typeface="Courier New"/>
                <a:cs typeface="Courier New"/>
                <a:sym typeface="Courier New"/>
              </a:rPr>
              <a:t>Float </a:t>
            </a:r>
            <a:r>
              <a:rPr lang="en-GB" sz="800">
                <a:latin typeface="Courier New"/>
                <a:ea typeface="Courier New"/>
                <a:cs typeface="Courier New"/>
                <a:sym typeface="Courier New"/>
              </a:rPr>
              <a:t>Input, Output, Setpoint</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Unsigned long presTime, prevTime</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float Kp, Ki, Kd</a:t>
            </a:r>
            <a:endParaRPr sz="800">
              <a:latin typeface="Courier New"/>
              <a:ea typeface="Courier New"/>
              <a:cs typeface="Courier New"/>
              <a:sym typeface="Courier New"/>
            </a:endParaRPr>
          </a:p>
          <a:p>
            <a:pPr indent="0" lvl="0" marL="0" rtl="0" algn="l">
              <a:spcBef>
                <a:spcPts val="0"/>
              </a:spcBef>
              <a:spcAft>
                <a:spcPts val="0"/>
              </a:spcAft>
              <a:buNone/>
            </a:pPr>
            <a:r>
              <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Void computePID(){</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//Get Dt</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presTime = /*Get tick count*/</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Dt = presTime - PrevTime;</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//Proportional</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error = Setpoint - Input;</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//Integral</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errSum = errSum + (error * Dt);</a:t>
            </a:r>
            <a:endParaRPr sz="800">
              <a:latin typeface="Courier New"/>
              <a:ea typeface="Courier New"/>
              <a:cs typeface="Courier New"/>
              <a:sym typeface="Courier New"/>
            </a:endParaRPr>
          </a:p>
          <a:p>
            <a:pPr indent="0" lvl="0" marL="0" rtl="0" algn="l">
              <a:spcBef>
                <a:spcPts val="0"/>
              </a:spcBef>
              <a:spcAft>
                <a:spcPts val="0"/>
              </a:spcAft>
              <a:buNone/>
            </a:pPr>
            <a:r>
              <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//Derivative</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dErr = (error - prevError)/dt;</a:t>
            </a:r>
            <a:endParaRPr sz="800">
              <a:latin typeface="Courier New"/>
              <a:ea typeface="Courier New"/>
              <a:cs typeface="Courier New"/>
              <a:sym typeface="Courier New"/>
            </a:endParaRPr>
          </a:p>
          <a:p>
            <a:pPr indent="0" lvl="0" marL="0" rtl="0" algn="l">
              <a:spcBef>
                <a:spcPts val="0"/>
              </a:spcBef>
              <a:spcAft>
                <a:spcPts val="0"/>
              </a:spcAft>
              <a:buNone/>
            </a:pPr>
            <a:r>
              <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//Compute PID</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Output = (Kp * error) + (ki * errSum) + (Kd * dErr); </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//Remember for next iteration</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prevError = Error;</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prevTime = presTime;</a:t>
            </a:r>
            <a:endParaRPr sz="800">
              <a:latin typeface="Courier New"/>
              <a:ea typeface="Courier New"/>
              <a:cs typeface="Courier New"/>
              <a:sym typeface="Courier New"/>
            </a:endParaRPr>
          </a:p>
          <a:p>
            <a:pPr indent="0" lvl="0" marL="0" rtl="0" algn="l">
              <a:spcBef>
                <a:spcPts val="0"/>
              </a:spcBef>
              <a:spcAft>
                <a:spcPts val="0"/>
              </a:spcAft>
              <a:buNone/>
            </a:pPr>
            <a:r>
              <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a:t>
            </a:r>
            <a:endParaRPr sz="800">
              <a:latin typeface="Courier New"/>
              <a:ea typeface="Courier New"/>
              <a:cs typeface="Courier New"/>
              <a:sym typeface="Courier New"/>
            </a:endParaRPr>
          </a:p>
          <a:p>
            <a:pPr indent="0" lvl="0" marL="0" rtl="0" algn="l">
              <a:spcBef>
                <a:spcPts val="0"/>
              </a:spcBef>
              <a:spcAft>
                <a:spcPts val="0"/>
              </a:spcAft>
              <a:buNone/>
            </a:pPr>
            <a:r>
              <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Void tunePID(float Kp, float Ki, float Kd){</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Kp = Kp;</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Ki = Ki;</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	Kd = Kd;</a:t>
            </a:r>
            <a:endParaRPr sz="800">
              <a:latin typeface="Courier New"/>
              <a:ea typeface="Courier New"/>
              <a:cs typeface="Courier New"/>
              <a:sym typeface="Courier New"/>
            </a:endParaRPr>
          </a:p>
          <a:p>
            <a:pPr indent="0" lvl="0" marL="0" rtl="0" algn="l">
              <a:spcBef>
                <a:spcPts val="0"/>
              </a:spcBef>
              <a:spcAft>
                <a:spcPts val="0"/>
              </a:spcAft>
              <a:buNone/>
            </a:pPr>
            <a:r>
              <a:rPr lang="en-GB" sz="800">
                <a:latin typeface="Courier New"/>
                <a:ea typeface="Courier New"/>
                <a:cs typeface="Courier New"/>
                <a:sym typeface="Courier New"/>
              </a:rPr>
              <a:t>}</a:t>
            </a:r>
            <a:endParaRPr sz="800">
              <a:latin typeface="Courier New"/>
              <a:ea typeface="Courier New"/>
              <a:cs typeface="Courier New"/>
              <a:sym typeface="Courier New"/>
            </a:endParaRPr>
          </a:p>
        </p:txBody>
      </p:sp>
      <p:sp>
        <p:nvSpPr>
          <p:cNvPr id="489" name="Google Shape;489;p26"/>
          <p:cNvSpPr txBox="1"/>
          <p:nvPr/>
        </p:nvSpPr>
        <p:spPr>
          <a:xfrm>
            <a:off x="180600" y="160525"/>
            <a:ext cx="2267400" cy="34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Sudo Code for basic PID</a:t>
            </a:r>
            <a:endParaRPr/>
          </a:p>
        </p:txBody>
      </p:sp>
      <p:sp>
        <p:nvSpPr>
          <p:cNvPr id="490" name="Google Shape;490;p26"/>
          <p:cNvSpPr txBox="1"/>
          <p:nvPr/>
        </p:nvSpPr>
        <p:spPr>
          <a:xfrm>
            <a:off x="5564875" y="160525"/>
            <a:ext cx="3444600" cy="48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Problems with this</a:t>
            </a:r>
            <a:endParaRPr/>
          </a:p>
          <a:p>
            <a:pPr indent="-292100" lvl="0" marL="457200" rtl="0" algn="l">
              <a:spcBef>
                <a:spcPts val="0"/>
              </a:spcBef>
              <a:spcAft>
                <a:spcPts val="0"/>
              </a:spcAft>
              <a:buSzPts val="1000"/>
              <a:buAutoNum type="arabicPeriod"/>
            </a:pPr>
            <a:r>
              <a:rPr lang="en-GB" sz="1000" u="sng">
                <a:solidFill>
                  <a:schemeClr val="hlink"/>
                </a:solidFill>
                <a:hlinkClick r:id="rId3"/>
              </a:rPr>
              <a:t>Sample Time –</a:t>
            </a:r>
            <a:r>
              <a:rPr lang="en-GB" sz="1000"/>
              <a:t> The PID algorithm functions best if it is evaluated at a regular interval. If the algorithm is aware of this interval, we can also simplify some of the internal math.</a:t>
            </a:r>
            <a:endParaRPr sz="1000"/>
          </a:p>
          <a:p>
            <a:pPr indent="0" lvl="0" marL="0" rtl="0" algn="l">
              <a:spcBef>
                <a:spcPts val="0"/>
              </a:spcBef>
              <a:spcAft>
                <a:spcPts val="0"/>
              </a:spcAft>
              <a:buNone/>
            </a:pPr>
            <a:r>
              <a:t/>
            </a:r>
            <a:endParaRPr sz="1000"/>
          </a:p>
          <a:p>
            <a:pPr indent="-292100" lvl="0" marL="457200" rtl="0" algn="l">
              <a:spcBef>
                <a:spcPts val="0"/>
              </a:spcBef>
              <a:spcAft>
                <a:spcPts val="0"/>
              </a:spcAft>
              <a:buSzPts val="1000"/>
              <a:buAutoNum type="arabicPeriod"/>
            </a:pPr>
            <a:r>
              <a:rPr lang="en-GB" sz="1000" u="sng">
                <a:solidFill>
                  <a:schemeClr val="hlink"/>
                </a:solidFill>
                <a:hlinkClick r:id="rId4"/>
              </a:rPr>
              <a:t>Derivative Kick –</a:t>
            </a:r>
            <a:r>
              <a:rPr lang="en-GB" sz="1000"/>
              <a:t> Not the biggest deal, but easy to get rid of, so we’re going to do just that.</a:t>
            </a:r>
            <a:endParaRPr sz="1000"/>
          </a:p>
          <a:p>
            <a:pPr indent="0" lvl="0" marL="0" rtl="0" algn="l">
              <a:spcBef>
                <a:spcPts val="0"/>
              </a:spcBef>
              <a:spcAft>
                <a:spcPts val="0"/>
              </a:spcAft>
              <a:buNone/>
            </a:pPr>
            <a:r>
              <a:t/>
            </a:r>
            <a:endParaRPr sz="1000"/>
          </a:p>
          <a:p>
            <a:pPr indent="-292100" lvl="0" marL="457200" rtl="0" algn="l">
              <a:spcBef>
                <a:spcPts val="0"/>
              </a:spcBef>
              <a:spcAft>
                <a:spcPts val="0"/>
              </a:spcAft>
              <a:buSzPts val="1000"/>
              <a:buAutoNum type="arabicPeriod"/>
            </a:pPr>
            <a:r>
              <a:rPr lang="en-GB" sz="1000" u="sng">
                <a:solidFill>
                  <a:schemeClr val="hlink"/>
                </a:solidFill>
                <a:hlinkClick r:id="rId5"/>
              </a:rPr>
              <a:t>On-The-Fly Tuning Changes –</a:t>
            </a:r>
            <a:r>
              <a:rPr lang="en-GB" sz="1000"/>
              <a:t> A good PID algorithm is one where tuning parameters can be changed without jolting the internal workings.</a:t>
            </a:r>
            <a:endParaRPr sz="1000"/>
          </a:p>
          <a:p>
            <a:pPr indent="0" lvl="0" marL="0" rtl="0" algn="l">
              <a:spcBef>
                <a:spcPts val="0"/>
              </a:spcBef>
              <a:spcAft>
                <a:spcPts val="0"/>
              </a:spcAft>
              <a:buNone/>
            </a:pPr>
            <a:r>
              <a:t/>
            </a:r>
            <a:endParaRPr sz="1000"/>
          </a:p>
          <a:p>
            <a:pPr indent="-292100" lvl="0" marL="457200" rtl="0" algn="l">
              <a:spcBef>
                <a:spcPts val="0"/>
              </a:spcBef>
              <a:spcAft>
                <a:spcPts val="0"/>
              </a:spcAft>
              <a:buSzPts val="1000"/>
              <a:buAutoNum type="arabicPeriod"/>
            </a:pPr>
            <a:r>
              <a:rPr lang="en-GB" sz="1000" u="sng">
                <a:solidFill>
                  <a:schemeClr val="hlink"/>
                </a:solidFill>
                <a:hlinkClick r:id="rId6"/>
              </a:rPr>
              <a:t>Reset Windup Mitigation –</a:t>
            </a:r>
            <a:r>
              <a:rPr lang="en-GB" sz="1000"/>
              <a:t>We’ll go into what Reset Windup is, and implement a solution with side benefits</a:t>
            </a:r>
            <a:endParaRPr sz="1000"/>
          </a:p>
          <a:p>
            <a:pPr indent="0" lvl="0" marL="0" rtl="0" algn="l">
              <a:spcBef>
                <a:spcPts val="0"/>
              </a:spcBef>
              <a:spcAft>
                <a:spcPts val="0"/>
              </a:spcAft>
              <a:buNone/>
            </a:pPr>
            <a:r>
              <a:t/>
            </a:r>
            <a:endParaRPr sz="1000"/>
          </a:p>
          <a:p>
            <a:pPr indent="-292100" lvl="0" marL="457200" rtl="0" algn="l">
              <a:spcBef>
                <a:spcPts val="0"/>
              </a:spcBef>
              <a:spcAft>
                <a:spcPts val="0"/>
              </a:spcAft>
              <a:buSzPts val="1000"/>
              <a:buAutoNum type="arabicPeriod"/>
            </a:pPr>
            <a:r>
              <a:rPr lang="en-GB" sz="1000" u="sng">
                <a:solidFill>
                  <a:schemeClr val="hlink"/>
                </a:solidFill>
                <a:hlinkClick r:id="rId7"/>
              </a:rPr>
              <a:t>On/Off (Auto/Manual) –</a:t>
            </a:r>
            <a:r>
              <a:rPr lang="en-GB" sz="1000"/>
              <a:t> In most applications, there is a desire to sometimes turn off the PID controller and adjust the output by hand, without the controller interfering</a:t>
            </a:r>
            <a:endParaRPr sz="1000"/>
          </a:p>
          <a:p>
            <a:pPr indent="0" lvl="0" marL="0" rtl="0" algn="l">
              <a:spcBef>
                <a:spcPts val="0"/>
              </a:spcBef>
              <a:spcAft>
                <a:spcPts val="0"/>
              </a:spcAft>
              <a:buNone/>
            </a:pPr>
            <a:r>
              <a:t/>
            </a:r>
            <a:endParaRPr sz="1000"/>
          </a:p>
          <a:p>
            <a:pPr indent="-292100" lvl="0" marL="457200" rtl="0" algn="l">
              <a:spcBef>
                <a:spcPts val="0"/>
              </a:spcBef>
              <a:spcAft>
                <a:spcPts val="0"/>
              </a:spcAft>
              <a:buSzPts val="1000"/>
              <a:buAutoNum type="arabicPeriod"/>
            </a:pPr>
            <a:r>
              <a:rPr lang="en-GB" sz="1000" u="sng">
                <a:solidFill>
                  <a:schemeClr val="hlink"/>
                </a:solidFill>
                <a:hlinkClick r:id="rId8"/>
              </a:rPr>
              <a:t>Initialization –</a:t>
            </a:r>
            <a:r>
              <a:rPr lang="en-GB" sz="1000"/>
              <a:t> When the controller first turns on, we want a “bumpless transfer.” That is, we don’t want the output to suddenly jerk to some new value</a:t>
            </a:r>
            <a:endParaRPr sz="1000"/>
          </a:p>
          <a:p>
            <a:pPr indent="0" lvl="0" marL="0" rtl="0" algn="l">
              <a:spcBef>
                <a:spcPts val="0"/>
              </a:spcBef>
              <a:spcAft>
                <a:spcPts val="0"/>
              </a:spcAft>
              <a:buNone/>
            </a:pPr>
            <a:r>
              <a:t/>
            </a:r>
            <a:endParaRPr sz="1000"/>
          </a:p>
          <a:p>
            <a:pPr indent="-292100" lvl="0" marL="457200" rtl="0" algn="l">
              <a:spcBef>
                <a:spcPts val="0"/>
              </a:spcBef>
              <a:spcAft>
                <a:spcPts val="0"/>
              </a:spcAft>
              <a:buSzPts val="1000"/>
              <a:buAutoNum type="arabicPeriod"/>
            </a:pPr>
            <a:r>
              <a:rPr lang="en-GB" sz="1000" u="sng">
                <a:solidFill>
                  <a:schemeClr val="hlink"/>
                </a:solidFill>
                <a:hlinkClick r:id="rId9"/>
              </a:rPr>
              <a:t>Controller Direction –</a:t>
            </a:r>
            <a:r>
              <a:rPr lang="en-GB" sz="1000"/>
              <a:t> This last one isn’t a change in the name of robustness per se. it’s designed to ensure that the user enters tuning parameters with the correct sign.</a:t>
            </a:r>
            <a:endParaRPr sz="1000"/>
          </a:p>
          <a:p>
            <a:pPr indent="0" lvl="0" marL="0" rtl="0" algn="l">
              <a:spcBef>
                <a:spcPts val="0"/>
              </a:spcBef>
              <a:spcAft>
                <a:spcPts val="0"/>
              </a:spcAft>
              <a:buNone/>
            </a:pPr>
            <a:r>
              <a:t/>
            </a:r>
            <a:endParaRPr sz="800"/>
          </a:p>
        </p:txBody>
      </p:sp>
      <p:sp>
        <p:nvSpPr>
          <p:cNvPr id="491" name="Google Shape;491;p26"/>
          <p:cNvSpPr txBox="1"/>
          <p:nvPr/>
        </p:nvSpPr>
        <p:spPr>
          <a:xfrm>
            <a:off x="3103500" y="207350"/>
            <a:ext cx="1257600" cy="2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hlinkClick r:id="rId10"/>
              </a:rPr>
              <a:t>LINK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27"/>
          <p:cNvSpPr txBox="1"/>
          <p:nvPr>
            <p:ph idx="1" type="body"/>
          </p:nvPr>
        </p:nvSpPr>
        <p:spPr>
          <a:xfrm>
            <a:off x="311700" y="156750"/>
            <a:ext cx="8520600" cy="4472400"/>
          </a:xfrm>
          <a:prstGeom prst="rect">
            <a:avLst/>
          </a:prstGeom>
        </p:spPr>
        <p:txBody>
          <a:bodyPr anchorCtr="0" anchor="t" bIns="91425" lIns="91425" spcFirstLastPara="1" rIns="91425" wrap="square" tIns="91425">
            <a:noAutofit/>
          </a:bodyPr>
          <a:lstStyle/>
          <a:p>
            <a:pPr indent="-279400" lvl="0" marL="457200" rtl="0" algn="l">
              <a:lnSpc>
                <a:spcPct val="171428"/>
              </a:lnSpc>
              <a:spcBef>
                <a:spcPts val="0"/>
              </a:spcBef>
              <a:spcAft>
                <a:spcPts val="0"/>
              </a:spcAft>
              <a:buClr>
                <a:schemeClr val="dk1"/>
              </a:buClr>
              <a:buSzPts val="800"/>
              <a:buChar char="●"/>
            </a:pPr>
            <a:r>
              <a:rPr b="1" lang="en-GB" sz="800">
                <a:solidFill>
                  <a:schemeClr val="dk1"/>
                </a:solidFill>
                <a:highlight>
                  <a:srgbClr val="FFFFFF"/>
                </a:highlight>
              </a:rPr>
              <a:t>Proportional Gain coefficient</a:t>
            </a:r>
            <a:r>
              <a:rPr lang="en-GB" sz="800">
                <a:solidFill>
                  <a:schemeClr val="dk1"/>
                </a:solidFill>
                <a:highlight>
                  <a:srgbClr val="FFFFFF"/>
                </a:highlight>
              </a:rPr>
              <a:t> – you quadcopter can fly relatively stable without other parameters but this one. This coefficient determines which is more important, human control or the values measured by the gyroscopes. The higher the coefficient, the higher the quadcopter seems more sensitive and reactive to angular change. If it is too low, the quadcopter will appear sluggish and will be harder to keep steady. You might find the multicopter starts to oscillate with a high frequency when P gain is too high.</a:t>
            </a:r>
            <a:endParaRPr sz="800">
              <a:solidFill>
                <a:schemeClr val="dk1"/>
              </a:solidFill>
              <a:highlight>
                <a:srgbClr val="FFFFFF"/>
              </a:highlight>
            </a:endParaRPr>
          </a:p>
          <a:p>
            <a:pPr indent="-279400" lvl="0" marL="457200" rtl="0" algn="l">
              <a:lnSpc>
                <a:spcPct val="171428"/>
              </a:lnSpc>
              <a:spcBef>
                <a:spcPts val="0"/>
              </a:spcBef>
              <a:spcAft>
                <a:spcPts val="0"/>
              </a:spcAft>
              <a:buClr>
                <a:schemeClr val="dk1"/>
              </a:buClr>
              <a:buSzPts val="800"/>
              <a:buChar char="●"/>
            </a:pPr>
            <a:r>
              <a:rPr b="1" lang="en-GB" sz="800">
                <a:solidFill>
                  <a:schemeClr val="dk1"/>
                </a:solidFill>
                <a:highlight>
                  <a:srgbClr val="FFFFFF"/>
                </a:highlight>
              </a:rPr>
              <a:t>Integral Gain coefficient</a:t>
            </a:r>
            <a:r>
              <a:rPr lang="en-GB" sz="800">
                <a:solidFill>
                  <a:schemeClr val="dk1"/>
                </a:solidFill>
                <a:highlight>
                  <a:srgbClr val="FFFFFF"/>
                </a:highlight>
              </a:rPr>
              <a:t> – this coefficient can increase the precision of the angular position. For example when the quadcopter is disturbed and its angle changes 20 degrees , in theory it remembers how much the angle has changed and will return 20 degrees. In practice if you make your quadcopter go forward and the force it to stop, the quadcopter will continue for some time to counteract the action. Without this term, the opposition does not last as long. This term is especially useful with irregular wind, and ground effect (turbulence from motors). However, when the I value gets too high your quadcopter might begin to have slow reaction and a decrease effect of the Proportional gain as consequence, it will also start to oscillate like having high P gain, but with a lower frequency.</a:t>
            </a:r>
            <a:endParaRPr sz="800">
              <a:solidFill>
                <a:schemeClr val="dk1"/>
              </a:solidFill>
              <a:highlight>
                <a:srgbClr val="FFFFFF"/>
              </a:highlight>
            </a:endParaRPr>
          </a:p>
          <a:p>
            <a:pPr indent="-279400" lvl="0" marL="457200" rtl="0" algn="l">
              <a:lnSpc>
                <a:spcPct val="171428"/>
              </a:lnSpc>
              <a:spcBef>
                <a:spcPts val="0"/>
              </a:spcBef>
              <a:spcAft>
                <a:spcPts val="0"/>
              </a:spcAft>
              <a:buClr>
                <a:schemeClr val="dk1"/>
              </a:buClr>
              <a:buSzPts val="800"/>
              <a:buChar char="●"/>
            </a:pPr>
            <a:r>
              <a:rPr b="1" lang="en-GB" sz="800">
                <a:solidFill>
                  <a:schemeClr val="dk1"/>
                </a:solidFill>
                <a:highlight>
                  <a:srgbClr val="FFFFFF"/>
                </a:highlight>
              </a:rPr>
              <a:t>Derivative Gain coefficient –</a:t>
            </a:r>
            <a:r>
              <a:rPr lang="en-GB" sz="800">
                <a:solidFill>
                  <a:schemeClr val="dk1"/>
                </a:solidFill>
                <a:highlight>
                  <a:srgbClr val="FFFFFF"/>
                </a:highlight>
              </a:rPr>
              <a:t> this coefficient allows the quadcopter to reach more quickly the desired attitude. Some people call it the accelerator parameter because it amplifies the user input. It also decrease control action fast when the error is decreasing fast. In practice it will increase the reaction speed and in certain cases an increase the effect of the P gain.</a:t>
            </a:r>
            <a:endParaRPr sz="800">
              <a:solidFill>
                <a:schemeClr val="dk1"/>
              </a:solidFill>
              <a:highlight>
                <a:srgbClr val="FFFFFF"/>
              </a:highlight>
            </a:endParaRPr>
          </a:p>
          <a:p>
            <a:pPr indent="0" lvl="0" marL="0" rtl="0" algn="l">
              <a:lnSpc>
                <a:spcPct val="170000"/>
              </a:lnSpc>
              <a:spcBef>
                <a:spcPts val="0"/>
              </a:spcBef>
              <a:spcAft>
                <a:spcPts val="0"/>
              </a:spcAft>
              <a:buNone/>
            </a:pPr>
            <a:r>
              <a:rPr b="1" lang="en-GB" sz="800">
                <a:solidFill>
                  <a:schemeClr val="dk1"/>
                </a:solidFill>
                <a:highlight>
                  <a:srgbClr val="FFFFFF"/>
                </a:highlight>
              </a:rPr>
              <a:t>Aerobatic flight</a:t>
            </a:r>
            <a:r>
              <a:rPr lang="en-GB" sz="800">
                <a:solidFill>
                  <a:schemeClr val="dk1"/>
                </a:solidFill>
                <a:highlight>
                  <a:srgbClr val="FFFFFF"/>
                </a:highlight>
              </a:rPr>
              <a:t>:</a:t>
            </a:r>
            <a:endParaRPr sz="800">
              <a:solidFill>
                <a:schemeClr val="dk1"/>
              </a:solidFill>
              <a:highlight>
                <a:srgbClr val="FFFFFF"/>
              </a:highlight>
            </a:endParaRPr>
          </a:p>
          <a:p>
            <a:pPr indent="-279400" lvl="0" marL="457200" rtl="0" algn="l">
              <a:lnSpc>
                <a:spcPct val="171428"/>
              </a:lnSpc>
              <a:spcBef>
                <a:spcPts val="0"/>
              </a:spcBef>
              <a:spcAft>
                <a:spcPts val="0"/>
              </a:spcAft>
              <a:buClr>
                <a:schemeClr val="dk1"/>
              </a:buClr>
              <a:buSzPts val="800"/>
              <a:buChar char="●"/>
            </a:pPr>
            <a:r>
              <a:rPr lang="en-GB" sz="800">
                <a:solidFill>
                  <a:schemeClr val="dk1"/>
                </a:solidFill>
                <a:highlight>
                  <a:srgbClr val="FFFFFF"/>
                </a:highlight>
              </a:rPr>
              <a:t>Requires a slightly higher P</a:t>
            </a:r>
            <a:endParaRPr sz="800">
              <a:solidFill>
                <a:schemeClr val="dk1"/>
              </a:solidFill>
              <a:highlight>
                <a:srgbClr val="FFFFFF"/>
              </a:highlight>
            </a:endParaRPr>
          </a:p>
          <a:p>
            <a:pPr indent="-279400" lvl="0" marL="457200" rtl="0" algn="l">
              <a:lnSpc>
                <a:spcPct val="171428"/>
              </a:lnSpc>
              <a:spcBef>
                <a:spcPts val="0"/>
              </a:spcBef>
              <a:spcAft>
                <a:spcPts val="0"/>
              </a:spcAft>
              <a:buClr>
                <a:schemeClr val="dk1"/>
              </a:buClr>
              <a:buSzPts val="800"/>
              <a:buChar char="●"/>
            </a:pPr>
            <a:r>
              <a:rPr lang="en-GB" sz="800">
                <a:solidFill>
                  <a:schemeClr val="dk1"/>
                </a:solidFill>
                <a:highlight>
                  <a:srgbClr val="FFFFFF"/>
                </a:highlight>
              </a:rPr>
              <a:t>Requires a slightly lower I</a:t>
            </a:r>
            <a:endParaRPr sz="800">
              <a:solidFill>
                <a:schemeClr val="dk1"/>
              </a:solidFill>
              <a:highlight>
                <a:srgbClr val="FFFFFF"/>
              </a:highlight>
            </a:endParaRPr>
          </a:p>
          <a:p>
            <a:pPr indent="-279400" lvl="0" marL="457200" rtl="0" algn="l">
              <a:lnSpc>
                <a:spcPct val="171428"/>
              </a:lnSpc>
              <a:spcBef>
                <a:spcPts val="0"/>
              </a:spcBef>
              <a:spcAft>
                <a:spcPts val="0"/>
              </a:spcAft>
              <a:buClr>
                <a:schemeClr val="dk1"/>
              </a:buClr>
              <a:buSzPts val="800"/>
              <a:buChar char="●"/>
            </a:pPr>
            <a:r>
              <a:rPr lang="en-GB" sz="800">
                <a:solidFill>
                  <a:schemeClr val="dk1"/>
                </a:solidFill>
                <a:highlight>
                  <a:srgbClr val="FFFFFF"/>
                </a:highlight>
              </a:rPr>
              <a:t>Increase D</a:t>
            </a:r>
            <a:endParaRPr sz="800">
              <a:solidFill>
                <a:schemeClr val="dk1"/>
              </a:solidFill>
              <a:highlight>
                <a:srgbClr val="FFFFFF"/>
              </a:highlight>
            </a:endParaRPr>
          </a:p>
          <a:p>
            <a:pPr indent="0" lvl="0" marL="0" rtl="0" algn="l">
              <a:lnSpc>
                <a:spcPct val="170000"/>
              </a:lnSpc>
              <a:spcBef>
                <a:spcPts val="0"/>
              </a:spcBef>
              <a:spcAft>
                <a:spcPts val="0"/>
              </a:spcAft>
              <a:buNone/>
            </a:pPr>
            <a:r>
              <a:rPr b="1" lang="en-GB" sz="800">
                <a:solidFill>
                  <a:schemeClr val="dk1"/>
                </a:solidFill>
                <a:highlight>
                  <a:srgbClr val="FFFFFF"/>
                </a:highlight>
              </a:rPr>
              <a:t>Gentle smooth flight</a:t>
            </a:r>
            <a:r>
              <a:rPr lang="en-GB" sz="800">
                <a:solidFill>
                  <a:schemeClr val="dk1"/>
                </a:solidFill>
                <a:highlight>
                  <a:srgbClr val="FFFFFF"/>
                </a:highlight>
              </a:rPr>
              <a:t>:</a:t>
            </a:r>
            <a:endParaRPr sz="800">
              <a:solidFill>
                <a:schemeClr val="dk1"/>
              </a:solidFill>
              <a:highlight>
                <a:srgbClr val="FFFFFF"/>
              </a:highlight>
            </a:endParaRPr>
          </a:p>
          <a:p>
            <a:pPr indent="-279400" lvl="0" marL="457200" rtl="0" algn="l">
              <a:lnSpc>
                <a:spcPct val="171428"/>
              </a:lnSpc>
              <a:spcBef>
                <a:spcPts val="0"/>
              </a:spcBef>
              <a:spcAft>
                <a:spcPts val="0"/>
              </a:spcAft>
              <a:buClr>
                <a:schemeClr val="dk1"/>
              </a:buClr>
              <a:buSzPts val="800"/>
              <a:buChar char="●"/>
            </a:pPr>
            <a:r>
              <a:rPr lang="en-GB" sz="800">
                <a:solidFill>
                  <a:schemeClr val="dk1"/>
                </a:solidFill>
                <a:highlight>
                  <a:srgbClr val="FFFFFF"/>
                </a:highlight>
              </a:rPr>
              <a:t>requires a slightly lower lower P</a:t>
            </a:r>
            <a:endParaRPr sz="800">
              <a:solidFill>
                <a:schemeClr val="dk1"/>
              </a:solidFill>
              <a:highlight>
                <a:srgbClr val="FFFFFF"/>
              </a:highlight>
            </a:endParaRPr>
          </a:p>
          <a:p>
            <a:pPr indent="-279400" lvl="0" marL="457200" rtl="0" algn="l">
              <a:lnSpc>
                <a:spcPct val="171428"/>
              </a:lnSpc>
              <a:spcBef>
                <a:spcPts val="0"/>
              </a:spcBef>
              <a:spcAft>
                <a:spcPts val="0"/>
              </a:spcAft>
              <a:buClr>
                <a:schemeClr val="dk1"/>
              </a:buClr>
              <a:buSzPts val="800"/>
              <a:buChar char="●"/>
            </a:pPr>
            <a:r>
              <a:rPr lang="en-GB" sz="800">
                <a:solidFill>
                  <a:schemeClr val="dk1"/>
                </a:solidFill>
                <a:highlight>
                  <a:srgbClr val="FFFFFF"/>
                </a:highlight>
              </a:rPr>
              <a:t>Requires a slightly higher I</a:t>
            </a:r>
            <a:endParaRPr sz="800">
              <a:solidFill>
                <a:schemeClr val="dk1"/>
              </a:solidFill>
              <a:highlight>
                <a:srgbClr val="FFFFFF"/>
              </a:highlight>
            </a:endParaRPr>
          </a:p>
          <a:p>
            <a:pPr indent="-279400" lvl="0" marL="457200" rtl="0" algn="l">
              <a:lnSpc>
                <a:spcPct val="171428"/>
              </a:lnSpc>
              <a:spcBef>
                <a:spcPts val="0"/>
              </a:spcBef>
              <a:spcAft>
                <a:spcPts val="0"/>
              </a:spcAft>
              <a:buClr>
                <a:schemeClr val="dk1"/>
              </a:buClr>
              <a:buSzPts val="800"/>
              <a:buChar char="●"/>
            </a:pPr>
            <a:r>
              <a:rPr lang="en-GB" sz="800">
                <a:solidFill>
                  <a:schemeClr val="dk1"/>
                </a:solidFill>
                <a:highlight>
                  <a:srgbClr val="FFFFFF"/>
                </a:highlight>
              </a:rPr>
              <a:t>Decrease D</a:t>
            </a:r>
            <a:endParaRPr sz="800">
              <a:solidFill>
                <a:schemeClr val="dk1"/>
              </a:solidFill>
              <a:highlight>
                <a:srgbClr val="FFFFFF"/>
              </a:highlight>
            </a:endParaRPr>
          </a:p>
          <a:p>
            <a:pPr indent="0" lvl="0" marL="0" rtl="0" algn="l">
              <a:spcBef>
                <a:spcPts val="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28"/>
          <p:cNvSpPr/>
          <p:nvPr/>
        </p:nvSpPr>
        <p:spPr>
          <a:xfrm>
            <a:off x="2625600" y="3609225"/>
            <a:ext cx="768300" cy="12324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Angle</a:t>
            </a:r>
            <a:endParaRPr/>
          </a:p>
          <a:p>
            <a:pPr indent="0" lvl="0" marL="0" rtl="0" algn="ctr">
              <a:spcBef>
                <a:spcPts val="0"/>
              </a:spcBef>
              <a:spcAft>
                <a:spcPts val="0"/>
              </a:spcAft>
              <a:buNone/>
            </a:pPr>
            <a:r>
              <a:rPr lang="en-GB"/>
              <a:t>PID</a:t>
            </a:r>
            <a:endParaRPr/>
          </a:p>
        </p:txBody>
      </p:sp>
      <p:sp>
        <p:nvSpPr>
          <p:cNvPr id="502" name="Google Shape;502;p28"/>
          <p:cNvSpPr/>
          <p:nvPr/>
        </p:nvSpPr>
        <p:spPr>
          <a:xfrm>
            <a:off x="2587775" y="3609225"/>
            <a:ext cx="1403700" cy="622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8"/>
          <p:cNvSpPr/>
          <p:nvPr/>
        </p:nvSpPr>
        <p:spPr>
          <a:xfrm>
            <a:off x="2587775" y="4225425"/>
            <a:ext cx="806100" cy="622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8"/>
          <p:cNvSpPr/>
          <p:nvPr/>
        </p:nvSpPr>
        <p:spPr>
          <a:xfrm>
            <a:off x="5923200" y="3687700"/>
            <a:ext cx="1403700" cy="12324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Rate</a:t>
            </a:r>
            <a:endParaRPr/>
          </a:p>
          <a:p>
            <a:pPr indent="0" lvl="0" marL="0" rtl="0" algn="ctr">
              <a:spcBef>
                <a:spcPts val="0"/>
              </a:spcBef>
              <a:spcAft>
                <a:spcPts val="0"/>
              </a:spcAft>
              <a:buNone/>
            </a:pPr>
            <a:r>
              <a:rPr lang="en-GB"/>
              <a:t>PID</a:t>
            </a:r>
            <a:endParaRPr/>
          </a:p>
        </p:txBody>
      </p:sp>
      <p:sp>
        <p:nvSpPr>
          <p:cNvPr id="505" name="Google Shape;505;p28"/>
          <p:cNvSpPr txBox="1"/>
          <p:nvPr/>
        </p:nvSpPr>
        <p:spPr>
          <a:xfrm>
            <a:off x="1347600" y="3835525"/>
            <a:ext cx="4218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8"/>
          <p:cNvSpPr txBox="1"/>
          <p:nvPr/>
        </p:nvSpPr>
        <p:spPr>
          <a:xfrm>
            <a:off x="378750" y="3580875"/>
            <a:ext cx="1461300" cy="6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Actual Angle from Sensor </a:t>
            </a:r>
            <a:r>
              <a:rPr lang="en-GB">
                <a:solidFill>
                  <a:schemeClr val="dk1"/>
                </a:solidFill>
              </a:rPr>
              <a:t>(°)</a:t>
            </a:r>
            <a:endParaRPr/>
          </a:p>
        </p:txBody>
      </p:sp>
      <p:sp>
        <p:nvSpPr>
          <p:cNvPr id="507" name="Google Shape;507;p28"/>
          <p:cNvSpPr txBox="1"/>
          <p:nvPr/>
        </p:nvSpPr>
        <p:spPr>
          <a:xfrm>
            <a:off x="378750" y="4197075"/>
            <a:ext cx="1403700" cy="6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Desired Angle from Pilot </a:t>
            </a:r>
            <a:r>
              <a:rPr lang="en-GB">
                <a:solidFill>
                  <a:schemeClr val="dk1"/>
                </a:solidFill>
              </a:rPr>
              <a:t>(°)</a:t>
            </a:r>
            <a:endParaRPr/>
          </a:p>
        </p:txBody>
      </p:sp>
      <p:sp>
        <p:nvSpPr>
          <p:cNvPr id="508" name="Google Shape;508;p28"/>
          <p:cNvSpPr txBox="1"/>
          <p:nvPr/>
        </p:nvSpPr>
        <p:spPr>
          <a:xfrm>
            <a:off x="3806200" y="4194850"/>
            <a:ext cx="1126200" cy="6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Desired Rotational Rate </a:t>
            </a:r>
            <a:r>
              <a:rPr lang="en-GB">
                <a:solidFill>
                  <a:schemeClr val="dk1"/>
                </a:solidFill>
              </a:rPr>
              <a:t>(°/sec)</a:t>
            </a:r>
            <a:endParaRPr/>
          </a:p>
        </p:txBody>
      </p:sp>
      <p:sp>
        <p:nvSpPr>
          <p:cNvPr id="509" name="Google Shape;509;p28"/>
          <p:cNvSpPr txBox="1"/>
          <p:nvPr/>
        </p:nvSpPr>
        <p:spPr>
          <a:xfrm>
            <a:off x="3713850" y="3229125"/>
            <a:ext cx="1257000" cy="9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Rotational Rate from Gyro </a:t>
            </a:r>
            <a:r>
              <a:rPr lang="en-GB">
                <a:solidFill>
                  <a:schemeClr val="dk1"/>
                </a:solidFill>
              </a:rPr>
              <a:t>(°/sec)</a:t>
            </a:r>
            <a:endParaRPr/>
          </a:p>
        </p:txBody>
      </p:sp>
      <p:sp>
        <p:nvSpPr>
          <p:cNvPr id="510" name="Google Shape;510;p28"/>
          <p:cNvSpPr txBox="1"/>
          <p:nvPr/>
        </p:nvSpPr>
        <p:spPr>
          <a:xfrm>
            <a:off x="8012700" y="4194850"/>
            <a:ext cx="932100" cy="6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Motor adjust</a:t>
            </a:r>
            <a:endParaRPr/>
          </a:p>
        </p:txBody>
      </p:sp>
      <p:cxnSp>
        <p:nvCxnSpPr>
          <p:cNvPr id="511" name="Google Shape;511;p28"/>
          <p:cNvCxnSpPr>
            <a:stCxn id="506" idx="3"/>
            <a:endCxn id="502" idx="1"/>
          </p:cNvCxnSpPr>
          <p:nvPr/>
        </p:nvCxnSpPr>
        <p:spPr>
          <a:xfrm>
            <a:off x="1840050" y="3920325"/>
            <a:ext cx="747600" cy="0"/>
          </a:xfrm>
          <a:prstGeom prst="straightConnector1">
            <a:avLst/>
          </a:prstGeom>
          <a:noFill/>
          <a:ln cap="flat" cmpd="sng" w="19050">
            <a:solidFill>
              <a:schemeClr val="dk2"/>
            </a:solidFill>
            <a:prstDash val="solid"/>
            <a:round/>
            <a:headEnd len="med" w="med" type="none"/>
            <a:tailEnd len="med" w="med" type="stealth"/>
          </a:ln>
        </p:spPr>
      </p:cxnSp>
      <p:cxnSp>
        <p:nvCxnSpPr>
          <p:cNvPr id="512" name="Google Shape;512;p28"/>
          <p:cNvCxnSpPr>
            <a:stCxn id="507" idx="3"/>
            <a:endCxn id="503" idx="1"/>
          </p:cNvCxnSpPr>
          <p:nvPr/>
        </p:nvCxnSpPr>
        <p:spPr>
          <a:xfrm>
            <a:off x="1782450" y="4536525"/>
            <a:ext cx="805200" cy="0"/>
          </a:xfrm>
          <a:prstGeom prst="straightConnector1">
            <a:avLst/>
          </a:prstGeom>
          <a:noFill/>
          <a:ln cap="flat" cmpd="sng" w="19050">
            <a:solidFill>
              <a:schemeClr val="dk2"/>
            </a:solidFill>
            <a:prstDash val="solid"/>
            <a:round/>
            <a:headEnd len="med" w="med" type="none"/>
            <a:tailEnd len="med" w="med" type="stealth"/>
          </a:ln>
        </p:spPr>
      </p:cxnSp>
      <p:cxnSp>
        <p:nvCxnSpPr>
          <p:cNvPr id="513" name="Google Shape;513;p28"/>
          <p:cNvCxnSpPr>
            <a:stCxn id="503" idx="3"/>
            <a:endCxn id="508" idx="1"/>
          </p:cNvCxnSpPr>
          <p:nvPr/>
        </p:nvCxnSpPr>
        <p:spPr>
          <a:xfrm flipH="1" rot="10800000">
            <a:off x="3393875" y="4534425"/>
            <a:ext cx="412200" cy="2100"/>
          </a:xfrm>
          <a:prstGeom prst="straightConnector1">
            <a:avLst/>
          </a:prstGeom>
          <a:noFill/>
          <a:ln cap="flat" cmpd="sng" w="19050">
            <a:solidFill>
              <a:schemeClr val="dk2"/>
            </a:solidFill>
            <a:prstDash val="solid"/>
            <a:round/>
            <a:headEnd len="med" w="med" type="none"/>
            <a:tailEnd len="med" w="med" type="stealth"/>
          </a:ln>
        </p:spPr>
      </p:cxnSp>
      <p:sp>
        <p:nvSpPr>
          <p:cNvPr id="514" name="Google Shape;514;p28"/>
          <p:cNvSpPr/>
          <p:nvPr/>
        </p:nvSpPr>
        <p:spPr>
          <a:xfrm>
            <a:off x="5864375" y="3685425"/>
            <a:ext cx="1403700" cy="622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8"/>
          <p:cNvSpPr/>
          <p:nvPr/>
        </p:nvSpPr>
        <p:spPr>
          <a:xfrm>
            <a:off x="5864375" y="4225425"/>
            <a:ext cx="1550100" cy="622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6" name="Google Shape;516;p28"/>
          <p:cNvCxnSpPr>
            <a:stCxn id="509" idx="3"/>
            <a:endCxn id="514" idx="1"/>
          </p:cNvCxnSpPr>
          <p:nvPr/>
        </p:nvCxnSpPr>
        <p:spPr>
          <a:xfrm>
            <a:off x="4970850" y="3685875"/>
            <a:ext cx="893400" cy="310800"/>
          </a:xfrm>
          <a:prstGeom prst="bentConnector3">
            <a:avLst>
              <a:gd fmla="val 50007" name="adj1"/>
            </a:avLst>
          </a:prstGeom>
          <a:noFill/>
          <a:ln cap="flat" cmpd="sng" w="19050">
            <a:solidFill>
              <a:schemeClr val="dk2"/>
            </a:solidFill>
            <a:prstDash val="solid"/>
            <a:round/>
            <a:headEnd len="med" w="med" type="none"/>
            <a:tailEnd len="med" w="med" type="stealth"/>
          </a:ln>
        </p:spPr>
      </p:cxnSp>
      <p:cxnSp>
        <p:nvCxnSpPr>
          <p:cNvPr id="517" name="Google Shape;517;p28"/>
          <p:cNvCxnSpPr>
            <a:stCxn id="508" idx="3"/>
            <a:endCxn id="515" idx="1"/>
          </p:cNvCxnSpPr>
          <p:nvPr/>
        </p:nvCxnSpPr>
        <p:spPr>
          <a:xfrm>
            <a:off x="4932400" y="4534300"/>
            <a:ext cx="932100" cy="2100"/>
          </a:xfrm>
          <a:prstGeom prst="straightConnector1">
            <a:avLst/>
          </a:prstGeom>
          <a:noFill/>
          <a:ln cap="flat" cmpd="sng" w="19050">
            <a:solidFill>
              <a:schemeClr val="dk2"/>
            </a:solidFill>
            <a:prstDash val="solid"/>
            <a:round/>
            <a:headEnd len="med" w="med" type="none"/>
            <a:tailEnd len="med" w="med" type="stealth"/>
          </a:ln>
        </p:spPr>
      </p:cxnSp>
      <p:cxnSp>
        <p:nvCxnSpPr>
          <p:cNvPr id="518" name="Google Shape;518;p28"/>
          <p:cNvCxnSpPr>
            <a:stCxn id="515" idx="3"/>
            <a:endCxn id="515" idx="3"/>
          </p:cNvCxnSpPr>
          <p:nvPr/>
        </p:nvCxnSpPr>
        <p:spPr>
          <a:xfrm>
            <a:off x="7414475" y="4536525"/>
            <a:ext cx="0" cy="0"/>
          </a:xfrm>
          <a:prstGeom prst="straightConnector1">
            <a:avLst/>
          </a:prstGeom>
          <a:noFill/>
          <a:ln cap="flat" cmpd="sng" w="9525">
            <a:solidFill>
              <a:schemeClr val="dk2"/>
            </a:solidFill>
            <a:prstDash val="solid"/>
            <a:round/>
            <a:headEnd len="med" w="med" type="none"/>
            <a:tailEnd len="med" w="med" type="none"/>
          </a:ln>
        </p:spPr>
      </p:cxnSp>
      <p:cxnSp>
        <p:nvCxnSpPr>
          <p:cNvPr id="519" name="Google Shape;519;p28"/>
          <p:cNvCxnSpPr>
            <a:stCxn id="515" idx="3"/>
            <a:endCxn id="510" idx="1"/>
          </p:cNvCxnSpPr>
          <p:nvPr/>
        </p:nvCxnSpPr>
        <p:spPr>
          <a:xfrm flipH="1" rot="10800000">
            <a:off x="7414475" y="4534425"/>
            <a:ext cx="598200" cy="2100"/>
          </a:xfrm>
          <a:prstGeom prst="straightConnector1">
            <a:avLst/>
          </a:prstGeom>
          <a:noFill/>
          <a:ln cap="flat" cmpd="sng" w="19050">
            <a:solidFill>
              <a:schemeClr val="dk2"/>
            </a:solidFill>
            <a:prstDash val="solid"/>
            <a:round/>
            <a:headEnd len="med" w="med" type="none"/>
            <a:tailEnd len="med" w="med" type="stealth"/>
          </a:ln>
        </p:spPr>
      </p:cxnSp>
      <p:sp>
        <p:nvSpPr>
          <p:cNvPr id="520" name="Google Shape;520;p28"/>
          <p:cNvSpPr txBox="1"/>
          <p:nvPr/>
        </p:nvSpPr>
        <p:spPr>
          <a:xfrm>
            <a:off x="193975" y="98900"/>
            <a:ext cx="8624700" cy="121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Quad Can fly on just Gyro Rate and this mode is often known as “Acro” or “Rate Controller”. This is a good starting point. The pilot demand is then therefore a desired rate. When the stick is central it stops the rate of rotation. The quadcopter will not return to level. </a:t>
            </a:r>
            <a:endParaRPr/>
          </a:p>
          <a:p>
            <a:pPr indent="0" lvl="0" marL="0" rtl="0" algn="l">
              <a:spcBef>
                <a:spcPts val="0"/>
              </a:spcBef>
              <a:spcAft>
                <a:spcPts val="0"/>
              </a:spcAft>
              <a:buNone/>
            </a:pPr>
            <a:r>
              <a:rPr lang="en-GB"/>
              <a:t>Using both angle and rate is known as stabilisation mode and is the most stable for flight and </a:t>
            </a:r>
            <a:r>
              <a:rPr lang="en-GB"/>
              <a:t>easiest</a:t>
            </a:r>
            <a:r>
              <a:rPr lang="en-GB"/>
              <a:t> mode to fly in.</a:t>
            </a:r>
            <a:endParaRPr/>
          </a:p>
        </p:txBody>
      </p:sp>
      <p:sp>
        <p:nvSpPr>
          <p:cNvPr id="521" name="Google Shape;521;p28"/>
          <p:cNvSpPr/>
          <p:nvPr/>
        </p:nvSpPr>
        <p:spPr>
          <a:xfrm>
            <a:off x="2427300" y="1768125"/>
            <a:ext cx="1403700" cy="12324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Rate</a:t>
            </a:r>
            <a:endParaRPr/>
          </a:p>
          <a:p>
            <a:pPr indent="0" lvl="0" marL="0" rtl="0" algn="ctr">
              <a:spcBef>
                <a:spcPts val="0"/>
              </a:spcBef>
              <a:spcAft>
                <a:spcPts val="0"/>
              </a:spcAft>
              <a:buNone/>
            </a:pPr>
            <a:r>
              <a:rPr lang="en-GB"/>
              <a:t>PID</a:t>
            </a:r>
            <a:endParaRPr/>
          </a:p>
        </p:txBody>
      </p:sp>
      <p:sp>
        <p:nvSpPr>
          <p:cNvPr id="522" name="Google Shape;522;p28"/>
          <p:cNvSpPr txBox="1"/>
          <p:nvPr/>
        </p:nvSpPr>
        <p:spPr>
          <a:xfrm>
            <a:off x="310300" y="2275275"/>
            <a:ext cx="1126200" cy="6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Desired Rotational Rate </a:t>
            </a:r>
            <a:r>
              <a:rPr lang="en-GB">
                <a:solidFill>
                  <a:schemeClr val="dk1"/>
                </a:solidFill>
              </a:rPr>
              <a:t>(°/sec)</a:t>
            </a:r>
            <a:endParaRPr/>
          </a:p>
        </p:txBody>
      </p:sp>
      <p:sp>
        <p:nvSpPr>
          <p:cNvPr id="523" name="Google Shape;523;p28"/>
          <p:cNvSpPr txBox="1"/>
          <p:nvPr/>
        </p:nvSpPr>
        <p:spPr>
          <a:xfrm>
            <a:off x="233550" y="1538150"/>
            <a:ext cx="1403700" cy="6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Rotational Rate from Gyro (°/sec)</a:t>
            </a:r>
            <a:endParaRPr/>
          </a:p>
        </p:txBody>
      </p:sp>
      <p:sp>
        <p:nvSpPr>
          <p:cNvPr id="524" name="Google Shape;524;p28"/>
          <p:cNvSpPr txBox="1"/>
          <p:nvPr/>
        </p:nvSpPr>
        <p:spPr>
          <a:xfrm>
            <a:off x="4516800" y="2275275"/>
            <a:ext cx="1028100" cy="6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Motor adjust</a:t>
            </a:r>
            <a:endParaRPr/>
          </a:p>
        </p:txBody>
      </p:sp>
      <p:sp>
        <p:nvSpPr>
          <p:cNvPr id="525" name="Google Shape;525;p28"/>
          <p:cNvSpPr/>
          <p:nvPr/>
        </p:nvSpPr>
        <p:spPr>
          <a:xfrm>
            <a:off x="2368475" y="1765850"/>
            <a:ext cx="1403700" cy="622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8"/>
          <p:cNvSpPr/>
          <p:nvPr/>
        </p:nvSpPr>
        <p:spPr>
          <a:xfrm>
            <a:off x="2368475" y="2305850"/>
            <a:ext cx="1550100" cy="622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7" name="Google Shape;527;p28"/>
          <p:cNvCxnSpPr>
            <a:stCxn id="523" idx="3"/>
            <a:endCxn id="525" idx="1"/>
          </p:cNvCxnSpPr>
          <p:nvPr/>
        </p:nvCxnSpPr>
        <p:spPr>
          <a:xfrm>
            <a:off x="1637250" y="1849250"/>
            <a:ext cx="731100" cy="227700"/>
          </a:xfrm>
          <a:prstGeom prst="bentConnector3">
            <a:avLst>
              <a:gd fmla="val 50009" name="adj1"/>
            </a:avLst>
          </a:prstGeom>
          <a:noFill/>
          <a:ln cap="flat" cmpd="sng" w="19050">
            <a:solidFill>
              <a:schemeClr val="dk2"/>
            </a:solidFill>
            <a:prstDash val="solid"/>
            <a:round/>
            <a:headEnd len="med" w="med" type="none"/>
            <a:tailEnd len="med" w="med" type="stealth"/>
          </a:ln>
        </p:spPr>
      </p:cxnSp>
      <p:cxnSp>
        <p:nvCxnSpPr>
          <p:cNvPr id="528" name="Google Shape;528;p28"/>
          <p:cNvCxnSpPr>
            <a:stCxn id="522" idx="3"/>
            <a:endCxn id="526" idx="1"/>
          </p:cNvCxnSpPr>
          <p:nvPr/>
        </p:nvCxnSpPr>
        <p:spPr>
          <a:xfrm>
            <a:off x="1436500" y="2614725"/>
            <a:ext cx="932100" cy="2100"/>
          </a:xfrm>
          <a:prstGeom prst="straightConnector1">
            <a:avLst/>
          </a:prstGeom>
          <a:noFill/>
          <a:ln cap="flat" cmpd="sng" w="19050">
            <a:solidFill>
              <a:schemeClr val="dk2"/>
            </a:solidFill>
            <a:prstDash val="solid"/>
            <a:round/>
            <a:headEnd len="med" w="med" type="none"/>
            <a:tailEnd len="med" w="med" type="stealth"/>
          </a:ln>
        </p:spPr>
      </p:cxnSp>
      <p:cxnSp>
        <p:nvCxnSpPr>
          <p:cNvPr id="529" name="Google Shape;529;p28"/>
          <p:cNvCxnSpPr>
            <a:stCxn id="526" idx="3"/>
            <a:endCxn id="526" idx="3"/>
          </p:cNvCxnSpPr>
          <p:nvPr/>
        </p:nvCxnSpPr>
        <p:spPr>
          <a:xfrm>
            <a:off x="3918575" y="2616950"/>
            <a:ext cx="0" cy="0"/>
          </a:xfrm>
          <a:prstGeom prst="straightConnector1">
            <a:avLst/>
          </a:prstGeom>
          <a:noFill/>
          <a:ln cap="flat" cmpd="sng" w="9525">
            <a:solidFill>
              <a:schemeClr val="dk2"/>
            </a:solidFill>
            <a:prstDash val="solid"/>
            <a:round/>
            <a:headEnd len="med" w="med" type="none"/>
            <a:tailEnd len="med" w="med" type="none"/>
          </a:ln>
        </p:spPr>
      </p:cxnSp>
      <p:cxnSp>
        <p:nvCxnSpPr>
          <p:cNvPr id="530" name="Google Shape;530;p28"/>
          <p:cNvCxnSpPr>
            <a:stCxn id="526" idx="3"/>
            <a:endCxn id="524" idx="1"/>
          </p:cNvCxnSpPr>
          <p:nvPr/>
        </p:nvCxnSpPr>
        <p:spPr>
          <a:xfrm flipH="1" rot="10800000">
            <a:off x="3918575" y="2614850"/>
            <a:ext cx="598200" cy="2100"/>
          </a:xfrm>
          <a:prstGeom prst="straightConnector1">
            <a:avLst/>
          </a:prstGeom>
          <a:noFill/>
          <a:ln cap="flat" cmpd="sng" w="19050">
            <a:solidFill>
              <a:schemeClr val="dk2"/>
            </a:solidFill>
            <a:prstDash val="solid"/>
            <a:round/>
            <a:headEnd len="med" w="med" type="none"/>
            <a:tailEnd len="med" w="med" type="stealth"/>
          </a:ln>
        </p:spPr>
      </p:cxnSp>
      <p:cxnSp>
        <p:nvCxnSpPr>
          <p:cNvPr id="531" name="Google Shape;531;p28"/>
          <p:cNvCxnSpPr/>
          <p:nvPr/>
        </p:nvCxnSpPr>
        <p:spPr>
          <a:xfrm rot="10800000">
            <a:off x="310375" y="3128425"/>
            <a:ext cx="8655300" cy="0"/>
          </a:xfrm>
          <a:prstGeom prst="straightConnector1">
            <a:avLst/>
          </a:prstGeom>
          <a:noFill/>
          <a:ln cap="flat" cmpd="sng" w="9525">
            <a:solidFill>
              <a:schemeClr val="dk2"/>
            </a:solidFill>
            <a:prstDash val="dash"/>
            <a:round/>
            <a:headEnd len="med" w="med" type="none"/>
            <a:tailEnd len="med" w="med" type="none"/>
          </a:ln>
        </p:spPr>
      </p:cxnSp>
      <p:cxnSp>
        <p:nvCxnSpPr>
          <p:cNvPr id="532" name="Google Shape;532;p28"/>
          <p:cNvCxnSpPr/>
          <p:nvPr/>
        </p:nvCxnSpPr>
        <p:spPr>
          <a:xfrm rot="10800000">
            <a:off x="310375" y="1330275"/>
            <a:ext cx="8655300" cy="0"/>
          </a:xfrm>
          <a:prstGeom prst="straightConnector1">
            <a:avLst/>
          </a:prstGeom>
          <a:noFill/>
          <a:ln cap="flat" cmpd="sng" w="9525">
            <a:solidFill>
              <a:schemeClr val="dk2"/>
            </a:solidFill>
            <a:prstDash val="dash"/>
            <a:round/>
            <a:headEnd len="med" w="med" type="none"/>
            <a:tailEnd len="med" w="med" type="none"/>
          </a:ln>
        </p:spPr>
      </p:cxnSp>
      <p:sp>
        <p:nvSpPr>
          <p:cNvPr id="533" name="Google Shape;533;p28"/>
          <p:cNvSpPr txBox="1"/>
          <p:nvPr/>
        </p:nvSpPr>
        <p:spPr>
          <a:xfrm>
            <a:off x="5670500" y="1581050"/>
            <a:ext cx="14802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Acro Mode</a:t>
            </a:r>
            <a:endParaRPr/>
          </a:p>
        </p:txBody>
      </p:sp>
      <p:sp>
        <p:nvSpPr>
          <p:cNvPr id="534" name="Google Shape;534;p28"/>
          <p:cNvSpPr txBox="1"/>
          <p:nvPr/>
        </p:nvSpPr>
        <p:spPr>
          <a:xfrm>
            <a:off x="5826125" y="3211563"/>
            <a:ext cx="14802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Stability</a:t>
            </a:r>
            <a:r>
              <a:rPr lang="en-GB"/>
              <a:t> </a:t>
            </a:r>
            <a:r>
              <a:rPr lang="en-GB"/>
              <a:t>Mode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29"/>
          <p:cNvSpPr/>
          <p:nvPr/>
        </p:nvSpPr>
        <p:spPr>
          <a:xfrm>
            <a:off x="667450" y="390300"/>
            <a:ext cx="5569500" cy="1331100"/>
          </a:xfrm>
          <a:prstGeom prst="roundRect">
            <a:avLst>
              <a:gd fmla="val 16667" name="adj"/>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9"/>
          <p:cNvSpPr/>
          <p:nvPr/>
        </p:nvSpPr>
        <p:spPr>
          <a:xfrm>
            <a:off x="737725" y="2073450"/>
            <a:ext cx="5569500" cy="1331100"/>
          </a:xfrm>
          <a:prstGeom prst="roundRect">
            <a:avLst>
              <a:gd fmla="val 16667" name="adj"/>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9"/>
          <p:cNvSpPr/>
          <p:nvPr/>
        </p:nvSpPr>
        <p:spPr>
          <a:xfrm>
            <a:off x="2120825" y="879125"/>
            <a:ext cx="768300" cy="55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Angle</a:t>
            </a:r>
            <a:endParaRPr sz="1000"/>
          </a:p>
          <a:p>
            <a:pPr indent="0" lvl="0" marL="0" rtl="0" algn="ctr">
              <a:spcBef>
                <a:spcPts val="0"/>
              </a:spcBef>
              <a:spcAft>
                <a:spcPts val="0"/>
              </a:spcAft>
              <a:buNone/>
            </a:pPr>
            <a:r>
              <a:rPr lang="en-GB" sz="1000"/>
              <a:t>PID</a:t>
            </a:r>
            <a:endParaRPr sz="1000"/>
          </a:p>
        </p:txBody>
      </p:sp>
      <p:sp>
        <p:nvSpPr>
          <p:cNvPr id="542" name="Google Shape;542;p29"/>
          <p:cNvSpPr/>
          <p:nvPr/>
        </p:nvSpPr>
        <p:spPr>
          <a:xfrm>
            <a:off x="2120800" y="852036"/>
            <a:ext cx="367200" cy="2571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9"/>
          <p:cNvSpPr/>
          <p:nvPr/>
        </p:nvSpPr>
        <p:spPr>
          <a:xfrm>
            <a:off x="2120800" y="1236225"/>
            <a:ext cx="768300" cy="1284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9"/>
          <p:cNvSpPr/>
          <p:nvPr/>
        </p:nvSpPr>
        <p:spPr>
          <a:xfrm>
            <a:off x="4732625" y="983575"/>
            <a:ext cx="624900" cy="55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Rate</a:t>
            </a:r>
            <a:endParaRPr sz="1000"/>
          </a:p>
          <a:p>
            <a:pPr indent="0" lvl="0" marL="0" rtl="0" algn="ctr">
              <a:spcBef>
                <a:spcPts val="0"/>
              </a:spcBef>
              <a:spcAft>
                <a:spcPts val="0"/>
              </a:spcAft>
              <a:buNone/>
            </a:pPr>
            <a:r>
              <a:rPr lang="en-GB" sz="1000"/>
              <a:t>PID</a:t>
            </a:r>
            <a:endParaRPr sz="1000"/>
          </a:p>
        </p:txBody>
      </p:sp>
      <p:sp>
        <p:nvSpPr>
          <p:cNvPr id="545" name="Google Shape;545;p29"/>
          <p:cNvSpPr txBox="1"/>
          <p:nvPr/>
        </p:nvSpPr>
        <p:spPr>
          <a:xfrm>
            <a:off x="842825" y="677825"/>
            <a:ext cx="4218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9"/>
          <p:cNvSpPr txBox="1"/>
          <p:nvPr/>
        </p:nvSpPr>
        <p:spPr>
          <a:xfrm>
            <a:off x="737725" y="746575"/>
            <a:ext cx="1045800" cy="46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000"/>
              <a:t>Roll Angle from Sensor </a:t>
            </a:r>
            <a:r>
              <a:rPr lang="en-GB" sz="1000">
                <a:solidFill>
                  <a:schemeClr val="dk1"/>
                </a:solidFill>
              </a:rPr>
              <a:t>(°)</a:t>
            </a:r>
            <a:endParaRPr sz="1000"/>
          </a:p>
        </p:txBody>
      </p:sp>
      <p:sp>
        <p:nvSpPr>
          <p:cNvPr id="547" name="Google Shape;547;p29"/>
          <p:cNvSpPr txBox="1"/>
          <p:nvPr/>
        </p:nvSpPr>
        <p:spPr>
          <a:xfrm>
            <a:off x="867075" y="1134825"/>
            <a:ext cx="895500" cy="331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000"/>
              <a:t>Roll Angle from Pilot </a:t>
            </a:r>
            <a:r>
              <a:rPr lang="en-GB" sz="1000">
                <a:solidFill>
                  <a:schemeClr val="dk1"/>
                </a:solidFill>
              </a:rPr>
              <a:t>(°)</a:t>
            </a:r>
            <a:endParaRPr sz="1000"/>
          </a:p>
        </p:txBody>
      </p:sp>
      <p:sp>
        <p:nvSpPr>
          <p:cNvPr id="548" name="Google Shape;548;p29"/>
          <p:cNvSpPr txBox="1"/>
          <p:nvPr/>
        </p:nvSpPr>
        <p:spPr>
          <a:xfrm>
            <a:off x="3516700" y="960975"/>
            <a:ext cx="895500" cy="6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Desired Rotational Rate (°/sec)</a:t>
            </a:r>
            <a:endParaRPr sz="1000"/>
          </a:p>
        </p:txBody>
      </p:sp>
      <p:sp>
        <p:nvSpPr>
          <p:cNvPr id="549" name="Google Shape;549;p29"/>
          <p:cNvSpPr txBox="1"/>
          <p:nvPr/>
        </p:nvSpPr>
        <p:spPr>
          <a:xfrm>
            <a:off x="2635150" y="492975"/>
            <a:ext cx="1380000" cy="46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000"/>
              <a:t>Rotational Roll Rate from Gyro (°/sec)</a:t>
            </a:r>
            <a:endParaRPr sz="1000"/>
          </a:p>
        </p:txBody>
      </p:sp>
      <p:sp>
        <p:nvSpPr>
          <p:cNvPr id="550" name="Google Shape;550;p29"/>
          <p:cNvSpPr txBox="1"/>
          <p:nvPr/>
        </p:nvSpPr>
        <p:spPr>
          <a:xfrm>
            <a:off x="5677950" y="1081069"/>
            <a:ext cx="806100" cy="43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Motor Output</a:t>
            </a:r>
            <a:endParaRPr sz="1000"/>
          </a:p>
        </p:txBody>
      </p:sp>
      <p:cxnSp>
        <p:nvCxnSpPr>
          <p:cNvPr id="551" name="Google Shape;551;p29"/>
          <p:cNvCxnSpPr>
            <a:endCxn id="542" idx="1"/>
          </p:cNvCxnSpPr>
          <p:nvPr/>
        </p:nvCxnSpPr>
        <p:spPr>
          <a:xfrm>
            <a:off x="1753600" y="980586"/>
            <a:ext cx="367200" cy="0"/>
          </a:xfrm>
          <a:prstGeom prst="straightConnector1">
            <a:avLst/>
          </a:prstGeom>
          <a:noFill/>
          <a:ln cap="flat" cmpd="sng" w="19050">
            <a:solidFill>
              <a:schemeClr val="dk2"/>
            </a:solidFill>
            <a:prstDash val="solid"/>
            <a:round/>
            <a:headEnd len="med" w="med" type="none"/>
            <a:tailEnd len="med" w="med" type="stealth"/>
          </a:ln>
        </p:spPr>
      </p:cxnSp>
      <p:cxnSp>
        <p:nvCxnSpPr>
          <p:cNvPr id="552" name="Google Shape;552;p29"/>
          <p:cNvCxnSpPr>
            <a:endCxn id="543" idx="1"/>
          </p:cNvCxnSpPr>
          <p:nvPr/>
        </p:nvCxnSpPr>
        <p:spPr>
          <a:xfrm>
            <a:off x="1722700" y="1300425"/>
            <a:ext cx="398100" cy="0"/>
          </a:xfrm>
          <a:prstGeom prst="straightConnector1">
            <a:avLst/>
          </a:prstGeom>
          <a:noFill/>
          <a:ln cap="flat" cmpd="sng" w="19050">
            <a:solidFill>
              <a:schemeClr val="dk2"/>
            </a:solidFill>
            <a:prstDash val="solid"/>
            <a:round/>
            <a:headEnd len="med" w="med" type="none"/>
            <a:tailEnd len="med" w="med" type="stealth"/>
          </a:ln>
        </p:spPr>
      </p:cxnSp>
      <p:cxnSp>
        <p:nvCxnSpPr>
          <p:cNvPr id="553" name="Google Shape;553;p29"/>
          <p:cNvCxnSpPr>
            <a:stCxn id="543" idx="3"/>
            <a:endCxn id="548" idx="1"/>
          </p:cNvCxnSpPr>
          <p:nvPr/>
        </p:nvCxnSpPr>
        <p:spPr>
          <a:xfrm>
            <a:off x="2889100" y="1300425"/>
            <a:ext cx="627600" cy="0"/>
          </a:xfrm>
          <a:prstGeom prst="straightConnector1">
            <a:avLst/>
          </a:prstGeom>
          <a:noFill/>
          <a:ln cap="flat" cmpd="sng" w="19050">
            <a:solidFill>
              <a:schemeClr val="dk2"/>
            </a:solidFill>
            <a:prstDash val="solid"/>
            <a:round/>
            <a:headEnd len="med" w="med" type="none"/>
            <a:tailEnd len="med" w="med" type="stealth"/>
          </a:ln>
        </p:spPr>
      </p:cxnSp>
      <p:sp>
        <p:nvSpPr>
          <p:cNvPr id="554" name="Google Shape;554;p29"/>
          <p:cNvSpPr/>
          <p:nvPr/>
        </p:nvSpPr>
        <p:spPr>
          <a:xfrm>
            <a:off x="4746100" y="982625"/>
            <a:ext cx="216900" cy="2571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9"/>
          <p:cNvSpPr/>
          <p:nvPr/>
        </p:nvSpPr>
        <p:spPr>
          <a:xfrm>
            <a:off x="4732625" y="1194614"/>
            <a:ext cx="624900" cy="2127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6" name="Google Shape;556;p29"/>
          <p:cNvCxnSpPr>
            <a:endCxn id="554" idx="1"/>
          </p:cNvCxnSpPr>
          <p:nvPr/>
        </p:nvCxnSpPr>
        <p:spPr>
          <a:xfrm>
            <a:off x="3993100" y="732875"/>
            <a:ext cx="753000" cy="378300"/>
          </a:xfrm>
          <a:prstGeom prst="bentConnector3">
            <a:avLst>
              <a:gd fmla="val 50000" name="adj1"/>
            </a:avLst>
          </a:prstGeom>
          <a:noFill/>
          <a:ln cap="flat" cmpd="sng" w="19050">
            <a:solidFill>
              <a:schemeClr val="dk2"/>
            </a:solidFill>
            <a:prstDash val="solid"/>
            <a:round/>
            <a:headEnd len="med" w="med" type="none"/>
            <a:tailEnd len="med" w="med" type="stealth"/>
          </a:ln>
        </p:spPr>
      </p:cxnSp>
      <p:cxnSp>
        <p:nvCxnSpPr>
          <p:cNvPr id="557" name="Google Shape;557;p29"/>
          <p:cNvCxnSpPr>
            <a:stCxn id="548" idx="3"/>
            <a:endCxn id="555" idx="1"/>
          </p:cNvCxnSpPr>
          <p:nvPr/>
        </p:nvCxnSpPr>
        <p:spPr>
          <a:xfrm>
            <a:off x="4412200" y="1300425"/>
            <a:ext cx="320400" cy="600"/>
          </a:xfrm>
          <a:prstGeom prst="straightConnector1">
            <a:avLst/>
          </a:prstGeom>
          <a:noFill/>
          <a:ln cap="flat" cmpd="sng" w="19050">
            <a:solidFill>
              <a:schemeClr val="dk2"/>
            </a:solidFill>
            <a:prstDash val="solid"/>
            <a:round/>
            <a:headEnd len="med" w="med" type="none"/>
            <a:tailEnd len="med" w="med" type="stealth"/>
          </a:ln>
        </p:spPr>
      </p:cxnSp>
      <p:cxnSp>
        <p:nvCxnSpPr>
          <p:cNvPr id="558" name="Google Shape;558;p29"/>
          <p:cNvCxnSpPr>
            <a:stCxn id="555" idx="3"/>
            <a:endCxn id="555" idx="3"/>
          </p:cNvCxnSpPr>
          <p:nvPr/>
        </p:nvCxnSpPr>
        <p:spPr>
          <a:xfrm>
            <a:off x="5357525" y="1300964"/>
            <a:ext cx="0" cy="0"/>
          </a:xfrm>
          <a:prstGeom prst="straightConnector1">
            <a:avLst/>
          </a:prstGeom>
          <a:noFill/>
          <a:ln cap="flat" cmpd="sng" w="9525">
            <a:solidFill>
              <a:schemeClr val="dk2"/>
            </a:solidFill>
            <a:prstDash val="solid"/>
            <a:round/>
            <a:headEnd len="med" w="med" type="none"/>
            <a:tailEnd len="med" w="med" type="none"/>
          </a:ln>
        </p:spPr>
      </p:cxnSp>
      <p:cxnSp>
        <p:nvCxnSpPr>
          <p:cNvPr id="559" name="Google Shape;559;p29"/>
          <p:cNvCxnSpPr>
            <a:stCxn id="555" idx="3"/>
            <a:endCxn id="550" idx="1"/>
          </p:cNvCxnSpPr>
          <p:nvPr/>
        </p:nvCxnSpPr>
        <p:spPr>
          <a:xfrm>
            <a:off x="5357525" y="1300964"/>
            <a:ext cx="320400" cy="0"/>
          </a:xfrm>
          <a:prstGeom prst="straightConnector1">
            <a:avLst/>
          </a:prstGeom>
          <a:noFill/>
          <a:ln cap="flat" cmpd="sng" w="19050">
            <a:solidFill>
              <a:schemeClr val="dk2"/>
            </a:solidFill>
            <a:prstDash val="solid"/>
            <a:round/>
            <a:headEnd len="med" w="med" type="none"/>
            <a:tailEnd len="med" w="med" type="stealth"/>
          </a:ln>
        </p:spPr>
      </p:cxnSp>
      <p:sp>
        <p:nvSpPr>
          <p:cNvPr id="560" name="Google Shape;560;p29"/>
          <p:cNvSpPr/>
          <p:nvPr/>
        </p:nvSpPr>
        <p:spPr>
          <a:xfrm>
            <a:off x="2120825" y="2504450"/>
            <a:ext cx="768300" cy="55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Angle</a:t>
            </a:r>
            <a:endParaRPr sz="1000"/>
          </a:p>
          <a:p>
            <a:pPr indent="0" lvl="0" marL="0" rtl="0" algn="ctr">
              <a:spcBef>
                <a:spcPts val="0"/>
              </a:spcBef>
              <a:spcAft>
                <a:spcPts val="0"/>
              </a:spcAft>
              <a:buNone/>
            </a:pPr>
            <a:r>
              <a:rPr lang="en-GB" sz="1000"/>
              <a:t>PID</a:t>
            </a:r>
            <a:endParaRPr sz="1000"/>
          </a:p>
        </p:txBody>
      </p:sp>
      <p:sp>
        <p:nvSpPr>
          <p:cNvPr id="561" name="Google Shape;561;p29"/>
          <p:cNvSpPr/>
          <p:nvPr/>
        </p:nvSpPr>
        <p:spPr>
          <a:xfrm>
            <a:off x="2120800" y="2477361"/>
            <a:ext cx="367200" cy="2571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9"/>
          <p:cNvSpPr/>
          <p:nvPr/>
        </p:nvSpPr>
        <p:spPr>
          <a:xfrm>
            <a:off x="2120800" y="2861550"/>
            <a:ext cx="768300" cy="1284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9"/>
          <p:cNvSpPr/>
          <p:nvPr/>
        </p:nvSpPr>
        <p:spPr>
          <a:xfrm>
            <a:off x="4732625" y="2608900"/>
            <a:ext cx="624900" cy="55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Rate</a:t>
            </a:r>
            <a:endParaRPr sz="1000"/>
          </a:p>
          <a:p>
            <a:pPr indent="0" lvl="0" marL="0" rtl="0" algn="ctr">
              <a:spcBef>
                <a:spcPts val="0"/>
              </a:spcBef>
              <a:spcAft>
                <a:spcPts val="0"/>
              </a:spcAft>
              <a:buNone/>
            </a:pPr>
            <a:r>
              <a:rPr lang="en-GB" sz="1000"/>
              <a:t>PID</a:t>
            </a:r>
            <a:endParaRPr sz="1000"/>
          </a:p>
        </p:txBody>
      </p:sp>
      <p:sp>
        <p:nvSpPr>
          <p:cNvPr id="564" name="Google Shape;564;p29"/>
          <p:cNvSpPr txBox="1"/>
          <p:nvPr/>
        </p:nvSpPr>
        <p:spPr>
          <a:xfrm>
            <a:off x="842825" y="2303150"/>
            <a:ext cx="4218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9"/>
          <p:cNvSpPr txBox="1"/>
          <p:nvPr/>
        </p:nvSpPr>
        <p:spPr>
          <a:xfrm>
            <a:off x="737725" y="2371900"/>
            <a:ext cx="1045800" cy="46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000"/>
              <a:t>Pitch </a:t>
            </a:r>
            <a:r>
              <a:rPr lang="en-GB" sz="1000"/>
              <a:t>Angle from Sensor </a:t>
            </a:r>
            <a:r>
              <a:rPr lang="en-GB" sz="1000">
                <a:solidFill>
                  <a:schemeClr val="dk1"/>
                </a:solidFill>
              </a:rPr>
              <a:t>(°)</a:t>
            </a:r>
            <a:endParaRPr sz="1000"/>
          </a:p>
        </p:txBody>
      </p:sp>
      <p:sp>
        <p:nvSpPr>
          <p:cNvPr id="566" name="Google Shape;566;p29"/>
          <p:cNvSpPr txBox="1"/>
          <p:nvPr/>
        </p:nvSpPr>
        <p:spPr>
          <a:xfrm>
            <a:off x="867075" y="2760150"/>
            <a:ext cx="895500" cy="331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000"/>
              <a:t>Pitch </a:t>
            </a:r>
            <a:r>
              <a:rPr lang="en-GB" sz="1000"/>
              <a:t>Angle from Pilot </a:t>
            </a:r>
            <a:r>
              <a:rPr lang="en-GB" sz="1000">
                <a:solidFill>
                  <a:schemeClr val="dk1"/>
                </a:solidFill>
              </a:rPr>
              <a:t>(°)</a:t>
            </a:r>
            <a:endParaRPr sz="1000"/>
          </a:p>
        </p:txBody>
      </p:sp>
      <p:sp>
        <p:nvSpPr>
          <p:cNvPr id="567" name="Google Shape;567;p29"/>
          <p:cNvSpPr txBox="1"/>
          <p:nvPr/>
        </p:nvSpPr>
        <p:spPr>
          <a:xfrm>
            <a:off x="3427038" y="2586300"/>
            <a:ext cx="985200" cy="6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Desired Rotational Rate (°/sec)</a:t>
            </a:r>
            <a:endParaRPr sz="1000"/>
          </a:p>
        </p:txBody>
      </p:sp>
      <p:sp>
        <p:nvSpPr>
          <p:cNvPr id="568" name="Google Shape;568;p29"/>
          <p:cNvSpPr txBox="1"/>
          <p:nvPr/>
        </p:nvSpPr>
        <p:spPr>
          <a:xfrm>
            <a:off x="2635300" y="2118300"/>
            <a:ext cx="1380000" cy="46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000"/>
              <a:t>Rotational Pitch Rate from Gyro (°/sec)</a:t>
            </a:r>
            <a:endParaRPr sz="1000"/>
          </a:p>
        </p:txBody>
      </p:sp>
      <p:sp>
        <p:nvSpPr>
          <p:cNvPr id="569" name="Google Shape;569;p29"/>
          <p:cNvSpPr txBox="1"/>
          <p:nvPr/>
        </p:nvSpPr>
        <p:spPr>
          <a:xfrm>
            <a:off x="5677950" y="2706400"/>
            <a:ext cx="569100" cy="43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Motor Output</a:t>
            </a:r>
            <a:endParaRPr sz="1000"/>
          </a:p>
        </p:txBody>
      </p:sp>
      <p:cxnSp>
        <p:nvCxnSpPr>
          <p:cNvPr id="570" name="Google Shape;570;p29"/>
          <p:cNvCxnSpPr>
            <a:endCxn id="561" idx="1"/>
          </p:cNvCxnSpPr>
          <p:nvPr/>
        </p:nvCxnSpPr>
        <p:spPr>
          <a:xfrm>
            <a:off x="1753600" y="2605911"/>
            <a:ext cx="367200" cy="0"/>
          </a:xfrm>
          <a:prstGeom prst="straightConnector1">
            <a:avLst/>
          </a:prstGeom>
          <a:noFill/>
          <a:ln cap="flat" cmpd="sng" w="19050">
            <a:solidFill>
              <a:schemeClr val="dk2"/>
            </a:solidFill>
            <a:prstDash val="solid"/>
            <a:round/>
            <a:headEnd len="med" w="med" type="none"/>
            <a:tailEnd len="med" w="med" type="stealth"/>
          </a:ln>
        </p:spPr>
      </p:cxnSp>
      <p:cxnSp>
        <p:nvCxnSpPr>
          <p:cNvPr id="571" name="Google Shape;571;p29"/>
          <p:cNvCxnSpPr>
            <a:endCxn id="562" idx="1"/>
          </p:cNvCxnSpPr>
          <p:nvPr/>
        </p:nvCxnSpPr>
        <p:spPr>
          <a:xfrm>
            <a:off x="1722700" y="2925750"/>
            <a:ext cx="398100" cy="0"/>
          </a:xfrm>
          <a:prstGeom prst="straightConnector1">
            <a:avLst/>
          </a:prstGeom>
          <a:noFill/>
          <a:ln cap="flat" cmpd="sng" w="19050">
            <a:solidFill>
              <a:schemeClr val="dk2"/>
            </a:solidFill>
            <a:prstDash val="solid"/>
            <a:round/>
            <a:headEnd len="med" w="med" type="none"/>
            <a:tailEnd len="med" w="med" type="stealth"/>
          </a:ln>
        </p:spPr>
      </p:cxnSp>
      <p:cxnSp>
        <p:nvCxnSpPr>
          <p:cNvPr id="572" name="Google Shape;572;p29"/>
          <p:cNvCxnSpPr>
            <a:stCxn id="562" idx="3"/>
            <a:endCxn id="567" idx="1"/>
          </p:cNvCxnSpPr>
          <p:nvPr/>
        </p:nvCxnSpPr>
        <p:spPr>
          <a:xfrm>
            <a:off x="2889100" y="2925750"/>
            <a:ext cx="537900" cy="0"/>
          </a:xfrm>
          <a:prstGeom prst="straightConnector1">
            <a:avLst/>
          </a:prstGeom>
          <a:noFill/>
          <a:ln cap="flat" cmpd="sng" w="19050">
            <a:solidFill>
              <a:schemeClr val="dk2"/>
            </a:solidFill>
            <a:prstDash val="solid"/>
            <a:round/>
            <a:headEnd len="med" w="med" type="none"/>
            <a:tailEnd len="med" w="med" type="stealth"/>
          </a:ln>
        </p:spPr>
      </p:cxnSp>
      <p:sp>
        <p:nvSpPr>
          <p:cNvPr id="573" name="Google Shape;573;p29"/>
          <p:cNvSpPr/>
          <p:nvPr/>
        </p:nvSpPr>
        <p:spPr>
          <a:xfrm>
            <a:off x="4746100" y="2607950"/>
            <a:ext cx="216900" cy="2571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9"/>
          <p:cNvSpPr/>
          <p:nvPr/>
        </p:nvSpPr>
        <p:spPr>
          <a:xfrm>
            <a:off x="4732625" y="2819939"/>
            <a:ext cx="624900" cy="2127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5" name="Google Shape;575;p29"/>
          <p:cNvCxnSpPr>
            <a:endCxn id="573" idx="1"/>
          </p:cNvCxnSpPr>
          <p:nvPr/>
        </p:nvCxnSpPr>
        <p:spPr>
          <a:xfrm>
            <a:off x="3993100" y="2358200"/>
            <a:ext cx="753000" cy="378300"/>
          </a:xfrm>
          <a:prstGeom prst="bentConnector3">
            <a:avLst>
              <a:gd fmla="val 50000" name="adj1"/>
            </a:avLst>
          </a:prstGeom>
          <a:noFill/>
          <a:ln cap="flat" cmpd="sng" w="19050">
            <a:solidFill>
              <a:schemeClr val="dk2"/>
            </a:solidFill>
            <a:prstDash val="solid"/>
            <a:round/>
            <a:headEnd len="med" w="med" type="none"/>
            <a:tailEnd len="med" w="med" type="stealth"/>
          </a:ln>
        </p:spPr>
      </p:cxnSp>
      <p:cxnSp>
        <p:nvCxnSpPr>
          <p:cNvPr id="576" name="Google Shape;576;p29"/>
          <p:cNvCxnSpPr>
            <a:stCxn id="567" idx="3"/>
            <a:endCxn id="574" idx="1"/>
          </p:cNvCxnSpPr>
          <p:nvPr/>
        </p:nvCxnSpPr>
        <p:spPr>
          <a:xfrm>
            <a:off x="4412238" y="2925750"/>
            <a:ext cx="320400" cy="600"/>
          </a:xfrm>
          <a:prstGeom prst="straightConnector1">
            <a:avLst/>
          </a:prstGeom>
          <a:noFill/>
          <a:ln cap="flat" cmpd="sng" w="19050">
            <a:solidFill>
              <a:schemeClr val="dk2"/>
            </a:solidFill>
            <a:prstDash val="solid"/>
            <a:round/>
            <a:headEnd len="med" w="med" type="none"/>
            <a:tailEnd len="med" w="med" type="stealth"/>
          </a:ln>
        </p:spPr>
      </p:cxnSp>
      <p:cxnSp>
        <p:nvCxnSpPr>
          <p:cNvPr id="577" name="Google Shape;577;p29"/>
          <p:cNvCxnSpPr>
            <a:stCxn id="574" idx="3"/>
            <a:endCxn id="574" idx="3"/>
          </p:cNvCxnSpPr>
          <p:nvPr/>
        </p:nvCxnSpPr>
        <p:spPr>
          <a:xfrm>
            <a:off x="5357525" y="2926289"/>
            <a:ext cx="0" cy="0"/>
          </a:xfrm>
          <a:prstGeom prst="straightConnector1">
            <a:avLst/>
          </a:prstGeom>
          <a:noFill/>
          <a:ln cap="flat" cmpd="sng" w="9525">
            <a:solidFill>
              <a:schemeClr val="dk2"/>
            </a:solidFill>
            <a:prstDash val="solid"/>
            <a:round/>
            <a:headEnd len="med" w="med" type="none"/>
            <a:tailEnd len="med" w="med" type="none"/>
          </a:ln>
        </p:spPr>
      </p:cxnSp>
      <p:cxnSp>
        <p:nvCxnSpPr>
          <p:cNvPr id="578" name="Google Shape;578;p29"/>
          <p:cNvCxnSpPr>
            <a:stCxn id="574" idx="3"/>
            <a:endCxn id="569" idx="1"/>
          </p:cNvCxnSpPr>
          <p:nvPr/>
        </p:nvCxnSpPr>
        <p:spPr>
          <a:xfrm>
            <a:off x="5357525" y="2926289"/>
            <a:ext cx="320400" cy="0"/>
          </a:xfrm>
          <a:prstGeom prst="straightConnector1">
            <a:avLst/>
          </a:prstGeom>
          <a:noFill/>
          <a:ln cap="flat" cmpd="sng" w="19050">
            <a:solidFill>
              <a:schemeClr val="dk2"/>
            </a:solidFill>
            <a:prstDash val="solid"/>
            <a:round/>
            <a:headEnd len="med" w="med" type="none"/>
            <a:tailEnd len="med" w="med" type="stealth"/>
          </a:ln>
        </p:spPr>
      </p:cxnSp>
      <p:sp>
        <p:nvSpPr>
          <p:cNvPr id="579" name="Google Shape;579;p29"/>
          <p:cNvSpPr txBox="1"/>
          <p:nvPr/>
        </p:nvSpPr>
        <p:spPr>
          <a:xfrm>
            <a:off x="1000600" y="69825"/>
            <a:ext cx="1233300" cy="3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Roll PID</a:t>
            </a:r>
            <a:endParaRPr/>
          </a:p>
        </p:txBody>
      </p:sp>
      <p:sp>
        <p:nvSpPr>
          <p:cNvPr id="580" name="Google Shape;580;p29"/>
          <p:cNvSpPr txBox="1"/>
          <p:nvPr/>
        </p:nvSpPr>
        <p:spPr>
          <a:xfrm>
            <a:off x="943075" y="1699525"/>
            <a:ext cx="1177800" cy="3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Pitch PID</a:t>
            </a:r>
            <a:endParaRPr/>
          </a:p>
        </p:txBody>
      </p:sp>
      <p:sp>
        <p:nvSpPr>
          <p:cNvPr id="581" name="Google Shape;581;p29"/>
          <p:cNvSpPr/>
          <p:nvPr/>
        </p:nvSpPr>
        <p:spPr>
          <a:xfrm>
            <a:off x="7114100" y="2037800"/>
            <a:ext cx="1126200" cy="1331100"/>
          </a:xfrm>
          <a:prstGeom prst="roundRect">
            <a:avLst>
              <a:gd fmla="val 16667" name="adj"/>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Cyclic Collective Throttle Mixer</a:t>
            </a:r>
            <a:endParaRPr/>
          </a:p>
        </p:txBody>
      </p:sp>
      <p:cxnSp>
        <p:nvCxnSpPr>
          <p:cNvPr id="582" name="Google Shape;582;p29"/>
          <p:cNvCxnSpPr>
            <a:stCxn id="539" idx="3"/>
            <a:endCxn id="581" idx="0"/>
          </p:cNvCxnSpPr>
          <p:nvPr/>
        </p:nvCxnSpPr>
        <p:spPr>
          <a:xfrm>
            <a:off x="6236950" y="1055850"/>
            <a:ext cx="1440300" cy="981900"/>
          </a:xfrm>
          <a:prstGeom prst="curvedConnector2">
            <a:avLst/>
          </a:prstGeom>
          <a:noFill/>
          <a:ln cap="flat" cmpd="sng" w="9525">
            <a:solidFill>
              <a:schemeClr val="dk2"/>
            </a:solidFill>
            <a:prstDash val="solid"/>
            <a:round/>
            <a:headEnd len="med" w="med" type="none"/>
            <a:tailEnd len="med" w="med" type="stealth"/>
          </a:ln>
        </p:spPr>
      </p:cxnSp>
      <p:cxnSp>
        <p:nvCxnSpPr>
          <p:cNvPr id="583" name="Google Shape;583;p29"/>
          <p:cNvCxnSpPr>
            <a:stCxn id="540" idx="3"/>
            <a:endCxn id="581" idx="1"/>
          </p:cNvCxnSpPr>
          <p:nvPr/>
        </p:nvCxnSpPr>
        <p:spPr>
          <a:xfrm flipH="1" rot="10800000">
            <a:off x="6307225" y="2703300"/>
            <a:ext cx="807000" cy="35700"/>
          </a:xfrm>
          <a:prstGeom prst="curvedConnector3">
            <a:avLst>
              <a:gd fmla="val 49992" name="adj1"/>
            </a:avLst>
          </a:prstGeom>
          <a:noFill/>
          <a:ln cap="flat" cmpd="sng" w="9525">
            <a:solidFill>
              <a:schemeClr val="dk2"/>
            </a:solidFill>
            <a:prstDash val="solid"/>
            <a:round/>
            <a:headEnd len="med" w="med" type="none"/>
            <a:tailEnd len="med" w="med" type="stealth"/>
          </a:ln>
        </p:spPr>
      </p:cxnSp>
      <p:sp>
        <p:nvSpPr>
          <p:cNvPr id="584" name="Google Shape;584;p29"/>
          <p:cNvSpPr/>
          <p:nvPr/>
        </p:nvSpPr>
        <p:spPr>
          <a:xfrm>
            <a:off x="667450" y="3812400"/>
            <a:ext cx="5569500" cy="1331100"/>
          </a:xfrm>
          <a:prstGeom prst="roundRect">
            <a:avLst>
              <a:gd fmla="val 16667" name="adj"/>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9"/>
          <p:cNvSpPr/>
          <p:nvPr/>
        </p:nvSpPr>
        <p:spPr>
          <a:xfrm>
            <a:off x="2050550" y="4243400"/>
            <a:ext cx="768300" cy="55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Angle</a:t>
            </a:r>
            <a:endParaRPr sz="1000"/>
          </a:p>
          <a:p>
            <a:pPr indent="0" lvl="0" marL="0" rtl="0" algn="ctr">
              <a:spcBef>
                <a:spcPts val="0"/>
              </a:spcBef>
              <a:spcAft>
                <a:spcPts val="0"/>
              </a:spcAft>
              <a:buNone/>
            </a:pPr>
            <a:r>
              <a:rPr lang="en-GB" sz="1000"/>
              <a:t>PID</a:t>
            </a:r>
            <a:endParaRPr sz="1000"/>
          </a:p>
        </p:txBody>
      </p:sp>
      <p:sp>
        <p:nvSpPr>
          <p:cNvPr id="586" name="Google Shape;586;p29"/>
          <p:cNvSpPr/>
          <p:nvPr/>
        </p:nvSpPr>
        <p:spPr>
          <a:xfrm>
            <a:off x="2050525" y="4216311"/>
            <a:ext cx="367200" cy="2571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9"/>
          <p:cNvSpPr/>
          <p:nvPr/>
        </p:nvSpPr>
        <p:spPr>
          <a:xfrm>
            <a:off x="2050525" y="4600500"/>
            <a:ext cx="768300" cy="1284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9"/>
          <p:cNvSpPr/>
          <p:nvPr/>
        </p:nvSpPr>
        <p:spPr>
          <a:xfrm>
            <a:off x="4662350" y="4347850"/>
            <a:ext cx="624900" cy="55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Rate</a:t>
            </a:r>
            <a:endParaRPr sz="1000"/>
          </a:p>
          <a:p>
            <a:pPr indent="0" lvl="0" marL="0" rtl="0" algn="ctr">
              <a:spcBef>
                <a:spcPts val="0"/>
              </a:spcBef>
              <a:spcAft>
                <a:spcPts val="0"/>
              </a:spcAft>
              <a:buNone/>
            </a:pPr>
            <a:r>
              <a:rPr lang="en-GB" sz="1000"/>
              <a:t>PID</a:t>
            </a:r>
            <a:endParaRPr sz="1000"/>
          </a:p>
        </p:txBody>
      </p:sp>
      <p:sp>
        <p:nvSpPr>
          <p:cNvPr id="589" name="Google Shape;589;p29"/>
          <p:cNvSpPr txBox="1"/>
          <p:nvPr/>
        </p:nvSpPr>
        <p:spPr>
          <a:xfrm>
            <a:off x="772550" y="4042100"/>
            <a:ext cx="421800" cy="2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9"/>
          <p:cNvSpPr txBox="1"/>
          <p:nvPr/>
        </p:nvSpPr>
        <p:spPr>
          <a:xfrm>
            <a:off x="667450" y="4110850"/>
            <a:ext cx="1045800" cy="46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000"/>
              <a:t>Pitch Angle from Sensor </a:t>
            </a:r>
            <a:r>
              <a:rPr lang="en-GB" sz="1000">
                <a:solidFill>
                  <a:schemeClr val="dk1"/>
                </a:solidFill>
              </a:rPr>
              <a:t>(°)</a:t>
            </a:r>
            <a:endParaRPr sz="1000"/>
          </a:p>
        </p:txBody>
      </p:sp>
      <p:sp>
        <p:nvSpPr>
          <p:cNvPr id="591" name="Google Shape;591;p29"/>
          <p:cNvSpPr txBox="1"/>
          <p:nvPr/>
        </p:nvSpPr>
        <p:spPr>
          <a:xfrm>
            <a:off x="796800" y="4499100"/>
            <a:ext cx="895500" cy="331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000"/>
              <a:t>Pitch Angle from Pilot </a:t>
            </a:r>
            <a:r>
              <a:rPr lang="en-GB" sz="1000">
                <a:solidFill>
                  <a:schemeClr val="dk1"/>
                </a:solidFill>
              </a:rPr>
              <a:t>(°)</a:t>
            </a:r>
            <a:endParaRPr sz="1000"/>
          </a:p>
        </p:txBody>
      </p:sp>
      <p:sp>
        <p:nvSpPr>
          <p:cNvPr id="592" name="Google Shape;592;p29"/>
          <p:cNvSpPr txBox="1"/>
          <p:nvPr/>
        </p:nvSpPr>
        <p:spPr>
          <a:xfrm>
            <a:off x="3356763" y="4325250"/>
            <a:ext cx="985200" cy="6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Desired Rotational Rate (°/sec)</a:t>
            </a:r>
            <a:endParaRPr sz="1000"/>
          </a:p>
        </p:txBody>
      </p:sp>
      <p:sp>
        <p:nvSpPr>
          <p:cNvPr id="593" name="Google Shape;593;p29"/>
          <p:cNvSpPr txBox="1"/>
          <p:nvPr/>
        </p:nvSpPr>
        <p:spPr>
          <a:xfrm>
            <a:off x="2565025" y="3857250"/>
            <a:ext cx="1380000" cy="46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000"/>
              <a:t>Rotational Pitch Rate from Gyro (°/sec)</a:t>
            </a:r>
            <a:endParaRPr sz="1000"/>
          </a:p>
        </p:txBody>
      </p:sp>
      <p:sp>
        <p:nvSpPr>
          <p:cNvPr id="594" name="Google Shape;594;p29"/>
          <p:cNvSpPr txBox="1"/>
          <p:nvPr/>
        </p:nvSpPr>
        <p:spPr>
          <a:xfrm>
            <a:off x="5607675" y="4445350"/>
            <a:ext cx="569100" cy="43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Motor Output</a:t>
            </a:r>
            <a:endParaRPr sz="1000"/>
          </a:p>
        </p:txBody>
      </p:sp>
      <p:cxnSp>
        <p:nvCxnSpPr>
          <p:cNvPr id="595" name="Google Shape;595;p29"/>
          <p:cNvCxnSpPr>
            <a:endCxn id="586" idx="1"/>
          </p:cNvCxnSpPr>
          <p:nvPr/>
        </p:nvCxnSpPr>
        <p:spPr>
          <a:xfrm>
            <a:off x="1683325" y="4344861"/>
            <a:ext cx="367200" cy="0"/>
          </a:xfrm>
          <a:prstGeom prst="straightConnector1">
            <a:avLst/>
          </a:prstGeom>
          <a:noFill/>
          <a:ln cap="flat" cmpd="sng" w="19050">
            <a:solidFill>
              <a:schemeClr val="dk2"/>
            </a:solidFill>
            <a:prstDash val="solid"/>
            <a:round/>
            <a:headEnd len="med" w="med" type="none"/>
            <a:tailEnd len="med" w="med" type="stealth"/>
          </a:ln>
        </p:spPr>
      </p:cxnSp>
      <p:cxnSp>
        <p:nvCxnSpPr>
          <p:cNvPr id="596" name="Google Shape;596;p29"/>
          <p:cNvCxnSpPr>
            <a:endCxn id="587" idx="1"/>
          </p:cNvCxnSpPr>
          <p:nvPr/>
        </p:nvCxnSpPr>
        <p:spPr>
          <a:xfrm>
            <a:off x="1652425" y="4664700"/>
            <a:ext cx="398100" cy="0"/>
          </a:xfrm>
          <a:prstGeom prst="straightConnector1">
            <a:avLst/>
          </a:prstGeom>
          <a:noFill/>
          <a:ln cap="flat" cmpd="sng" w="19050">
            <a:solidFill>
              <a:schemeClr val="dk2"/>
            </a:solidFill>
            <a:prstDash val="solid"/>
            <a:round/>
            <a:headEnd len="med" w="med" type="none"/>
            <a:tailEnd len="med" w="med" type="stealth"/>
          </a:ln>
        </p:spPr>
      </p:cxnSp>
      <p:cxnSp>
        <p:nvCxnSpPr>
          <p:cNvPr id="597" name="Google Shape;597;p29"/>
          <p:cNvCxnSpPr>
            <a:stCxn id="587" idx="3"/>
            <a:endCxn id="592" idx="1"/>
          </p:cNvCxnSpPr>
          <p:nvPr/>
        </p:nvCxnSpPr>
        <p:spPr>
          <a:xfrm>
            <a:off x="2818825" y="4664700"/>
            <a:ext cx="537900" cy="0"/>
          </a:xfrm>
          <a:prstGeom prst="straightConnector1">
            <a:avLst/>
          </a:prstGeom>
          <a:noFill/>
          <a:ln cap="flat" cmpd="sng" w="19050">
            <a:solidFill>
              <a:schemeClr val="dk2"/>
            </a:solidFill>
            <a:prstDash val="solid"/>
            <a:round/>
            <a:headEnd len="med" w="med" type="none"/>
            <a:tailEnd len="med" w="med" type="stealth"/>
          </a:ln>
        </p:spPr>
      </p:cxnSp>
      <p:sp>
        <p:nvSpPr>
          <p:cNvPr id="598" name="Google Shape;598;p29"/>
          <p:cNvSpPr/>
          <p:nvPr/>
        </p:nvSpPr>
        <p:spPr>
          <a:xfrm>
            <a:off x="4675825" y="4346900"/>
            <a:ext cx="216900" cy="2571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9"/>
          <p:cNvSpPr/>
          <p:nvPr/>
        </p:nvSpPr>
        <p:spPr>
          <a:xfrm>
            <a:off x="4662350" y="4558889"/>
            <a:ext cx="624900" cy="2127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0" name="Google Shape;600;p29"/>
          <p:cNvCxnSpPr>
            <a:endCxn id="598" idx="1"/>
          </p:cNvCxnSpPr>
          <p:nvPr/>
        </p:nvCxnSpPr>
        <p:spPr>
          <a:xfrm>
            <a:off x="3922825" y="4097150"/>
            <a:ext cx="753000" cy="378300"/>
          </a:xfrm>
          <a:prstGeom prst="bentConnector3">
            <a:avLst>
              <a:gd fmla="val 50000" name="adj1"/>
            </a:avLst>
          </a:prstGeom>
          <a:noFill/>
          <a:ln cap="flat" cmpd="sng" w="19050">
            <a:solidFill>
              <a:schemeClr val="dk2"/>
            </a:solidFill>
            <a:prstDash val="solid"/>
            <a:round/>
            <a:headEnd len="med" w="med" type="none"/>
            <a:tailEnd len="med" w="med" type="stealth"/>
          </a:ln>
        </p:spPr>
      </p:cxnSp>
      <p:cxnSp>
        <p:nvCxnSpPr>
          <p:cNvPr id="601" name="Google Shape;601;p29"/>
          <p:cNvCxnSpPr>
            <a:stCxn id="592" idx="3"/>
            <a:endCxn id="599" idx="1"/>
          </p:cNvCxnSpPr>
          <p:nvPr/>
        </p:nvCxnSpPr>
        <p:spPr>
          <a:xfrm>
            <a:off x="4341963" y="4664700"/>
            <a:ext cx="320400" cy="600"/>
          </a:xfrm>
          <a:prstGeom prst="straightConnector1">
            <a:avLst/>
          </a:prstGeom>
          <a:noFill/>
          <a:ln cap="flat" cmpd="sng" w="19050">
            <a:solidFill>
              <a:schemeClr val="dk2"/>
            </a:solidFill>
            <a:prstDash val="solid"/>
            <a:round/>
            <a:headEnd len="med" w="med" type="none"/>
            <a:tailEnd len="med" w="med" type="stealth"/>
          </a:ln>
        </p:spPr>
      </p:cxnSp>
      <p:cxnSp>
        <p:nvCxnSpPr>
          <p:cNvPr id="602" name="Google Shape;602;p29"/>
          <p:cNvCxnSpPr>
            <a:stCxn id="599" idx="3"/>
            <a:endCxn id="599" idx="3"/>
          </p:cNvCxnSpPr>
          <p:nvPr/>
        </p:nvCxnSpPr>
        <p:spPr>
          <a:xfrm>
            <a:off x="5287250" y="4665239"/>
            <a:ext cx="0" cy="0"/>
          </a:xfrm>
          <a:prstGeom prst="straightConnector1">
            <a:avLst/>
          </a:prstGeom>
          <a:noFill/>
          <a:ln cap="flat" cmpd="sng" w="9525">
            <a:solidFill>
              <a:schemeClr val="dk2"/>
            </a:solidFill>
            <a:prstDash val="solid"/>
            <a:round/>
            <a:headEnd len="med" w="med" type="none"/>
            <a:tailEnd len="med" w="med" type="none"/>
          </a:ln>
        </p:spPr>
      </p:cxnSp>
      <p:cxnSp>
        <p:nvCxnSpPr>
          <p:cNvPr id="603" name="Google Shape;603;p29"/>
          <p:cNvCxnSpPr>
            <a:stCxn id="599" idx="3"/>
            <a:endCxn id="594" idx="1"/>
          </p:cNvCxnSpPr>
          <p:nvPr/>
        </p:nvCxnSpPr>
        <p:spPr>
          <a:xfrm>
            <a:off x="5287250" y="4665239"/>
            <a:ext cx="320400" cy="0"/>
          </a:xfrm>
          <a:prstGeom prst="straightConnector1">
            <a:avLst/>
          </a:prstGeom>
          <a:noFill/>
          <a:ln cap="flat" cmpd="sng" w="19050">
            <a:solidFill>
              <a:schemeClr val="dk2"/>
            </a:solidFill>
            <a:prstDash val="solid"/>
            <a:round/>
            <a:headEnd len="med" w="med" type="none"/>
            <a:tailEnd len="med" w="med" type="stealth"/>
          </a:ln>
        </p:spPr>
      </p:cxnSp>
      <p:sp>
        <p:nvSpPr>
          <p:cNvPr id="604" name="Google Shape;604;p29"/>
          <p:cNvSpPr txBox="1"/>
          <p:nvPr/>
        </p:nvSpPr>
        <p:spPr>
          <a:xfrm>
            <a:off x="872800" y="3438475"/>
            <a:ext cx="1177800" cy="3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Yaw</a:t>
            </a:r>
            <a:r>
              <a:rPr lang="en-GB"/>
              <a:t>PID</a:t>
            </a:r>
            <a:endParaRPr/>
          </a:p>
        </p:txBody>
      </p:sp>
      <p:cxnSp>
        <p:nvCxnSpPr>
          <p:cNvPr id="605" name="Google Shape;605;p29"/>
          <p:cNvCxnSpPr>
            <a:stCxn id="584" idx="3"/>
            <a:endCxn id="581" idx="2"/>
          </p:cNvCxnSpPr>
          <p:nvPr/>
        </p:nvCxnSpPr>
        <p:spPr>
          <a:xfrm flipH="1" rot="10800000">
            <a:off x="6236950" y="3368850"/>
            <a:ext cx="1440300" cy="1109100"/>
          </a:xfrm>
          <a:prstGeom prst="curvedConnector2">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30"/>
          <p:cNvSpPr/>
          <p:nvPr/>
        </p:nvSpPr>
        <p:spPr>
          <a:xfrm>
            <a:off x="8106699" y="1206775"/>
            <a:ext cx="5886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TC 0</a:t>
            </a:r>
            <a:endParaRPr sz="800"/>
          </a:p>
        </p:txBody>
      </p:sp>
      <p:sp>
        <p:nvSpPr>
          <p:cNvPr id="611" name="Google Shape;611;p30"/>
          <p:cNvSpPr/>
          <p:nvPr/>
        </p:nvSpPr>
        <p:spPr>
          <a:xfrm>
            <a:off x="8106571" y="1528075"/>
            <a:ext cx="588600" cy="3018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TC 2</a:t>
            </a:r>
            <a:endParaRPr sz="800"/>
          </a:p>
        </p:txBody>
      </p:sp>
      <p:sp>
        <p:nvSpPr>
          <p:cNvPr id="612" name="Google Shape;612;p30"/>
          <p:cNvSpPr/>
          <p:nvPr/>
        </p:nvSpPr>
        <p:spPr>
          <a:xfrm>
            <a:off x="3307000" y="1150254"/>
            <a:ext cx="758100" cy="5481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Cyclic Collective Throttle Mixer</a:t>
            </a:r>
            <a:endParaRPr sz="800"/>
          </a:p>
        </p:txBody>
      </p:sp>
      <p:sp>
        <p:nvSpPr>
          <p:cNvPr id="613" name="Google Shape;613;p30"/>
          <p:cNvSpPr txBox="1"/>
          <p:nvPr/>
        </p:nvSpPr>
        <p:spPr>
          <a:xfrm>
            <a:off x="64725" y="78450"/>
            <a:ext cx="1114500" cy="3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Motors</a:t>
            </a:r>
            <a:endParaRPr b="1" u="sng"/>
          </a:p>
        </p:txBody>
      </p:sp>
      <p:sp>
        <p:nvSpPr>
          <p:cNvPr id="614" name="Google Shape;614;p30"/>
          <p:cNvSpPr txBox="1"/>
          <p:nvPr/>
        </p:nvSpPr>
        <p:spPr>
          <a:xfrm>
            <a:off x="151675" y="2301150"/>
            <a:ext cx="3626700" cy="27825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Cyclic Collective Throttle Mixer (CCTM)</a:t>
            </a:r>
            <a:endParaRPr sz="1200"/>
          </a:p>
          <a:p>
            <a:pPr indent="0" lvl="0" marL="0" rtl="0" algn="l">
              <a:spcBef>
                <a:spcPts val="0"/>
              </a:spcBef>
              <a:spcAft>
                <a:spcPts val="0"/>
              </a:spcAft>
              <a:buNone/>
            </a:pPr>
            <a:r>
              <a:rPr lang="en-GB" sz="800"/>
              <a:t>Takes the output from the PID and governs how much power to provide or take away from the motors. </a:t>
            </a:r>
            <a:endParaRPr sz="800"/>
          </a:p>
          <a:p>
            <a:pPr indent="0" lvl="0" marL="0" rtl="0" algn="l">
              <a:spcBef>
                <a:spcPts val="0"/>
              </a:spcBef>
              <a:spcAft>
                <a:spcPts val="0"/>
              </a:spcAft>
              <a:buNone/>
            </a:pPr>
            <a:r>
              <a:rPr lang="en-GB" sz="800"/>
              <a:t>Also takes into account the mode “X” or “+”</a:t>
            </a:r>
            <a:endParaRPr sz="800"/>
          </a:p>
          <a:p>
            <a:pPr indent="0" lvl="0" marL="0" rtl="0" algn="l">
              <a:spcBef>
                <a:spcPts val="0"/>
              </a:spcBef>
              <a:spcAft>
                <a:spcPts val="0"/>
              </a:spcAft>
              <a:buNone/>
            </a:pPr>
            <a:r>
              <a:rPr lang="en-GB" sz="800"/>
              <a:t>Needs to have a running knowledge of the current motor speed to know what to change to</a:t>
            </a:r>
            <a:endParaRPr sz="800"/>
          </a:p>
          <a:p>
            <a:pPr indent="0" lvl="0" marL="0" rtl="0" algn="l">
              <a:spcBef>
                <a:spcPts val="0"/>
              </a:spcBef>
              <a:spcAft>
                <a:spcPts val="0"/>
              </a:spcAft>
              <a:buNone/>
            </a:pPr>
            <a:r>
              <a:rPr lang="en-GB" sz="800"/>
              <a:t>Needs to mix with the throttle value</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configCCTM(Mode)</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readRollPIDOutput()</a:t>
            </a:r>
            <a:endParaRPr sz="800"/>
          </a:p>
          <a:p>
            <a:pPr indent="0" lvl="0" marL="0" rtl="0" algn="l">
              <a:spcBef>
                <a:spcPts val="0"/>
              </a:spcBef>
              <a:spcAft>
                <a:spcPts val="0"/>
              </a:spcAft>
              <a:buNone/>
            </a:pPr>
            <a:r>
              <a:rPr lang="en-GB" sz="800"/>
              <a:t>readPitchPIDOutput()</a:t>
            </a:r>
            <a:endParaRPr sz="800"/>
          </a:p>
          <a:p>
            <a:pPr indent="0" lvl="0" marL="0" rtl="0" algn="l">
              <a:spcBef>
                <a:spcPts val="0"/>
              </a:spcBef>
              <a:spcAft>
                <a:spcPts val="0"/>
              </a:spcAft>
              <a:buNone/>
            </a:pPr>
            <a:r>
              <a:rPr lang="en-GB" sz="800"/>
              <a:t>readYawPIDOutput()</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writeMotor(int motorID, int value)</a:t>
            </a:r>
            <a:endParaRPr sz="8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15" name="Google Shape;615;p30"/>
          <p:cNvSpPr txBox="1"/>
          <p:nvPr/>
        </p:nvSpPr>
        <p:spPr>
          <a:xfrm>
            <a:off x="6387575" y="599725"/>
            <a:ext cx="1719000" cy="18372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t>Write PWM Driver</a:t>
            </a:r>
            <a:endParaRPr sz="1200"/>
          </a:p>
          <a:p>
            <a:pPr indent="0" lvl="0" marL="0" rtl="0" algn="l">
              <a:spcBef>
                <a:spcPts val="0"/>
              </a:spcBef>
              <a:spcAft>
                <a:spcPts val="0"/>
              </a:spcAft>
              <a:buNone/>
            </a:pPr>
            <a:r>
              <a:rPr lang="en-GB" sz="800"/>
              <a:t>Uses TC0 and TC2 which are both 8 bit counters. In Waveform Generation mode to generate 4 PWM outputs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configMotorsPWM()</a:t>
            </a:r>
            <a:endParaRPr sz="800"/>
          </a:p>
          <a:p>
            <a:pPr indent="0" lvl="0" marL="0" rtl="0" algn="l">
              <a:spcBef>
                <a:spcPts val="0"/>
              </a:spcBef>
              <a:spcAft>
                <a:spcPts val="0"/>
              </a:spcAft>
              <a:buNone/>
            </a:pPr>
            <a:r>
              <a:rPr lang="en-GB" sz="800"/>
              <a:t>writeMotorsPWM(power%)</a:t>
            </a:r>
            <a:endParaRPr sz="800"/>
          </a:p>
          <a:p>
            <a:pPr indent="0" lvl="0" marL="0" rtl="0" algn="l">
              <a:spcBef>
                <a:spcPts val="0"/>
              </a:spcBef>
              <a:spcAft>
                <a:spcPts val="0"/>
              </a:spcAft>
              <a:buNone/>
            </a:pPr>
            <a:r>
              <a:t/>
            </a:r>
            <a:endParaRPr/>
          </a:p>
        </p:txBody>
      </p:sp>
      <p:sp>
        <p:nvSpPr>
          <p:cNvPr id="616" name="Google Shape;616;p30"/>
          <p:cNvSpPr txBox="1"/>
          <p:nvPr/>
        </p:nvSpPr>
        <p:spPr>
          <a:xfrm>
            <a:off x="1417675" y="856959"/>
            <a:ext cx="11145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Roll PID Output</a:t>
            </a:r>
            <a:endParaRPr sz="1000"/>
          </a:p>
        </p:txBody>
      </p:sp>
      <p:sp>
        <p:nvSpPr>
          <p:cNvPr id="617" name="Google Shape;617;p30"/>
          <p:cNvSpPr txBox="1"/>
          <p:nvPr/>
        </p:nvSpPr>
        <p:spPr>
          <a:xfrm>
            <a:off x="1417675" y="1232809"/>
            <a:ext cx="11541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Pitch </a:t>
            </a:r>
            <a:r>
              <a:rPr lang="en-GB" sz="1000"/>
              <a:t>PID Output</a:t>
            </a:r>
            <a:endParaRPr sz="1000"/>
          </a:p>
        </p:txBody>
      </p:sp>
      <p:sp>
        <p:nvSpPr>
          <p:cNvPr id="618" name="Google Shape;618;p30"/>
          <p:cNvSpPr txBox="1"/>
          <p:nvPr/>
        </p:nvSpPr>
        <p:spPr>
          <a:xfrm>
            <a:off x="1417675" y="1608659"/>
            <a:ext cx="11541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Yaw </a:t>
            </a:r>
            <a:r>
              <a:rPr lang="en-GB" sz="1000"/>
              <a:t>PID Output</a:t>
            </a:r>
            <a:endParaRPr sz="1000"/>
          </a:p>
        </p:txBody>
      </p:sp>
      <p:cxnSp>
        <p:nvCxnSpPr>
          <p:cNvPr id="619" name="Google Shape;619;p30"/>
          <p:cNvCxnSpPr>
            <a:stCxn id="616" idx="3"/>
            <a:endCxn id="612" idx="1"/>
          </p:cNvCxnSpPr>
          <p:nvPr/>
        </p:nvCxnSpPr>
        <p:spPr>
          <a:xfrm>
            <a:off x="2532175" y="1028409"/>
            <a:ext cx="774900" cy="396000"/>
          </a:xfrm>
          <a:prstGeom prst="curvedConnector3">
            <a:avLst>
              <a:gd fmla="val 49995" name="adj1"/>
            </a:avLst>
          </a:prstGeom>
          <a:noFill/>
          <a:ln cap="flat" cmpd="sng" w="9525">
            <a:solidFill>
              <a:schemeClr val="dk2"/>
            </a:solidFill>
            <a:prstDash val="solid"/>
            <a:round/>
            <a:headEnd len="med" w="med" type="none"/>
            <a:tailEnd len="med" w="med" type="stealth"/>
          </a:ln>
        </p:spPr>
      </p:cxnSp>
      <p:cxnSp>
        <p:nvCxnSpPr>
          <p:cNvPr id="620" name="Google Shape;620;p30"/>
          <p:cNvCxnSpPr>
            <a:stCxn id="617" idx="3"/>
            <a:endCxn id="612" idx="1"/>
          </p:cNvCxnSpPr>
          <p:nvPr/>
        </p:nvCxnSpPr>
        <p:spPr>
          <a:xfrm>
            <a:off x="2571775" y="1404259"/>
            <a:ext cx="735300" cy="20100"/>
          </a:xfrm>
          <a:prstGeom prst="curvedConnector3">
            <a:avLst>
              <a:gd fmla="val 49995" name="adj1"/>
            </a:avLst>
          </a:prstGeom>
          <a:noFill/>
          <a:ln cap="flat" cmpd="sng" w="9525">
            <a:solidFill>
              <a:schemeClr val="dk2"/>
            </a:solidFill>
            <a:prstDash val="solid"/>
            <a:round/>
            <a:headEnd len="med" w="med" type="none"/>
            <a:tailEnd len="med" w="med" type="stealth"/>
          </a:ln>
        </p:spPr>
      </p:cxnSp>
      <p:cxnSp>
        <p:nvCxnSpPr>
          <p:cNvPr id="621" name="Google Shape;621;p30"/>
          <p:cNvCxnSpPr>
            <a:stCxn id="618" idx="3"/>
            <a:endCxn id="612" idx="1"/>
          </p:cNvCxnSpPr>
          <p:nvPr/>
        </p:nvCxnSpPr>
        <p:spPr>
          <a:xfrm flipH="1" rot="10800000">
            <a:off x="2571775" y="1424309"/>
            <a:ext cx="735300" cy="355800"/>
          </a:xfrm>
          <a:prstGeom prst="curvedConnector3">
            <a:avLst>
              <a:gd fmla="val 49995" name="adj1"/>
            </a:avLst>
          </a:prstGeom>
          <a:noFill/>
          <a:ln cap="flat" cmpd="sng" w="9525">
            <a:solidFill>
              <a:schemeClr val="dk2"/>
            </a:solidFill>
            <a:prstDash val="solid"/>
            <a:round/>
            <a:headEnd len="med" w="med" type="none"/>
            <a:tailEnd len="med" w="med" type="stealth"/>
          </a:ln>
        </p:spPr>
      </p:cxnSp>
      <p:sp>
        <p:nvSpPr>
          <p:cNvPr id="622" name="Google Shape;622;p30"/>
          <p:cNvSpPr txBox="1"/>
          <p:nvPr/>
        </p:nvSpPr>
        <p:spPr>
          <a:xfrm>
            <a:off x="5304800" y="758325"/>
            <a:ext cx="10155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Motor 1 Value</a:t>
            </a:r>
            <a:endParaRPr sz="1000"/>
          </a:p>
        </p:txBody>
      </p:sp>
      <p:sp>
        <p:nvSpPr>
          <p:cNvPr id="623" name="Google Shape;623;p30"/>
          <p:cNvSpPr txBox="1"/>
          <p:nvPr/>
        </p:nvSpPr>
        <p:spPr>
          <a:xfrm>
            <a:off x="5304800" y="1101225"/>
            <a:ext cx="10155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Motor 2 Value</a:t>
            </a:r>
            <a:endParaRPr sz="1000"/>
          </a:p>
        </p:txBody>
      </p:sp>
      <p:sp>
        <p:nvSpPr>
          <p:cNvPr id="624" name="Google Shape;624;p30"/>
          <p:cNvSpPr txBox="1"/>
          <p:nvPr/>
        </p:nvSpPr>
        <p:spPr>
          <a:xfrm>
            <a:off x="5304800" y="1440775"/>
            <a:ext cx="10155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Motor 3 Value</a:t>
            </a:r>
            <a:endParaRPr sz="1000"/>
          </a:p>
        </p:txBody>
      </p:sp>
      <p:sp>
        <p:nvSpPr>
          <p:cNvPr id="625" name="Google Shape;625;p30"/>
          <p:cNvSpPr txBox="1"/>
          <p:nvPr/>
        </p:nvSpPr>
        <p:spPr>
          <a:xfrm>
            <a:off x="5304800" y="1800175"/>
            <a:ext cx="10155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Motor 4 Value</a:t>
            </a:r>
            <a:endParaRPr sz="1000"/>
          </a:p>
        </p:txBody>
      </p:sp>
      <p:cxnSp>
        <p:nvCxnSpPr>
          <p:cNvPr id="626" name="Google Shape;626;p30"/>
          <p:cNvCxnSpPr>
            <a:endCxn id="622" idx="1"/>
          </p:cNvCxnSpPr>
          <p:nvPr/>
        </p:nvCxnSpPr>
        <p:spPr>
          <a:xfrm flipH="1" rot="10800000">
            <a:off x="4065200" y="929775"/>
            <a:ext cx="1239600" cy="494400"/>
          </a:xfrm>
          <a:prstGeom prst="curvedConnector3">
            <a:avLst>
              <a:gd fmla="val 50000" name="adj1"/>
            </a:avLst>
          </a:prstGeom>
          <a:noFill/>
          <a:ln cap="flat" cmpd="sng" w="9525">
            <a:solidFill>
              <a:schemeClr val="dk2"/>
            </a:solidFill>
            <a:prstDash val="solid"/>
            <a:round/>
            <a:headEnd len="med" w="med" type="none"/>
            <a:tailEnd len="med" w="med" type="stealth"/>
          </a:ln>
        </p:spPr>
      </p:cxnSp>
      <p:cxnSp>
        <p:nvCxnSpPr>
          <p:cNvPr id="627" name="Google Shape;627;p30"/>
          <p:cNvCxnSpPr>
            <a:endCxn id="623" idx="1"/>
          </p:cNvCxnSpPr>
          <p:nvPr/>
        </p:nvCxnSpPr>
        <p:spPr>
          <a:xfrm flipH="1" rot="10800000">
            <a:off x="4065200" y="1272675"/>
            <a:ext cx="1239600" cy="151500"/>
          </a:xfrm>
          <a:prstGeom prst="curvedConnector3">
            <a:avLst>
              <a:gd fmla="val 50000" name="adj1"/>
            </a:avLst>
          </a:prstGeom>
          <a:noFill/>
          <a:ln cap="flat" cmpd="sng" w="9525">
            <a:solidFill>
              <a:schemeClr val="dk2"/>
            </a:solidFill>
            <a:prstDash val="solid"/>
            <a:round/>
            <a:headEnd len="med" w="med" type="none"/>
            <a:tailEnd len="med" w="med" type="stealth"/>
          </a:ln>
        </p:spPr>
      </p:cxnSp>
      <p:cxnSp>
        <p:nvCxnSpPr>
          <p:cNvPr id="628" name="Google Shape;628;p30"/>
          <p:cNvCxnSpPr>
            <a:endCxn id="624" idx="1"/>
          </p:cNvCxnSpPr>
          <p:nvPr/>
        </p:nvCxnSpPr>
        <p:spPr>
          <a:xfrm>
            <a:off x="4065200" y="1424425"/>
            <a:ext cx="1239600" cy="187800"/>
          </a:xfrm>
          <a:prstGeom prst="curvedConnector3">
            <a:avLst>
              <a:gd fmla="val 50000" name="adj1"/>
            </a:avLst>
          </a:prstGeom>
          <a:noFill/>
          <a:ln cap="flat" cmpd="sng" w="9525">
            <a:solidFill>
              <a:schemeClr val="dk2"/>
            </a:solidFill>
            <a:prstDash val="solid"/>
            <a:round/>
            <a:headEnd len="med" w="med" type="none"/>
            <a:tailEnd len="med" w="med" type="stealth"/>
          </a:ln>
        </p:spPr>
      </p:cxnSp>
      <p:cxnSp>
        <p:nvCxnSpPr>
          <p:cNvPr id="629" name="Google Shape;629;p30"/>
          <p:cNvCxnSpPr>
            <a:stCxn id="612" idx="3"/>
            <a:endCxn id="625" idx="1"/>
          </p:cNvCxnSpPr>
          <p:nvPr/>
        </p:nvCxnSpPr>
        <p:spPr>
          <a:xfrm>
            <a:off x="4065100" y="1424304"/>
            <a:ext cx="1239600" cy="547200"/>
          </a:xfrm>
          <a:prstGeom prst="curvedConnector3">
            <a:avLst>
              <a:gd fmla="val 50004" name="adj1"/>
            </a:avLst>
          </a:prstGeom>
          <a:noFill/>
          <a:ln cap="flat" cmpd="sng" w="9525">
            <a:solidFill>
              <a:schemeClr val="dk2"/>
            </a:solidFill>
            <a:prstDash val="solid"/>
            <a:round/>
            <a:headEnd len="med" w="med" type="none"/>
            <a:tailEnd len="med" w="med" type="stealth"/>
          </a:ln>
        </p:spPr>
      </p:cxnSp>
      <p:sp>
        <p:nvSpPr>
          <p:cNvPr id="630" name="Google Shape;630;p30"/>
          <p:cNvSpPr txBox="1"/>
          <p:nvPr/>
        </p:nvSpPr>
        <p:spPr>
          <a:xfrm>
            <a:off x="3128529" y="419825"/>
            <a:ext cx="14598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t>Mode (“+” or “X”)</a:t>
            </a:r>
            <a:endParaRPr sz="1000"/>
          </a:p>
        </p:txBody>
      </p:sp>
      <p:cxnSp>
        <p:nvCxnSpPr>
          <p:cNvPr id="631" name="Google Shape;631;p30"/>
          <p:cNvCxnSpPr>
            <a:stCxn id="630" idx="2"/>
            <a:endCxn id="612" idx="0"/>
          </p:cNvCxnSpPr>
          <p:nvPr/>
        </p:nvCxnSpPr>
        <p:spPr>
          <a:xfrm flipH="1">
            <a:off x="3685929" y="762725"/>
            <a:ext cx="172500" cy="387600"/>
          </a:xfrm>
          <a:prstGeom prst="straightConnector1">
            <a:avLst/>
          </a:prstGeom>
          <a:noFill/>
          <a:ln cap="flat" cmpd="sng" w="9525">
            <a:solidFill>
              <a:schemeClr val="dk2"/>
            </a:solidFill>
            <a:prstDash val="solid"/>
            <a:round/>
            <a:headEnd len="med" w="med" type="none"/>
            <a:tailEnd len="med" w="med" type="stealth"/>
          </a:ln>
        </p:spPr>
      </p:cxnSp>
      <p:sp>
        <p:nvSpPr>
          <p:cNvPr id="632" name="Google Shape;632;p30"/>
          <p:cNvSpPr txBox="1"/>
          <p:nvPr/>
        </p:nvSpPr>
        <p:spPr>
          <a:xfrm>
            <a:off x="4176525" y="3651875"/>
            <a:ext cx="4320300" cy="84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https://beaglequad.wordpress.com/2015/10/03/the-basic-physics-of-the-quad-copter/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31"/>
          <p:cNvSpPr/>
          <p:nvPr/>
        </p:nvSpPr>
        <p:spPr>
          <a:xfrm>
            <a:off x="2269075" y="678900"/>
            <a:ext cx="478200" cy="47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M1</a:t>
            </a:r>
            <a:endParaRPr sz="800"/>
          </a:p>
        </p:txBody>
      </p:sp>
      <p:cxnSp>
        <p:nvCxnSpPr>
          <p:cNvPr id="638" name="Google Shape;638;p31"/>
          <p:cNvCxnSpPr/>
          <p:nvPr/>
        </p:nvCxnSpPr>
        <p:spPr>
          <a:xfrm>
            <a:off x="2508175" y="1157100"/>
            <a:ext cx="0" cy="1143900"/>
          </a:xfrm>
          <a:prstGeom prst="straightConnector1">
            <a:avLst/>
          </a:prstGeom>
          <a:noFill/>
          <a:ln cap="flat" cmpd="sng" w="28575">
            <a:solidFill>
              <a:schemeClr val="dk2"/>
            </a:solidFill>
            <a:prstDash val="solid"/>
            <a:round/>
            <a:headEnd len="med" w="med" type="none"/>
            <a:tailEnd len="med" w="med" type="none"/>
          </a:ln>
        </p:spPr>
      </p:cxnSp>
      <p:cxnSp>
        <p:nvCxnSpPr>
          <p:cNvPr id="639" name="Google Shape;639;p31"/>
          <p:cNvCxnSpPr/>
          <p:nvPr/>
        </p:nvCxnSpPr>
        <p:spPr>
          <a:xfrm>
            <a:off x="2508175" y="1157100"/>
            <a:ext cx="0" cy="1143900"/>
          </a:xfrm>
          <a:prstGeom prst="straightConnector1">
            <a:avLst/>
          </a:prstGeom>
          <a:noFill/>
          <a:ln cap="flat" cmpd="sng" w="28575">
            <a:solidFill>
              <a:schemeClr val="dk2"/>
            </a:solidFill>
            <a:prstDash val="solid"/>
            <a:round/>
            <a:headEnd len="med" w="med" type="none"/>
            <a:tailEnd len="med" w="med" type="none"/>
          </a:ln>
        </p:spPr>
      </p:cxnSp>
      <p:sp>
        <p:nvSpPr>
          <p:cNvPr id="640" name="Google Shape;640;p31"/>
          <p:cNvSpPr/>
          <p:nvPr/>
        </p:nvSpPr>
        <p:spPr>
          <a:xfrm>
            <a:off x="3080125" y="1489950"/>
            <a:ext cx="478200" cy="47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M4</a:t>
            </a:r>
            <a:endParaRPr sz="800"/>
          </a:p>
        </p:txBody>
      </p:sp>
      <p:sp>
        <p:nvSpPr>
          <p:cNvPr id="641" name="Google Shape;641;p31"/>
          <p:cNvSpPr/>
          <p:nvPr/>
        </p:nvSpPr>
        <p:spPr>
          <a:xfrm>
            <a:off x="2269075" y="2301000"/>
            <a:ext cx="478200" cy="47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M2</a:t>
            </a:r>
            <a:endParaRPr sz="800"/>
          </a:p>
        </p:txBody>
      </p:sp>
      <p:sp>
        <p:nvSpPr>
          <p:cNvPr id="642" name="Google Shape;642;p31"/>
          <p:cNvSpPr/>
          <p:nvPr/>
        </p:nvSpPr>
        <p:spPr>
          <a:xfrm>
            <a:off x="1458025" y="1489950"/>
            <a:ext cx="478200" cy="47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M3</a:t>
            </a:r>
            <a:endParaRPr sz="800"/>
          </a:p>
        </p:txBody>
      </p:sp>
      <p:sp>
        <p:nvSpPr>
          <p:cNvPr id="643" name="Google Shape;643;p31"/>
          <p:cNvSpPr/>
          <p:nvPr/>
        </p:nvSpPr>
        <p:spPr>
          <a:xfrm>
            <a:off x="2130196" y="521700"/>
            <a:ext cx="808800" cy="635400"/>
          </a:xfrm>
          <a:prstGeom prst="uturnArrow">
            <a:avLst>
              <a:gd fmla="val 4801" name="adj1"/>
              <a:gd fmla="val 10406" name="adj2"/>
              <a:gd fmla="val 23529" name="adj3"/>
              <a:gd fmla="val 60203" name="adj4"/>
              <a:gd fmla="val 95996" name="adj5"/>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1"/>
          <p:cNvSpPr/>
          <p:nvPr/>
        </p:nvSpPr>
        <p:spPr>
          <a:xfrm rot="10800000">
            <a:off x="2053996" y="2285925"/>
            <a:ext cx="808800" cy="635400"/>
          </a:xfrm>
          <a:prstGeom prst="uturnArrow">
            <a:avLst>
              <a:gd fmla="val 4801" name="adj1"/>
              <a:gd fmla="val 10406" name="adj2"/>
              <a:gd fmla="val 23529" name="adj3"/>
              <a:gd fmla="val 60203" name="adj4"/>
              <a:gd fmla="val 95996" name="adj5"/>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1"/>
          <p:cNvSpPr/>
          <p:nvPr/>
        </p:nvSpPr>
        <p:spPr>
          <a:xfrm flipH="1" rot="5400000">
            <a:off x="2993421" y="1377825"/>
            <a:ext cx="808800" cy="635400"/>
          </a:xfrm>
          <a:prstGeom prst="uturnArrow">
            <a:avLst>
              <a:gd fmla="val 4801" name="adj1"/>
              <a:gd fmla="val 10406" name="adj2"/>
              <a:gd fmla="val 23529" name="adj3"/>
              <a:gd fmla="val 60203" name="adj4"/>
              <a:gd fmla="val 95996" name="adj5"/>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1"/>
          <p:cNvSpPr/>
          <p:nvPr/>
        </p:nvSpPr>
        <p:spPr>
          <a:xfrm flipH="1" rot="-5400000">
            <a:off x="1160746" y="1411425"/>
            <a:ext cx="808800" cy="635400"/>
          </a:xfrm>
          <a:prstGeom prst="uturnArrow">
            <a:avLst>
              <a:gd fmla="val 4801" name="adj1"/>
              <a:gd fmla="val 10406" name="adj2"/>
              <a:gd fmla="val 23529" name="adj3"/>
              <a:gd fmla="val 60203" name="adj4"/>
              <a:gd fmla="val 95996" name="adj5"/>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1"/>
          <p:cNvSpPr txBox="1"/>
          <p:nvPr/>
        </p:nvSpPr>
        <p:spPr>
          <a:xfrm>
            <a:off x="2233950" y="203275"/>
            <a:ext cx="575100" cy="2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CW</a:t>
            </a:r>
            <a:endParaRPr/>
          </a:p>
        </p:txBody>
      </p:sp>
      <p:sp>
        <p:nvSpPr>
          <p:cNvPr id="648" name="Google Shape;648;p31"/>
          <p:cNvSpPr txBox="1"/>
          <p:nvPr/>
        </p:nvSpPr>
        <p:spPr>
          <a:xfrm>
            <a:off x="2220625" y="2884325"/>
            <a:ext cx="575100" cy="2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CW</a:t>
            </a:r>
            <a:endParaRPr/>
          </a:p>
        </p:txBody>
      </p:sp>
      <p:sp>
        <p:nvSpPr>
          <p:cNvPr id="649" name="Google Shape;649;p31"/>
          <p:cNvSpPr txBox="1"/>
          <p:nvPr/>
        </p:nvSpPr>
        <p:spPr>
          <a:xfrm>
            <a:off x="3796500" y="1581900"/>
            <a:ext cx="702300" cy="2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CCW</a:t>
            </a:r>
            <a:endParaRPr/>
          </a:p>
        </p:txBody>
      </p:sp>
      <p:sp>
        <p:nvSpPr>
          <p:cNvPr id="650" name="Google Shape;650;p31"/>
          <p:cNvSpPr txBox="1"/>
          <p:nvPr/>
        </p:nvSpPr>
        <p:spPr>
          <a:xfrm>
            <a:off x="644175" y="1548375"/>
            <a:ext cx="702300" cy="2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CCW</a:t>
            </a:r>
            <a:endParaRPr/>
          </a:p>
        </p:txBody>
      </p:sp>
      <p:sp>
        <p:nvSpPr>
          <p:cNvPr id="651" name="Google Shape;651;p31"/>
          <p:cNvSpPr/>
          <p:nvPr/>
        </p:nvSpPr>
        <p:spPr>
          <a:xfrm>
            <a:off x="6907529" y="860512"/>
            <a:ext cx="478200" cy="47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M1</a:t>
            </a:r>
            <a:endParaRPr sz="800"/>
          </a:p>
        </p:txBody>
      </p:sp>
      <p:cxnSp>
        <p:nvCxnSpPr>
          <p:cNvPr id="652" name="Google Shape;652;p31"/>
          <p:cNvCxnSpPr/>
          <p:nvPr/>
        </p:nvCxnSpPr>
        <p:spPr>
          <a:xfrm>
            <a:off x="6573133" y="1101184"/>
            <a:ext cx="0" cy="1143816"/>
          </a:xfrm>
          <a:prstGeom prst="straightConnector1">
            <a:avLst/>
          </a:prstGeom>
          <a:noFill/>
          <a:ln cap="flat" cmpd="sng" w="28575">
            <a:solidFill>
              <a:schemeClr val="dk2"/>
            </a:solidFill>
            <a:prstDash val="solid"/>
            <a:round/>
            <a:headEnd len="med" w="med" type="none"/>
            <a:tailEnd len="med" w="med" type="none"/>
          </a:ln>
        </p:spPr>
      </p:cxnSp>
      <p:cxnSp>
        <p:nvCxnSpPr>
          <p:cNvPr id="653" name="Google Shape;653;p31"/>
          <p:cNvCxnSpPr/>
          <p:nvPr/>
        </p:nvCxnSpPr>
        <p:spPr>
          <a:xfrm rot="10800000">
            <a:off x="6573133" y="1101244"/>
            <a:ext cx="0" cy="1143816"/>
          </a:xfrm>
          <a:prstGeom prst="straightConnector1">
            <a:avLst/>
          </a:prstGeom>
          <a:noFill/>
          <a:ln cap="flat" cmpd="sng" w="28575">
            <a:solidFill>
              <a:schemeClr val="dk2"/>
            </a:solidFill>
            <a:prstDash val="solid"/>
            <a:round/>
            <a:headEnd len="med" w="med" type="none"/>
            <a:tailEnd len="med" w="med" type="none"/>
          </a:ln>
        </p:spPr>
      </p:cxnSp>
      <p:sp>
        <p:nvSpPr>
          <p:cNvPr id="654" name="Google Shape;654;p31"/>
          <p:cNvSpPr/>
          <p:nvPr/>
        </p:nvSpPr>
        <p:spPr>
          <a:xfrm>
            <a:off x="6907529" y="2007510"/>
            <a:ext cx="478200" cy="47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M4</a:t>
            </a:r>
            <a:endParaRPr sz="800"/>
          </a:p>
        </p:txBody>
      </p:sp>
      <p:sp>
        <p:nvSpPr>
          <p:cNvPr id="655" name="Google Shape;655;p31"/>
          <p:cNvSpPr/>
          <p:nvPr/>
        </p:nvSpPr>
        <p:spPr>
          <a:xfrm>
            <a:off x="5760531" y="2007510"/>
            <a:ext cx="478200" cy="47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M2</a:t>
            </a:r>
            <a:endParaRPr sz="800"/>
          </a:p>
        </p:txBody>
      </p:sp>
      <p:sp>
        <p:nvSpPr>
          <p:cNvPr id="656" name="Google Shape;656;p31"/>
          <p:cNvSpPr/>
          <p:nvPr/>
        </p:nvSpPr>
        <p:spPr>
          <a:xfrm>
            <a:off x="5760531" y="860512"/>
            <a:ext cx="478200" cy="47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t>M3</a:t>
            </a:r>
            <a:endParaRPr sz="800"/>
          </a:p>
        </p:txBody>
      </p:sp>
      <p:sp>
        <p:nvSpPr>
          <p:cNvPr id="657" name="Google Shape;657;p31"/>
          <p:cNvSpPr/>
          <p:nvPr/>
        </p:nvSpPr>
        <p:spPr>
          <a:xfrm rot="2700000">
            <a:off x="6816433" y="744951"/>
            <a:ext cx="808647" cy="635548"/>
          </a:xfrm>
          <a:prstGeom prst="uturnArrow">
            <a:avLst>
              <a:gd fmla="val 4801" name="adj1"/>
              <a:gd fmla="val 10406" name="adj2"/>
              <a:gd fmla="val 23529" name="adj3"/>
              <a:gd fmla="val 60203" name="adj4"/>
              <a:gd fmla="val 95996" name="adj5"/>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1"/>
          <p:cNvSpPr/>
          <p:nvPr/>
        </p:nvSpPr>
        <p:spPr>
          <a:xfrm rot="-8100000">
            <a:off x="5515268" y="1938569"/>
            <a:ext cx="808647" cy="635548"/>
          </a:xfrm>
          <a:prstGeom prst="uturnArrow">
            <a:avLst>
              <a:gd fmla="val 4801" name="adj1"/>
              <a:gd fmla="val 10406" name="adj2"/>
              <a:gd fmla="val 23529" name="adj3"/>
              <a:gd fmla="val 60203" name="adj4"/>
              <a:gd fmla="val 95996" name="adj5"/>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1"/>
          <p:cNvSpPr/>
          <p:nvPr/>
        </p:nvSpPr>
        <p:spPr>
          <a:xfrm flipH="1" rot="8100000">
            <a:off x="6821454" y="1960719"/>
            <a:ext cx="808647" cy="635548"/>
          </a:xfrm>
          <a:prstGeom prst="uturnArrow">
            <a:avLst>
              <a:gd fmla="val 4801" name="adj1"/>
              <a:gd fmla="val 10406" name="adj2"/>
              <a:gd fmla="val 23529" name="adj3"/>
              <a:gd fmla="val 60203" name="adj4"/>
              <a:gd fmla="val 95996" name="adj5"/>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1"/>
          <p:cNvSpPr/>
          <p:nvPr/>
        </p:nvSpPr>
        <p:spPr>
          <a:xfrm flipH="1" rot="-2700000">
            <a:off x="5502010" y="688577"/>
            <a:ext cx="808647" cy="635548"/>
          </a:xfrm>
          <a:prstGeom prst="uturnArrow">
            <a:avLst>
              <a:gd fmla="val 4801" name="adj1"/>
              <a:gd fmla="val 10406" name="adj2"/>
              <a:gd fmla="val 23529" name="adj3"/>
              <a:gd fmla="val 60203" name="adj4"/>
              <a:gd fmla="val 95996" name="adj5"/>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1"/>
          <p:cNvSpPr txBox="1"/>
          <p:nvPr/>
        </p:nvSpPr>
        <p:spPr>
          <a:xfrm>
            <a:off x="7345931" y="560610"/>
            <a:ext cx="575400" cy="2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CW</a:t>
            </a:r>
            <a:endParaRPr/>
          </a:p>
        </p:txBody>
      </p:sp>
      <p:sp>
        <p:nvSpPr>
          <p:cNvPr id="662" name="Google Shape;662;p31"/>
          <p:cNvSpPr txBox="1"/>
          <p:nvPr/>
        </p:nvSpPr>
        <p:spPr>
          <a:xfrm>
            <a:off x="5364521" y="2446977"/>
            <a:ext cx="575400" cy="2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CW</a:t>
            </a:r>
            <a:endParaRPr/>
          </a:p>
        </p:txBody>
      </p:sp>
      <p:sp>
        <p:nvSpPr>
          <p:cNvPr id="663" name="Google Shape;663;p31"/>
          <p:cNvSpPr txBox="1"/>
          <p:nvPr/>
        </p:nvSpPr>
        <p:spPr>
          <a:xfrm>
            <a:off x="7381209" y="2456585"/>
            <a:ext cx="702300" cy="2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CCW</a:t>
            </a:r>
            <a:endParaRPr/>
          </a:p>
        </p:txBody>
      </p:sp>
      <p:sp>
        <p:nvSpPr>
          <p:cNvPr id="664" name="Google Shape;664;p31"/>
          <p:cNvSpPr txBox="1"/>
          <p:nvPr/>
        </p:nvSpPr>
        <p:spPr>
          <a:xfrm>
            <a:off x="5175884" y="432449"/>
            <a:ext cx="702300" cy="2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CCW</a:t>
            </a:r>
            <a:endParaRPr/>
          </a:p>
        </p:txBody>
      </p:sp>
      <p:sp>
        <p:nvSpPr>
          <p:cNvPr id="665" name="Google Shape;665;p31"/>
          <p:cNvSpPr txBox="1"/>
          <p:nvPr/>
        </p:nvSpPr>
        <p:spPr>
          <a:xfrm>
            <a:off x="53500" y="32250"/>
            <a:ext cx="23010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Plus (+) Configuration</a:t>
            </a:r>
            <a:endParaRPr b="1" u="sng"/>
          </a:p>
        </p:txBody>
      </p:sp>
      <p:sp>
        <p:nvSpPr>
          <p:cNvPr id="666" name="Google Shape;666;p31"/>
          <p:cNvSpPr txBox="1"/>
          <p:nvPr/>
        </p:nvSpPr>
        <p:spPr>
          <a:xfrm>
            <a:off x="6507975" y="10075"/>
            <a:ext cx="25395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Cross (X) Configuration</a:t>
            </a:r>
            <a:endParaRPr b="1" u="sng"/>
          </a:p>
        </p:txBody>
      </p:sp>
      <p:cxnSp>
        <p:nvCxnSpPr>
          <p:cNvPr id="667" name="Google Shape;667;p31"/>
          <p:cNvCxnSpPr/>
          <p:nvPr/>
        </p:nvCxnSpPr>
        <p:spPr>
          <a:xfrm rot="10800000">
            <a:off x="3580338" y="2466275"/>
            <a:ext cx="0" cy="408300"/>
          </a:xfrm>
          <a:prstGeom prst="straightConnector1">
            <a:avLst/>
          </a:prstGeom>
          <a:noFill/>
          <a:ln cap="flat" cmpd="sng" w="9525">
            <a:solidFill>
              <a:srgbClr val="38761D"/>
            </a:solidFill>
            <a:prstDash val="solid"/>
            <a:round/>
            <a:headEnd len="med" w="med" type="none"/>
            <a:tailEnd len="med" w="med" type="triangle"/>
          </a:ln>
        </p:spPr>
      </p:cxnSp>
      <p:cxnSp>
        <p:nvCxnSpPr>
          <p:cNvPr id="668" name="Google Shape;668;p31"/>
          <p:cNvCxnSpPr/>
          <p:nvPr/>
        </p:nvCxnSpPr>
        <p:spPr>
          <a:xfrm rot="10800000">
            <a:off x="3784488" y="2670425"/>
            <a:ext cx="0" cy="408300"/>
          </a:xfrm>
          <a:prstGeom prst="straightConnector1">
            <a:avLst/>
          </a:prstGeom>
          <a:noFill/>
          <a:ln cap="flat" cmpd="sng" w="9525">
            <a:solidFill>
              <a:srgbClr val="38761D"/>
            </a:solidFill>
            <a:prstDash val="solid"/>
            <a:round/>
            <a:headEnd len="med" w="med" type="none"/>
            <a:tailEnd len="med" w="med" type="triangle"/>
          </a:ln>
        </p:spPr>
      </p:cxnSp>
      <p:sp>
        <p:nvSpPr>
          <p:cNvPr id="669" name="Google Shape;669;p31"/>
          <p:cNvSpPr txBox="1"/>
          <p:nvPr/>
        </p:nvSpPr>
        <p:spPr>
          <a:xfrm>
            <a:off x="3923475" y="2752025"/>
            <a:ext cx="455100" cy="24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Roll</a:t>
            </a:r>
            <a:endParaRPr sz="800"/>
          </a:p>
        </p:txBody>
      </p:sp>
      <p:sp>
        <p:nvSpPr>
          <p:cNvPr id="670" name="Google Shape;670;p31"/>
          <p:cNvSpPr txBox="1"/>
          <p:nvPr/>
        </p:nvSpPr>
        <p:spPr>
          <a:xfrm>
            <a:off x="3352788" y="2257100"/>
            <a:ext cx="455100" cy="24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Pitch</a:t>
            </a:r>
            <a:endParaRPr sz="800"/>
          </a:p>
        </p:txBody>
      </p:sp>
      <p:cxnSp>
        <p:nvCxnSpPr>
          <p:cNvPr id="671" name="Google Shape;671;p31"/>
          <p:cNvCxnSpPr/>
          <p:nvPr/>
        </p:nvCxnSpPr>
        <p:spPr>
          <a:xfrm rot="10800000">
            <a:off x="8320141" y="2284750"/>
            <a:ext cx="0" cy="408300"/>
          </a:xfrm>
          <a:prstGeom prst="straightConnector1">
            <a:avLst/>
          </a:prstGeom>
          <a:noFill/>
          <a:ln cap="flat" cmpd="sng" w="9525">
            <a:solidFill>
              <a:srgbClr val="38761D"/>
            </a:solidFill>
            <a:prstDash val="solid"/>
            <a:round/>
            <a:headEnd len="med" w="med" type="none"/>
            <a:tailEnd len="med" w="med" type="triangle"/>
          </a:ln>
        </p:spPr>
      </p:cxnSp>
      <p:cxnSp>
        <p:nvCxnSpPr>
          <p:cNvPr id="672" name="Google Shape;672;p31"/>
          <p:cNvCxnSpPr/>
          <p:nvPr/>
        </p:nvCxnSpPr>
        <p:spPr>
          <a:xfrm rot="10800000">
            <a:off x="8524291" y="2488900"/>
            <a:ext cx="0" cy="408300"/>
          </a:xfrm>
          <a:prstGeom prst="straightConnector1">
            <a:avLst/>
          </a:prstGeom>
          <a:noFill/>
          <a:ln cap="flat" cmpd="sng" w="9525">
            <a:solidFill>
              <a:srgbClr val="38761D"/>
            </a:solidFill>
            <a:prstDash val="solid"/>
            <a:round/>
            <a:headEnd len="med" w="med" type="none"/>
            <a:tailEnd len="med" w="med" type="triangle"/>
          </a:ln>
        </p:spPr>
      </p:cxnSp>
      <p:sp>
        <p:nvSpPr>
          <p:cNvPr id="673" name="Google Shape;673;p31"/>
          <p:cNvSpPr txBox="1"/>
          <p:nvPr/>
        </p:nvSpPr>
        <p:spPr>
          <a:xfrm>
            <a:off x="8663278" y="2570500"/>
            <a:ext cx="455100" cy="24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Roll</a:t>
            </a:r>
            <a:endParaRPr sz="800"/>
          </a:p>
        </p:txBody>
      </p:sp>
      <p:sp>
        <p:nvSpPr>
          <p:cNvPr id="674" name="Google Shape;674;p31"/>
          <p:cNvSpPr txBox="1"/>
          <p:nvPr/>
        </p:nvSpPr>
        <p:spPr>
          <a:xfrm>
            <a:off x="8092591" y="2075575"/>
            <a:ext cx="455100" cy="24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Pitch</a:t>
            </a:r>
            <a:endParaRPr sz="800"/>
          </a:p>
        </p:txBody>
      </p:sp>
      <p:sp>
        <p:nvSpPr>
          <p:cNvPr id="675" name="Google Shape;675;p31"/>
          <p:cNvSpPr txBox="1"/>
          <p:nvPr/>
        </p:nvSpPr>
        <p:spPr>
          <a:xfrm>
            <a:off x="-53075" y="3384425"/>
            <a:ext cx="1511100" cy="16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000"/>
              <a:t>Roll Left</a:t>
            </a:r>
            <a:endParaRPr b="1" sz="1000"/>
          </a:p>
          <a:p>
            <a:pPr indent="0" lvl="0" marL="0" rtl="0" algn="l">
              <a:spcBef>
                <a:spcPts val="0"/>
              </a:spcBef>
              <a:spcAft>
                <a:spcPts val="0"/>
              </a:spcAft>
              <a:buNone/>
            </a:pPr>
            <a:r>
              <a:rPr lang="en-GB" sz="1000">
                <a:latin typeface="Courier New"/>
                <a:ea typeface="Courier New"/>
                <a:cs typeface="Courier New"/>
                <a:sym typeface="Courier New"/>
              </a:rPr>
              <a:t>Throttle - i = M3</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a:t>
            </a:r>
            <a:r>
              <a:rPr lang="en-GB" sz="1000">
                <a:latin typeface="Courier New"/>
                <a:ea typeface="Courier New"/>
                <a:cs typeface="Courier New"/>
                <a:sym typeface="Courier New"/>
              </a:rPr>
              <a:t> + i = M4</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a:p>
            <a:pPr indent="0" lvl="0" marL="0" rtl="0" algn="l">
              <a:spcBef>
                <a:spcPts val="0"/>
              </a:spcBef>
              <a:spcAft>
                <a:spcPts val="0"/>
              </a:spcAft>
              <a:buNone/>
            </a:pPr>
            <a:r>
              <a:rPr b="1" lang="en-GB" sz="1000"/>
              <a:t>Roll Right</a:t>
            </a:r>
            <a:endParaRPr b="1" sz="1000"/>
          </a:p>
          <a:p>
            <a:pPr indent="0" lvl="0" marL="0" rtl="0" algn="l">
              <a:spcBef>
                <a:spcPts val="0"/>
              </a:spcBef>
              <a:spcAft>
                <a:spcPts val="0"/>
              </a:spcAft>
              <a:buNone/>
            </a:pPr>
            <a:r>
              <a:rPr lang="en-GB" sz="1000">
                <a:latin typeface="Courier New"/>
                <a:ea typeface="Courier New"/>
                <a:cs typeface="Courier New"/>
                <a:sym typeface="Courier New"/>
              </a:rPr>
              <a:t>Throttle + i = M3</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i = M4</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a:p>
            <a:pPr indent="0" lvl="0" marL="0" rtl="0" algn="l">
              <a:spcBef>
                <a:spcPts val="0"/>
              </a:spcBef>
              <a:spcAft>
                <a:spcPts val="0"/>
              </a:spcAft>
              <a:buNone/>
            </a:pPr>
            <a:r>
              <a:rPr lang="en-GB" sz="1000"/>
              <a:t>Where </a:t>
            </a:r>
            <a:r>
              <a:rPr lang="en-GB" sz="1000">
                <a:latin typeface="Courier New"/>
                <a:ea typeface="Courier New"/>
                <a:cs typeface="Courier New"/>
                <a:sym typeface="Courier New"/>
              </a:rPr>
              <a:t>i</a:t>
            </a:r>
            <a:r>
              <a:rPr lang="en-GB" sz="1000"/>
              <a:t> = Control Value from PID</a:t>
            </a:r>
            <a:endParaRPr sz="1000"/>
          </a:p>
        </p:txBody>
      </p:sp>
      <p:sp>
        <p:nvSpPr>
          <p:cNvPr id="676" name="Google Shape;676;p31"/>
          <p:cNvSpPr txBox="1"/>
          <p:nvPr/>
        </p:nvSpPr>
        <p:spPr>
          <a:xfrm>
            <a:off x="1415000" y="3384425"/>
            <a:ext cx="1574700" cy="16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000"/>
              <a:t>Pitch Forward</a:t>
            </a:r>
            <a:endParaRPr b="1" sz="1000"/>
          </a:p>
          <a:p>
            <a:pPr indent="0" lvl="0" marL="0" rtl="0" algn="l">
              <a:spcBef>
                <a:spcPts val="0"/>
              </a:spcBef>
              <a:spcAft>
                <a:spcPts val="0"/>
              </a:spcAft>
              <a:buNone/>
            </a:pPr>
            <a:r>
              <a:rPr lang="en-GB" sz="1000">
                <a:latin typeface="Courier New"/>
                <a:ea typeface="Courier New"/>
                <a:cs typeface="Courier New"/>
                <a:sym typeface="Courier New"/>
              </a:rPr>
              <a:t>Throttle - j = M1</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j = M2</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a:p>
            <a:pPr indent="0" lvl="0" marL="0" rtl="0" algn="l">
              <a:spcBef>
                <a:spcPts val="0"/>
              </a:spcBef>
              <a:spcAft>
                <a:spcPts val="0"/>
              </a:spcAft>
              <a:buNone/>
            </a:pPr>
            <a:r>
              <a:rPr b="1" lang="en-GB" sz="1000"/>
              <a:t>Pitch Back</a:t>
            </a:r>
            <a:endParaRPr b="1" sz="1000"/>
          </a:p>
          <a:p>
            <a:pPr indent="0" lvl="0" marL="0" rtl="0" algn="l">
              <a:spcBef>
                <a:spcPts val="0"/>
              </a:spcBef>
              <a:spcAft>
                <a:spcPts val="0"/>
              </a:spcAft>
              <a:buNone/>
            </a:pPr>
            <a:r>
              <a:rPr lang="en-GB" sz="1000">
                <a:latin typeface="Courier New"/>
                <a:ea typeface="Courier New"/>
                <a:cs typeface="Courier New"/>
                <a:sym typeface="Courier New"/>
              </a:rPr>
              <a:t>Throttle + j = M1</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j = M2</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a:p>
            <a:pPr indent="0" lvl="0" marL="0" rtl="0" algn="l">
              <a:spcBef>
                <a:spcPts val="0"/>
              </a:spcBef>
              <a:spcAft>
                <a:spcPts val="0"/>
              </a:spcAft>
              <a:buNone/>
            </a:pPr>
            <a:r>
              <a:rPr lang="en-GB" sz="1000"/>
              <a:t>Where </a:t>
            </a:r>
            <a:r>
              <a:rPr lang="en-GB" sz="1000">
                <a:latin typeface="Courier New"/>
                <a:ea typeface="Courier New"/>
                <a:cs typeface="Courier New"/>
                <a:sym typeface="Courier New"/>
              </a:rPr>
              <a:t>j</a:t>
            </a:r>
            <a:r>
              <a:rPr lang="en-GB" sz="1000"/>
              <a:t> = Control Value from PID</a:t>
            </a:r>
            <a:endParaRPr sz="1000"/>
          </a:p>
        </p:txBody>
      </p:sp>
      <p:cxnSp>
        <p:nvCxnSpPr>
          <p:cNvPr id="677" name="Google Shape;677;p31"/>
          <p:cNvCxnSpPr/>
          <p:nvPr/>
        </p:nvCxnSpPr>
        <p:spPr>
          <a:xfrm>
            <a:off x="4615100" y="187275"/>
            <a:ext cx="0" cy="4842600"/>
          </a:xfrm>
          <a:prstGeom prst="straightConnector1">
            <a:avLst/>
          </a:prstGeom>
          <a:noFill/>
          <a:ln cap="flat" cmpd="sng" w="9525">
            <a:solidFill>
              <a:schemeClr val="dk2"/>
            </a:solidFill>
            <a:prstDash val="dash"/>
            <a:round/>
            <a:headEnd len="med" w="med" type="none"/>
            <a:tailEnd len="med" w="med" type="none"/>
          </a:ln>
        </p:spPr>
      </p:cxnSp>
      <p:sp>
        <p:nvSpPr>
          <p:cNvPr id="678" name="Google Shape;678;p31"/>
          <p:cNvSpPr txBox="1"/>
          <p:nvPr/>
        </p:nvSpPr>
        <p:spPr>
          <a:xfrm>
            <a:off x="4657625" y="2766575"/>
            <a:ext cx="1511100" cy="227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000"/>
              <a:t>Roll Left</a:t>
            </a:r>
            <a:endParaRPr b="1" sz="1000"/>
          </a:p>
          <a:p>
            <a:pPr indent="0" lvl="0" marL="0" rtl="0" algn="l">
              <a:spcBef>
                <a:spcPts val="0"/>
              </a:spcBef>
              <a:spcAft>
                <a:spcPts val="0"/>
              </a:spcAft>
              <a:buNone/>
            </a:pPr>
            <a:r>
              <a:rPr lang="en-GB" sz="1000">
                <a:latin typeface="Courier New"/>
                <a:ea typeface="Courier New"/>
                <a:cs typeface="Courier New"/>
                <a:sym typeface="Courier New"/>
              </a:rPr>
              <a:t>Throttle - i = M2</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i = M3</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i = M1</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i = M4</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a:p>
            <a:pPr indent="0" lvl="0" marL="0" rtl="0" algn="l">
              <a:spcBef>
                <a:spcPts val="0"/>
              </a:spcBef>
              <a:spcAft>
                <a:spcPts val="0"/>
              </a:spcAft>
              <a:buNone/>
            </a:pPr>
            <a:r>
              <a:rPr b="1" lang="en-GB" sz="1000"/>
              <a:t>Roll Right</a:t>
            </a:r>
            <a:endParaRPr b="1" sz="1000"/>
          </a:p>
          <a:p>
            <a:pPr indent="0" lvl="0" marL="0" rtl="0" algn="l">
              <a:spcBef>
                <a:spcPts val="0"/>
              </a:spcBef>
              <a:spcAft>
                <a:spcPts val="0"/>
              </a:spcAft>
              <a:buNone/>
            </a:pPr>
            <a:r>
              <a:rPr lang="en-GB" sz="1000">
                <a:latin typeface="Courier New"/>
                <a:ea typeface="Courier New"/>
                <a:cs typeface="Courier New"/>
                <a:sym typeface="Courier New"/>
              </a:rPr>
              <a:t>Throttle + i = M3</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i = M2</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i = M4</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i = M1</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a:p>
            <a:pPr indent="0" lvl="0" marL="0" rtl="0" algn="l">
              <a:spcBef>
                <a:spcPts val="0"/>
              </a:spcBef>
              <a:spcAft>
                <a:spcPts val="0"/>
              </a:spcAft>
              <a:buNone/>
            </a:pPr>
            <a:r>
              <a:rPr lang="en-GB" sz="1000"/>
              <a:t>Where </a:t>
            </a:r>
            <a:r>
              <a:rPr lang="en-GB" sz="1000">
                <a:latin typeface="Courier New"/>
                <a:ea typeface="Courier New"/>
                <a:cs typeface="Courier New"/>
                <a:sym typeface="Courier New"/>
              </a:rPr>
              <a:t>i</a:t>
            </a:r>
            <a:r>
              <a:rPr lang="en-GB" sz="1000"/>
              <a:t> = Control Value from PID</a:t>
            </a:r>
            <a:endParaRPr sz="1000"/>
          </a:p>
        </p:txBody>
      </p:sp>
      <p:sp>
        <p:nvSpPr>
          <p:cNvPr id="679" name="Google Shape;679;p31"/>
          <p:cNvSpPr txBox="1"/>
          <p:nvPr/>
        </p:nvSpPr>
        <p:spPr>
          <a:xfrm>
            <a:off x="6164300" y="2874575"/>
            <a:ext cx="1511100" cy="19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000"/>
              <a:t>Pitch Forward</a:t>
            </a:r>
            <a:endParaRPr b="1" sz="1000"/>
          </a:p>
          <a:p>
            <a:pPr indent="0" lvl="0" marL="0" rtl="0" algn="l">
              <a:spcBef>
                <a:spcPts val="0"/>
              </a:spcBef>
              <a:spcAft>
                <a:spcPts val="0"/>
              </a:spcAft>
              <a:buNone/>
            </a:pPr>
            <a:r>
              <a:rPr lang="en-GB" sz="1000">
                <a:latin typeface="Courier New"/>
                <a:ea typeface="Courier New"/>
                <a:cs typeface="Courier New"/>
                <a:sym typeface="Courier New"/>
              </a:rPr>
              <a:t>Throttle - j = M1</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j = M3</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j = M2</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j = M4</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a:p>
            <a:pPr indent="0" lvl="0" marL="0" rtl="0" algn="l">
              <a:spcBef>
                <a:spcPts val="0"/>
              </a:spcBef>
              <a:spcAft>
                <a:spcPts val="0"/>
              </a:spcAft>
              <a:buNone/>
            </a:pPr>
            <a:r>
              <a:rPr b="1" lang="en-GB" sz="1000"/>
              <a:t>Pitch Back</a:t>
            </a:r>
            <a:endParaRPr b="1" sz="1000"/>
          </a:p>
          <a:p>
            <a:pPr indent="0" lvl="0" marL="0" rtl="0" algn="l">
              <a:spcBef>
                <a:spcPts val="0"/>
              </a:spcBef>
              <a:spcAft>
                <a:spcPts val="0"/>
              </a:spcAft>
              <a:buNone/>
            </a:pPr>
            <a:r>
              <a:rPr lang="en-GB" sz="1000">
                <a:latin typeface="Courier New"/>
                <a:ea typeface="Courier New"/>
                <a:cs typeface="Courier New"/>
                <a:sym typeface="Courier New"/>
              </a:rPr>
              <a:t>Throttle + j = M1</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j = M3</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j = M2</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j = M4</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a:p>
            <a:pPr indent="0" lvl="0" marL="0" rtl="0" algn="l">
              <a:spcBef>
                <a:spcPts val="0"/>
              </a:spcBef>
              <a:spcAft>
                <a:spcPts val="0"/>
              </a:spcAft>
              <a:buNone/>
            </a:pPr>
            <a:r>
              <a:rPr lang="en-GB" sz="1000"/>
              <a:t>Where </a:t>
            </a:r>
            <a:r>
              <a:rPr lang="en-GB" sz="1000">
                <a:latin typeface="Courier New"/>
                <a:ea typeface="Courier New"/>
                <a:cs typeface="Courier New"/>
                <a:sym typeface="Courier New"/>
              </a:rPr>
              <a:t>j</a:t>
            </a:r>
            <a:r>
              <a:rPr lang="en-GB" sz="1000"/>
              <a:t> = Control Value from PID</a:t>
            </a:r>
            <a:endParaRPr sz="1000"/>
          </a:p>
        </p:txBody>
      </p:sp>
      <p:sp>
        <p:nvSpPr>
          <p:cNvPr id="680" name="Google Shape;680;p31"/>
          <p:cNvSpPr txBox="1"/>
          <p:nvPr/>
        </p:nvSpPr>
        <p:spPr>
          <a:xfrm>
            <a:off x="2890622" y="3384425"/>
            <a:ext cx="1574700" cy="16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000"/>
              <a:t>Yaw CW</a:t>
            </a:r>
            <a:endParaRPr b="1" sz="1000"/>
          </a:p>
          <a:p>
            <a:pPr indent="0" lvl="0" marL="0" rtl="0" algn="l">
              <a:spcBef>
                <a:spcPts val="0"/>
              </a:spcBef>
              <a:spcAft>
                <a:spcPts val="0"/>
              </a:spcAft>
              <a:buNone/>
            </a:pPr>
            <a:r>
              <a:rPr lang="en-GB" sz="1000">
                <a:latin typeface="Courier New"/>
                <a:ea typeface="Courier New"/>
                <a:cs typeface="Courier New"/>
                <a:sym typeface="Courier New"/>
              </a:rPr>
              <a:t>Throttle + k = M1</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k = M2</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a:p>
            <a:pPr indent="0" lvl="0" marL="0" rtl="0" algn="l">
              <a:spcBef>
                <a:spcPts val="0"/>
              </a:spcBef>
              <a:spcAft>
                <a:spcPts val="0"/>
              </a:spcAft>
              <a:buNone/>
            </a:pPr>
            <a:r>
              <a:rPr b="1" lang="en-GB" sz="1000"/>
              <a:t>Yaw CCW</a:t>
            </a:r>
            <a:endParaRPr b="1" sz="1000"/>
          </a:p>
          <a:p>
            <a:pPr indent="0" lvl="0" marL="0" rtl="0" algn="l">
              <a:spcBef>
                <a:spcPts val="0"/>
              </a:spcBef>
              <a:spcAft>
                <a:spcPts val="0"/>
              </a:spcAft>
              <a:buNone/>
            </a:pPr>
            <a:r>
              <a:rPr lang="en-GB" sz="1000">
                <a:latin typeface="Courier New"/>
                <a:ea typeface="Courier New"/>
                <a:cs typeface="Courier New"/>
                <a:sym typeface="Courier New"/>
              </a:rPr>
              <a:t>Throttle + j = M3</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j = M4</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a:p>
            <a:pPr indent="0" lvl="0" marL="0" rtl="0" algn="l">
              <a:spcBef>
                <a:spcPts val="0"/>
              </a:spcBef>
              <a:spcAft>
                <a:spcPts val="0"/>
              </a:spcAft>
              <a:buNone/>
            </a:pPr>
            <a:r>
              <a:rPr lang="en-GB" sz="1000"/>
              <a:t>Where </a:t>
            </a:r>
            <a:r>
              <a:rPr lang="en-GB" sz="1000">
                <a:latin typeface="Courier New"/>
                <a:ea typeface="Courier New"/>
                <a:cs typeface="Courier New"/>
                <a:sym typeface="Courier New"/>
              </a:rPr>
              <a:t>k</a:t>
            </a:r>
            <a:r>
              <a:rPr lang="en-GB" sz="1000"/>
              <a:t> = Control Value from PID</a:t>
            </a:r>
            <a:endParaRPr sz="1000"/>
          </a:p>
        </p:txBody>
      </p:sp>
      <p:sp>
        <p:nvSpPr>
          <p:cNvPr id="681" name="Google Shape;681;p31"/>
          <p:cNvSpPr txBox="1"/>
          <p:nvPr/>
        </p:nvSpPr>
        <p:spPr>
          <a:xfrm>
            <a:off x="7655147" y="2845125"/>
            <a:ext cx="1574700" cy="16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000"/>
              <a:t>Yaw CW</a:t>
            </a:r>
            <a:endParaRPr b="1" sz="1000"/>
          </a:p>
          <a:p>
            <a:pPr indent="0" lvl="0" marL="0" rtl="0" algn="l">
              <a:spcBef>
                <a:spcPts val="0"/>
              </a:spcBef>
              <a:spcAft>
                <a:spcPts val="0"/>
              </a:spcAft>
              <a:buNone/>
            </a:pPr>
            <a:r>
              <a:rPr lang="en-GB" sz="1000">
                <a:latin typeface="Courier New"/>
                <a:ea typeface="Courier New"/>
                <a:cs typeface="Courier New"/>
                <a:sym typeface="Courier New"/>
              </a:rPr>
              <a:t>Throttle + k = M1</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k = M2</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1000">
                <a:solidFill>
                  <a:schemeClr val="dk1"/>
                </a:solidFill>
                <a:latin typeface="Courier New"/>
                <a:ea typeface="Courier New"/>
                <a:cs typeface="Courier New"/>
                <a:sym typeface="Courier New"/>
              </a:rPr>
              <a:t>Throttle - k = M3</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1000">
                <a:solidFill>
                  <a:schemeClr val="dk1"/>
                </a:solidFill>
                <a:latin typeface="Courier New"/>
                <a:ea typeface="Courier New"/>
                <a:cs typeface="Courier New"/>
                <a:sym typeface="Courier New"/>
              </a:rPr>
              <a:t>Throttle - k = M4</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a:p>
            <a:pPr indent="0" lvl="0" marL="0" rtl="0" algn="l">
              <a:spcBef>
                <a:spcPts val="0"/>
              </a:spcBef>
              <a:spcAft>
                <a:spcPts val="0"/>
              </a:spcAft>
              <a:buNone/>
            </a:pPr>
            <a:r>
              <a:rPr b="1" lang="en-GB" sz="1000"/>
              <a:t>Yaw CCW</a:t>
            </a:r>
            <a:endParaRPr b="1" sz="1000"/>
          </a:p>
          <a:p>
            <a:pPr indent="0" lvl="0" marL="0" rtl="0" algn="l">
              <a:spcBef>
                <a:spcPts val="0"/>
              </a:spcBef>
              <a:spcAft>
                <a:spcPts val="0"/>
              </a:spcAft>
              <a:buClr>
                <a:schemeClr val="dk1"/>
              </a:buClr>
              <a:buSzPts val="1100"/>
              <a:buFont typeface="Arial"/>
              <a:buNone/>
            </a:pPr>
            <a:r>
              <a:rPr lang="en-GB" sz="1000">
                <a:solidFill>
                  <a:schemeClr val="dk1"/>
                </a:solidFill>
                <a:latin typeface="Courier New"/>
                <a:ea typeface="Courier New"/>
                <a:cs typeface="Courier New"/>
                <a:sym typeface="Courier New"/>
              </a:rPr>
              <a:t>Throttle - k = M1</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1000">
                <a:solidFill>
                  <a:schemeClr val="dk1"/>
                </a:solidFill>
                <a:latin typeface="Courier New"/>
                <a:ea typeface="Courier New"/>
                <a:cs typeface="Courier New"/>
                <a:sym typeface="Courier New"/>
              </a:rPr>
              <a:t>Throttle - k = M2</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j = M3</a:t>
            </a:r>
            <a:endParaRPr sz="1000">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Throttle + j = M4</a:t>
            </a:r>
            <a:endParaRPr sz="1000">
              <a:latin typeface="Courier New"/>
              <a:ea typeface="Courier New"/>
              <a:cs typeface="Courier New"/>
              <a:sym typeface="Courier New"/>
            </a:endParaRPr>
          </a:p>
          <a:p>
            <a:pPr indent="0" lvl="0" marL="0" rtl="0" algn="l">
              <a:spcBef>
                <a:spcPts val="0"/>
              </a:spcBef>
              <a:spcAft>
                <a:spcPts val="0"/>
              </a:spcAft>
              <a:buNone/>
            </a:pPr>
            <a:r>
              <a:t/>
            </a:r>
            <a:endParaRPr sz="1000"/>
          </a:p>
          <a:p>
            <a:pPr indent="0" lvl="0" marL="0" rtl="0" algn="l">
              <a:spcBef>
                <a:spcPts val="0"/>
              </a:spcBef>
              <a:spcAft>
                <a:spcPts val="0"/>
              </a:spcAft>
              <a:buNone/>
            </a:pPr>
            <a:r>
              <a:rPr lang="en-GB" sz="1000"/>
              <a:t>Where </a:t>
            </a:r>
            <a:r>
              <a:rPr lang="en-GB" sz="1000">
                <a:latin typeface="Courier New"/>
                <a:ea typeface="Courier New"/>
                <a:cs typeface="Courier New"/>
                <a:sym typeface="Courier New"/>
              </a:rPr>
              <a:t>k</a:t>
            </a:r>
            <a:r>
              <a:rPr lang="en-GB" sz="1000"/>
              <a:t> = Control Value from PID</a:t>
            </a:r>
            <a:endParaRPr sz="1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32"/>
          <p:cNvSpPr txBox="1"/>
          <p:nvPr/>
        </p:nvSpPr>
        <p:spPr>
          <a:xfrm>
            <a:off x="370325" y="318900"/>
            <a:ext cx="2438100" cy="9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Watchdog</a:t>
            </a:r>
            <a:endParaRPr b="1" u="sng"/>
          </a:p>
        </p:txBody>
      </p:sp>
      <p:sp>
        <p:nvSpPr>
          <p:cNvPr id="687" name="Google Shape;687;p32"/>
          <p:cNvSpPr txBox="1"/>
          <p:nvPr/>
        </p:nvSpPr>
        <p:spPr>
          <a:xfrm>
            <a:off x="196425" y="822750"/>
            <a:ext cx="8188500" cy="201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Optiboot bootloader</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t>the official ATmega328 bootloader (optiboot) deactivates the watchdog on reset.</a:t>
            </a:r>
            <a:endParaRPr/>
          </a:p>
          <a:p>
            <a:pPr indent="0" lvl="0" marL="0" rtl="0" algn="l">
              <a:spcBef>
                <a:spcPts val="0"/>
              </a:spcBef>
              <a:spcAft>
                <a:spcPts val="0"/>
              </a:spcAft>
              <a:buClr>
                <a:schemeClr val="dk1"/>
              </a:buClr>
              <a:buSzPts val="1100"/>
              <a:buFont typeface="Arial"/>
              <a:buNone/>
            </a:pPr>
            <a:r>
              <a:rPr lang="en-GB"/>
              <a:t>The official MEGA bootloader does not.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If WD not deactivated on reset it will trip and be stuck in an infinite reboot loop.  Therefore need to activate the watchdog as part of the initialization of the code on boot. </a:t>
            </a:r>
            <a:endParaRPr sz="1100">
              <a:solidFill>
                <a:srgbClr val="222222"/>
              </a:solidFill>
              <a:highlight>
                <a:srgbClr val="F5F5F5"/>
              </a:highlight>
            </a:endParaRPr>
          </a:p>
          <a:p>
            <a:pPr indent="0" lvl="0" marL="0" rtl="0" algn="l">
              <a:spcBef>
                <a:spcPts val="0"/>
              </a:spcBef>
              <a:spcAft>
                <a:spcPts val="0"/>
              </a:spcAft>
              <a:buNone/>
            </a:pPr>
            <a:r>
              <a:t/>
            </a:r>
            <a:endParaRPr sz="1100">
              <a:solidFill>
                <a:srgbClr val="222222"/>
              </a:solidFill>
              <a:highlight>
                <a:srgbClr val="F5F5F5"/>
              </a:highlight>
            </a:endParaRPr>
          </a:p>
          <a:p>
            <a:pPr indent="0" lvl="0" marL="0" rtl="0" algn="l">
              <a:spcBef>
                <a:spcPts val="0"/>
              </a:spcBef>
              <a:spcAft>
                <a:spcPts val="0"/>
              </a:spcAft>
              <a:buNone/>
            </a:pPr>
            <a:r>
              <a:rPr lang="en-GB"/>
              <a:t>Link: </a:t>
            </a:r>
            <a:r>
              <a:rPr lang="en-GB" u="sng">
                <a:solidFill>
                  <a:schemeClr val="hlink"/>
                </a:solidFill>
                <a:hlinkClick r:id="rId3"/>
              </a:rPr>
              <a:t>https://tushev.org/articles/arduino/5/arduino-and-watchdog-timer</a:t>
            </a:r>
            <a:endParaRPr/>
          </a:p>
          <a:p>
            <a:pPr indent="0" lvl="0" marL="0" rtl="0" algn="l">
              <a:spcBef>
                <a:spcPts val="0"/>
              </a:spcBef>
              <a:spcAft>
                <a:spcPts val="0"/>
              </a:spcAft>
              <a:buNone/>
            </a:pPr>
            <a:r>
              <a:t/>
            </a:r>
            <a:endParaRPr/>
          </a:p>
        </p:txBody>
      </p:sp>
      <p:sp>
        <p:nvSpPr>
          <p:cNvPr id="688" name="Google Shape;688;p32"/>
          <p:cNvSpPr/>
          <p:nvPr/>
        </p:nvSpPr>
        <p:spPr>
          <a:xfrm>
            <a:off x="1083550" y="3230575"/>
            <a:ext cx="1070100" cy="555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Watchdog</a:t>
            </a:r>
            <a:endParaRPr/>
          </a:p>
        </p:txBody>
      </p:sp>
      <p:sp>
        <p:nvSpPr>
          <p:cNvPr id="689" name="Google Shape;689;p32"/>
          <p:cNvSpPr txBox="1"/>
          <p:nvPr/>
        </p:nvSpPr>
        <p:spPr>
          <a:xfrm>
            <a:off x="1307950" y="3862075"/>
            <a:ext cx="621300" cy="4719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800" u="sng"/>
              <a:t>InitWD</a:t>
            </a:r>
            <a:endParaRPr sz="800" u="sng"/>
          </a:p>
          <a:p>
            <a:pPr indent="0" lvl="0" marL="0" rtl="0" algn="l">
              <a:spcBef>
                <a:spcPts val="0"/>
              </a:spcBef>
              <a:spcAft>
                <a:spcPts val="0"/>
              </a:spcAft>
              <a:buNone/>
            </a:pPr>
            <a:r>
              <a:rPr lang="en-GB" sz="800" u="sng"/>
              <a:t>resetWD</a:t>
            </a:r>
            <a:endParaRPr sz="800" u="sng"/>
          </a:p>
          <a:p>
            <a:pPr indent="0" lvl="0" marL="0" rtl="0" algn="l">
              <a:spcBef>
                <a:spcPts val="0"/>
              </a:spcBef>
              <a:spcAft>
                <a:spcPts val="0"/>
              </a:spcAft>
              <a:buNone/>
            </a:pPr>
            <a:r>
              <a:t/>
            </a:r>
            <a:endParaRPr sz="800"/>
          </a:p>
        </p:txBody>
      </p:sp>
      <p:sp>
        <p:nvSpPr>
          <p:cNvPr id="690" name="Google Shape;690;p32"/>
          <p:cNvSpPr txBox="1"/>
          <p:nvPr/>
        </p:nvSpPr>
        <p:spPr>
          <a:xfrm>
            <a:off x="3799100" y="3130250"/>
            <a:ext cx="4193700" cy="166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1200">
                <a:solidFill>
                  <a:srgbClr val="222222"/>
                </a:solidFill>
                <a:highlight>
                  <a:srgbClr val="FFFFFF"/>
                </a:highlight>
              </a:rPr>
              <a:t>The </a:t>
            </a:r>
            <a:r>
              <a:rPr b="1" i="1" lang="en-GB" sz="1200">
                <a:solidFill>
                  <a:srgbClr val="222222"/>
                </a:solidFill>
                <a:highlight>
                  <a:srgbClr val="FFFFFF"/>
                </a:highlight>
              </a:rPr>
              <a:t>bootloader</a:t>
            </a:r>
            <a:r>
              <a:rPr i="1" lang="en-GB" sz="1200">
                <a:solidFill>
                  <a:srgbClr val="222222"/>
                </a:solidFill>
                <a:highlight>
                  <a:srgbClr val="FFFFFF"/>
                </a:highlight>
              </a:rPr>
              <a:t> is the little program that runs when you turn the </a:t>
            </a:r>
            <a:r>
              <a:rPr b="1" i="1" lang="en-GB" sz="1200">
                <a:solidFill>
                  <a:srgbClr val="222222"/>
                </a:solidFill>
                <a:highlight>
                  <a:srgbClr val="FFFFFF"/>
                </a:highlight>
              </a:rPr>
              <a:t>Arduino</a:t>
            </a:r>
            <a:r>
              <a:rPr i="1" lang="en-GB" sz="1200">
                <a:solidFill>
                  <a:srgbClr val="222222"/>
                </a:solidFill>
                <a:highlight>
                  <a:srgbClr val="FFFFFF"/>
                </a:highlight>
              </a:rPr>
              <a:t> on, or press the reset button. Its main function is to wait for the </a:t>
            </a:r>
            <a:r>
              <a:rPr b="1" i="1" lang="en-GB" sz="1200">
                <a:solidFill>
                  <a:srgbClr val="222222"/>
                </a:solidFill>
                <a:highlight>
                  <a:srgbClr val="FFFFFF"/>
                </a:highlight>
              </a:rPr>
              <a:t>Arduino</a:t>
            </a:r>
            <a:r>
              <a:rPr i="1" lang="en-GB" sz="1200">
                <a:solidFill>
                  <a:srgbClr val="222222"/>
                </a:solidFill>
                <a:highlight>
                  <a:srgbClr val="FFFFFF"/>
                </a:highlight>
              </a:rPr>
              <a:t> software on your computer to send it a new program for the </a:t>
            </a:r>
            <a:r>
              <a:rPr b="1" i="1" lang="en-GB" sz="1200">
                <a:solidFill>
                  <a:srgbClr val="222222"/>
                </a:solidFill>
                <a:highlight>
                  <a:srgbClr val="FFFFFF"/>
                </a:highlight>
              </a:rPr>
              <a:t>Arduino</a:t>
            </a:r>
            <a:r>
              <a:rPr i="1" lang="en-GB" sz="1200">
                <a:solidFill>
                  <a:srgbClr val="222222"/>
                </a:solidFill>
                <a:highlight>
                  <a:srgbClr val="FFFFFF"/>
                </a:highlight>
              </a:rPr>
              <a:t>, which it then writes to the memory on the </a:t>
            </a:r>
            <a:r>
              <a:rPr b="1" i="1" lang="en-GB" sz="1200">
                <a:solidFill>
                  <a:srgbClr val="222222"/>
                </a:solidFill>
                <a:highlight>
                  <a:srgbClr val="FFFFFF"/>
                </a:highlight>
              </a:rPr>
              <a:t>Arduino</a:t>
            </a:r>
            <a:r>
              <a:rPr i="1" lang="en-GB" sz="1200">
                <a:solidFill>
                  <a:srgbClr val="222222"/>
                </a:solidFill>
                <a:highlight>
                  <a:srgbClr val="FFFFFF"/>
                </a:highlight>
              </a:rPr>
              <a:t>.</a:t>
            </a:r>
            <a:endParaRPr i="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33"/>
          <p:cNvSpPr txBox="1"/>
          <p:nvPr/>
        </p:nvSpPr>
        <p:spPr>
          <a:xfrm>
            <a:off x="370325" y="318900"/>
            <a:ext cx="2438100" cy="9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Bootloader</a:t>
            </a:r>
            <a:endParaRPr b="1" u="sng"/>
          </a:p>
        </p:txBody>
      </p:sp>
      <p:sp>
        <p:nvSpPr>
          <p:cNvPr id="696" name="Google Shape;696;p33"/>
          <p:cNvSpPr txBox="1"/>
          <p:nvPr/>
        </p:nvSpPr>
        <p:spPr>
          <a:xfrm>
            <a:off x="196425" y="822750"/>
            <a:ext cx="8188500" cy="32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00"/>
              </a:spcBef>
              <a:spcAft>
                <a:spcPts val="0"/>
              </a:spcAft>
              <a:buClr>
                <a:schemeClr val="dk1"/>
              </a:buClr>
              <a:buSzPts val="1100"/>
              <a:buFont typeface="Arial"/>
              <a:buNone/>
            </a:pPr>
            <a:r>
              <a:rPr lang="en-GB" sz="1000">
                <a:solidFill>
                  <a:srgbClr val="555555"/>
                </a:solidFill>
                <a:latin typeface="Nunito"/>
                <a:ea typeface="Nunito"/>
                <a:cs typeface="Nunito"/>
                <a:sym typeface="Nunito"/>
              </a:rPr>
              <a:t>The bootloader is a small program (HEX file , 0.5Kbyte)that allows you to upload sketches to the flash memory directly from Arduino IDE. The HEX file always runs before the main program and that's why it is needed.</a:t>
            </a:r>
            <a:endParaRPr sz="1000">
              <a:solidFill>
                <a:srgbClr val="555555"/>
              </a:solidFill>
              <a:latin typeface="Nunito"/>
              <a:ea typeface="Nunito"/>
              <a:cs typeface="Nunito"/>
              <a:sym typeface="Nunito"/>
            </a:endParaRPr>
          </a:p>
          <a:p>
            <a:pPr indent="0" lvl="0" marL="0" rtl="0" algn="l">
              <a:lnSpc>
                <a:spcPct val="115000"/>
              </a:lnSpc>
              <a:spcBef>
                <a:spcPts val="1500"/>
              </a:spcBef>
              <a:spcAft>
                <a:spcPts val="0"/>
              </a:spcAft>
              <a:buClr>
                <a:schemeClr val="dk1"/>
              </a:buClr>
              <a:buSzPts val="1100"/>
              <a:buFont typeface="Arial"/>
              <a:buNone/>
            </a:pPr>
            <a:r>
              <a:rPr lang="en-GB" sz="1000">
                <a:solidFill>
                  <a:srgbClr val="555555"/>
                </a:solidFill>
                <a:latin typeface="Nunito"/>
                <a:ea typeface="Nunito"/>
                <a:cs typeface="Nunito"/>
                <a:sym typeface="Nunito"/>
              </a:rPr>
              <a:t>Whithout the bootloader :</a:t>
            </a:r>
            <a:endParaRPr sz="1000">
              <a:solidFill>
                <a:srgbClr val="555555"/>
              </a:solidFill>
              <a:latin typeface="Nunito"/>
              <a:ea typeface="Nunito"/>
              <a:cs typeface="Nunito"/>
              <a:sym typeface="Nunito"/>
            </a:endParaRPr>
          </a:p>
          <a:p>
            <a:pPr indent="0" lvl="0" marL="0" rtl="0" algn="l">
              <a:lnSpc>
                <a:spcPct val="115000"/>
              </a:lnSpc>
              <a:spcBef>
                <a:spcPts val="1500"/>
              </a:spcBef>
              <a:spcAft>
                <a:spcPts val="0"/>
              </a:spcAft>
              <a:buClr>
                <a:schemeClr val="dk1"/>
              </a:buClr>
              <a:buSzPts val="1100"/>
              <a:buFont typeface="Arial"/>
              <a:buNone/>
            </a:pPr>
            <a:r>
              <a:rPr lang="en-GB" sz="1000">
                <a:solidFill>
                  <a:srgbClr val="555555"/>
                </a:solidFill>
                <a:latin typeface="Nunito"/>
                <a:ea typeface="Nunito"/>
                <a:cs typeface="Nunito"/>
                <a:sym typeface="Nunito"/>
              </a:rPr>
              <a:t>-The microcontroller still CAN BE PROGRAMMED!(yes, it is possible), but you would need a dedicated AVR programmer to do that. And it is not cheap!</a:t>
            </a:r>
            <a:endParaRPr sz="1000">
              <a:solidFill>
                <a:srgbClr val="555555"/>
              </a:solidFill>
              <a:latin typeface="Nunito"/>
              <a:ea typeface="Nunito"/>
              <a:cs typeface="Nunito"/>
              <a:sym typeface="Nunito"/>
            </a:endParaRPr>
          </a:p>
          <a:p>
            <a:pPr indent="0" lvl="0" marL="0" rtl="0" algn="l">
              <a:lnSpc>
                <a:spcPct val="115000"/>
              </a:lnSpc>
              <a:spcBef>
                <a:spcPts val="1500"/>
              </a:spcBef>
              <a:spcAft>
                <a:spcPts val="0"/>
              </a:spcAft>
              <a:buClr>
                <a:schemeClr val="dk1"/>
              </a:buClr>
              <a:buSzPts val="1100"/>
              <a:buFont typeface="Arial"/>
              <a:buNone/>
            </a:pPr>
            <a:r>
              <a:rPr lang="en-GB" sz="1000">
                <a:solidFill>
                  <a:srgbClr val="555555"/>
                </a:solidFill>
                <a:latin typeface="Nunito"/>
                <a:ea typeface="Nunito"/>
                <a:cs typeface="Nunito"/>
                <a:sym typeface="Nunito"/>
              </a:rPr>
              <a:t>- It can not be programmed through the Arduino IDE.</a:t>
            </a:r>
            <a:endParaRPr sz="1000">
              <a:solidFill>
                <a:srgbClr val="555555"/>
              </a:solidFill>
              <a:latin typeface="Nunito"/>
              <a:ea typeface="Nunito"/>
              <a:cs typeface="Nunito"/>
              <a:sym typeface="Nunito"/>
            </a:endParaRPr>
          </a:p>
          <a:p>
            <a:pPr indent="0" lvl="0" marL="0" rtl="0" algn="l">
              <a:lnSpc>
                <a:spcPct val="115000"/>
              </a:lnSpc>
              <a:spcBef>
                <a:spcPts val="1500"/>
              </a:spcBef>
              <a:spcAft>
                <a:spcPts val="0"/>
              </a:spcAft>
              <a:buClr>
                <a:schemeClr val="dk1"/>
              </a:buClr>
              <a:buSzPts val="1100"/>
              <a:buFont typeface="Arial"/>
              <a:buNone/>
            </a:pPr>
            <a:r>
              <a:rPr lang="en-GB" sz="1000">
                <a:solidFill>
                  <a:srgbClr val="555555"/>
                </a:solidFill>
                <a:latin typeface="Nunito"/>
                <a:ea typeface="Nunito"/>
                <a:cs typeface="Nunito"/>
                <a:sym typeface="Nunito"/>
              </a:rPr>
              <a:t>Supported bootloaders of this method:</a:t>
            </a:r>
            <a:endParaRPr sz="1000">
              <a:solidFill>
                <a:srgbClr val="555555"/>
              </a:solidFill>
              <a:latin typeface="Nunito"/>
              <a:ea typeface="Nunito"/>
              <a:cs typeface="Nunito"/>
              <a:sym typeface="Nunito"/>
            </a:endParaRPr>
          </a:p>
          <a:p>
            <a:pPr indent="0" lvl="0" marL="0" rtl="0" algn="l">
              <a:spcBef>
                <a:spcPts val="1500"/>
              </a:spcBef>
              <a:spcAft>
                <a:spcPts val="0"/>
              </a:spcAft>
              <a:buNone/>
            </a:pPr>
            <a:r>
              <a:rPr lang="en-GB" sz="1000">
                <a:solidFill>
                  <a:srgbClr val="555555"/>
                </a:solidFill>
                <a:highlight>
                  <a:srgbClr val="FFFFFF"/>
                </a:highlight>
                <a:latin typeface="Nunito"/>
                <a:ea typeface="Nunito"/>
                <a:cs typeface="Nunito"/>
                <a:sym typeface="Nunito"/>
              </a:rPr>
              <a:t>Atmega328 Optiboot (for Uno etc. at 16 MHz) (512 bytes)</a:t>
            </a:r>
            <a:endParaRPr sz="1000">
              <a:solidFill>
                <a:srgbClr val="555555"/>
              </a:solidFill>
              <a:highlight>
                <a:srgbClr val="FFFFFF"/>
              </a:highlight>
              <a:latin typeface="Nunito"/>
              <a:ea typeface="Nunito"/>
              <a:cs typeface="Nunito"/>
              <a:sym typeface="Nunito"/>
            </a:endParaRPr>
          </a:p>
          <a:p>
            <a:pPr indent="0" lvl="0" marL="0" rtl="0" algn="l">
              <a:lnSpc>
                <a:spcPct val="115000"/>
              </a:lnSpc>
              <a:spcBef>
                <a:spcPts val="200"/>
              </a:spcBef>
              <a:spcAft>
                <a:spcPts val="0"/>
              </a:spcAft>
              <a:buClr>
                <a:schemeClr val="dk1"/>
              </a:buClr>
              <a:buSzPts val="1100"/>
              <a:buFont typeface="Arial"/>
              <a:buNone/>
            </a:pPr>
            <a:r>
              <a:rPr lang="en-GB" sz="1500">
                <a:solidFill>
                  <a:srgbClr val="555555"/>
                </a:solidFill>
                <a:latin typeface="Nunito"/>
                <a:ea typeface="Nunito"/>
                <a:cs typeface="Nunito"/>
                <a:sym typeface="Nunito"/>
              </a:rPr>
              <a:t>The code for the following bootloaders is incorporated in the sketch, and will be downloaded depending on which signature is detected.</a:t>
            </a:r>
            <a:endParaRPr sz="1500">
              <a:solidFill>
                <a:srgbClr val="555555"/>
              </a:solidFill>
              <a:latin typeface="Nunito"/>
              <a:ea typeface="Nunito"/>
              <a:cs typeface="Nunito"/>
              <a:sym typeface="Nunito"/>
            </a:endParaRPr>
          </a:p>
          <a:p>
            <a:pPr indent="0" lvl="0" marL="0" rtl="0" algn="l">
              <a:lnSpc>
                <a:spcPct val="115000"/>
              </a:lnSpc>
              <a:spcBef>
                <a:spcPts val="1500"/>
              </a:spcBef>
              <a:spcAft>
                <a:spcPts val="0"/>
              </a:spcAft>
              <a:buClr>
                <a:schemeClr val="dk1"/>
              </a:buClr>
              <a:buSzPts val="1100"/>
              <a:buFont typeface="Arial"/>
              <a:buNone/>
            </a:pPr>
            <a:r>
              <a:rPr lang="en-GB" sz="1500">
                <a:solidFill>
                  <a:srgbClr val="555555"/>
                </a:solidFill>
                <a:latin typeface="Nunito"/>
                <a:ea typeface="Nunito"/>
                <a:cs typeface="Nunito"/>
                <a:sym typeface="Nunito"/>
              </a:rPr>
              <a:t>So we have everything we need.</a:t>
            </a:r>
            <a:endParaRPr sz="1500">
              <a:solidFill>
                <a:srgbClr val="555555"/>
              </a:solidFill>
              <a:latin typeface="Nunito"/>
              <a:ea typeface="Nunito"/>
              <a:cs typeface="Nunito"/>
              <a:sym typeface="Nunito"/>
            </a:endParaRPr>
          </a:p>
          <a:p>
            <a:pPr indent="0" lvl="0" marL="0" rtl="0" algn="l">
              <a:spcBef>
                <a:spcPts val="1500"/>
              </a:spcBef>
              <a:spcAft>
                <a:spcPts val="0"/>
              </a:spcAft>
              <a:buNone/>
            </a:pPr>
            <a:r>
              <a:t/>
            </a:r>
            <a:endParaRPr sz="1000">
              <a:solidFill>
                <a:srgbClr val="555555"/>
              </a:solidFill>
              <a:highlight>
                <a:srgbClr val="FFFFFF"/>
              </a:highlight>
              <a:latin typeface="Nunito"/>
              <a:ea typeface="Nunito"/>
              <a:cs typeface="Nunito"/>
              <a:sym typeface="Nunito"/>
            </a:endParaRPr>
          </a:p>
          <a:p>
            <a:pPr indent="0" lvl="0" marL="0" rtl="0" algn="l">
              <a:spcBef>
                <a:spcPts val="0"/>
              </a:spcBef>
              <a:spcAft>
                <a:spcPts val="0"/>
              </a:spcAft>
              <a:buNone/>
            </a:pPr>
            <a:r>
              <a:t/>
            </a:r>
            <a:endParaRPr sz="1100">
              <a:solidFill>
                <a:srgbClr val="222222"/>
              </a:solidFill>
              <a:highlight>
                <a:srgbClr val="F5F5F5"/>
              </a:highlight>
            </a:endParaRPr>
          </a:p>
          <a:p>
            <a:pPr indent="0" lvl="0" marL="0" rtl="0" algn="l">
              <a:spcBef>
                <a:spcPts val="0"/>
              </a:spcBef>
              <a:spcAft>
                <a:spcPts val="0"/>
              </a:spcAft>
              <a:buNone/>
            </a:pPr>
            <a:r>
              <a:rPr lang="en-GB"/>
              <a:t>Link: </a:t>
            </a:r>
            <a:r>
              <a:rPr lang="en-GB" sz="1100" u="sng">
                <a:solidFill>
                  <a:schemeClr val="hlink"/>
                </a:solidFill>
                <a:hlinkClick r:id="rId3"/>
              </a:rPr>
              <a:t>https://www.instructables.com/id/Atmega328P-PU-Bootloader-Optiboot-Burning-Guide/</a:t>
            </a:r>
            <a:endParaRPr/>
          </a:p>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Hardware</a:t>
            </a:r>
            <a:endParaRPr/>
          </a:p>
        </p:txBody>
      </p:sp>
      <p:sp>
        <p:nvSpPr>
          <p:cNvPr id="702" name="Google Shape;702;p3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pic>
        <p:nvPicPr>
          <p:cNvPr id="707" name="Google Shape;707;p35"/>
          <p:cNvPicPr preferRelativeResize="0"/>
          <p:nvPr/>
        </p:nvPicPr>
        <p:blipFill>
          <a:blip r:embed="rId3">
            <a:alphaModFix/>
          </a:blip>
          <a:stretch>
            <a:fillRect/>
          </a:stretch>
        </p:blipFill>
        <p:spPr>
          <a:xfrm>
            <a:off x="937512" y="0"/>
            <a:ext cx="7268975" cy="5143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pic>
        <p:nvPicPr>
          <p:cNvPr id="712" name="Google Shape;712;p36"/>
          <p:cNvPicPr preferRelativeResize="0"/>
          <p:nvPr/>
        </p:nvPicPr>
        <p:blipFill>
          <a:blip r:embed="rId3">
            <a:alphaModFix/>
          </a:blip>
          <a:stretch>
            <a:fillRect/>
          </a:stretch>
        </p:blipFill>
        <p:spPr>
          <a:xfrm>
            <a:off x="746560" y="0"/>
            <a:ext cx="7650880"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pic>
        <p:nvPicPr>
          <p:cNvPr id="717" name="Google Shape;717;p37"/>
          <p:cNvPicPr preferRelativeResize="0"/>
          <p:nvPr/>
        </p:nvPicPr>
        <p:blipFill>
          <a:blip r:embed="rId3">
            <a:alphaModFix/>
          </a:blip>
          <a:stretch>
            <a:fillRect/>
          </a:stretch>
        </p:blipFill>
        <p:spPr>
          <a:xfrm>
            <a:off x="937512" y="0"/>
            <a:ext cx="7268975" cy="5143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graphicFrame>
        <p:nvGraphicFramePr>
          <p:cNvPr id="722" name="Google Shape;722;p38"/>
          <p:cNvGraphicFramePr/>
          <p:nvPr/>
        </p:nvGraphicFramePr>
        <p:xfrm>
          <a:off x="293650" y="68850"/>
          <a:ext cx="3000000" cy="3000000"/>
        </p:xfrm>
        <a:graphic>
          <a:graphicData uri="http://schemas.openxmlformats.org/drawingml/2006/table">
            <a:tbl>
              <a:tblPr>
                <a:noFill/>
                <a:tableStyleId>{7985B7D9-D6BB-4394-92BC-0BEC9817FC1B}</a:tableStyleId>
              </a:tblPr>
              <a:tblGrid>
                <a:gridCol w="701425"/>
                <a:gridCol w="2703350"/>
                <a:gridCol w="1246300"/>
                <a:gridCol w="748025"/>
                <a:gridCol w="706775"/>
                <a:gridCol w="1048150"/>
                <a:gridCol w="1262200"/>
              </a:tblGrid>
              <a:tr h="239775">
                <a:tc>
                  <a:txBody>
                    <a:bodyPr/>
                    <a:lstStyle/>
                    <a:p>
                      <a:pPr indent="0" lvl="0" marL="0" rtl="0" algn="l">
                        <a:spcBef>
                          <a:spcPts val="0"/>
                        </a:spcBef>
                        <a:spcAft>
                          <a:spcPts val="0"/>
                        </a:spcAft>
                        <a:buNone/>
                      </a:pPr>
                      <a:r>
                        <a:rPr b="1" lang="en-GB" sz="600"/>
                        <a:t>Alias</a:t>
                      </a:r>
                      <a:endParaRPr b="1" sz="600"/>
                    </a:p>
                  </a:txBody>
                  <a:tcPr marT="91425" marB="91425" marR="91425" marL="91425"/>
                </a:tc>
                <a:tc>
                  <a:txBody>
                    <a:bodyPr/>
                    <a:lstStyle/>
                    <a:p>
                      <a:pPr indent="0" lvl="0" marL="0" rtl="0" algn="l">
                        <a:spcBef>
                          <a:spcPts val="0"/>
                        </a:spcBef>
                        <a:spcAft>
                          <a:spcPts val="0"/>
                        </a:spcAft>
                        <a:buNone/>
                      </a:pPr>
                      <a:r>
                        <a:rPr b="1" lang="en-GB" sz="600"/>
                        <a:t>Description</a:t>
                      </a:r>
                      <a:endParaRPr b="1" sz="600"/>
                    </a:p>
                  </a:txBody>
                  <a:tcPr marT="91425" marB="91425" marR="91425" marL="91425"/>
                </a:tc>
                <a:tc>
                  <a:txBody>
                    <a:bodyPr/>
                    <a:lstStyle/>
                    <a:p>
                      <a:pPr indent="0" lvl="0" marL="0" rtl="0" algn="l">
                        <a:spcBef>
                          <a:spcPts val="0"/>
                        </a:spcBef>
                        <a:spcAft>
                          <a:spcPts val="0"/>
                        </a:spcAft>
                        <a:buNone/>
                      </a:pPr>
                      <a:r>
                        <a:rPr b="1" lang="en-GB" sz="600"/>
                        <a:t>Physical Pin(Atmega)</a:t>
                      </a:r>
                      <a:endParaRPr b="1" sz="600"/>
                    </a:p>
                  </a:txBody>
                  <a:tcPr marT="91425" marB="91425" marR="91425" marL="91425"/>
                </a:tc>
                <a:tc>
                  <a:txBody>
                    <a:bodyPr/>
                    <a:lstStyle/>
                    <a:p>
                      <a:pPr indent="0" lvl="0" marL="0" rtl="0" algn="l">
                        <a:spcBef>
                          <a:spcPts val="0"/>
                        </a:spcBef>
                        <a:spcAft>
                          <a:spcPts val="0"/>
                        </a:spcAft>
                        <a:buNone/>
                      </a:pPr>
                      <a:r>
                        <a:rPr b="1" lang="en-GB" sz="600"/>
                        <a:t>Port Pin</a:t>
                      </a:r>
                      <a:endParaRPr b="1" sz="600"/>
                    </a:p>
                  </a:txBody>
                  <a:tcPr marT="91425" marB="91425" marR="91425" marL="91425"/>
                </a:tc>
                <a:tc>
                  <a:txBody>
                    <a:bodyPr/>
                    <a:lstStyle/>
                    <a:p>
                      <a:pPr indent="0" lvl="0" marL="0" rtl="0" algn="l">
                        <a:spcBef>
                          <a:spcPts val="0"/>
                        </a:spcBef>
                        <a:spcAft>
                          <a:spcPts val="0"/>
                        </a:spcAft>
                        <a:buNone/>
                      </a:pPr>
                      <a:r>
                        <a:rPr b="1" lang="en-GB" sz="600"/>
                        <a:t>Name</a:t>
                      </a:r>
                      <a:endParaRPr b="1" sz="600"/>
                    </a:p>
                  </a:txBody>
                  <a:tcPr marT="91425" marB="91425" marR="91425" marL="91425"/>
                </a:tc>
                <a:tc>
                  <a:txBody>
                    <a:bodyPr/>
                    <a:lstStyle/>
                    <a:p>
                      <a:pPr indent="0" lvl="0" marL="0" rtl="0" algn="l">
                        <a:spcBef>
                          <a:spcPts val="0"/>
                        </a:spcBef>
                        <a:spcAft>
                          <a:spcPts val="0"/>
                        </a:spcAft>
                        <a:buNone/>
                      </a:pPr>
                      <a:r>
                        <a:rPr b="1" lang="en-GB" sz="600"/>
                        <a:t>Arduino Nano Pin</a:t>
                      </a:r>
                      <a:endParaRPr b="1" sz="600"/>
                    </a:p>
                  </a:txBody>
                  <a:tcPr marT="91425" marB="91425" marR="91425" marL="91425"/>
                </a:tc>
                <a:tc>
                  <a:txBody>
                    <a:bodyPr/>
                    <a:lstStyle/>
                    <a:p>
                      <a:pPr indent="0" lvl="0" marL="0" rtl="0" algn="l">
                        <a:spcBef>
                          <a:spcPts val="0"/>
                        </a:spcBef>
                        <a:spcAft>
                          <a:spcPts val="0"/>
                        </a:spcAft>
                        <a:buNone/>
                      </a:pPr>
                      <a:r>
                        <a:rPr b="1" lang="en-GB" sz="600"/>
                        <a:t>Direction</a:t>
                      </a:r>
                      <a:endParaRPr b="1" sz="600"/>
                    </a:p>
                  </a:txBody>
                  <a:tcPr marT="91425" marB="91425" marR="91425" marL="91425"/>
                </a:tc>
              </a:tr>
              <a:tr h="196425">
                <a:tc>
                  <a:txBody>
                    <a:bodyPr/>
                    <a:lstStyle/>
                    <a:p>
                      <a:pPr indent="0" lvl="0" marL="0" rtl="0" algn="l">
                        <a:spcBef>
                          <a:spcPts val="0"/>
                        </a:spcBef>
                        <a:spcAft>
                          <a:spcPts val="0"/>
                        </a:spcAft>
                        <a:buNone/>
                      </a:pPr>
                      <a:r>
                        <a:rPr lang="en-GB" sz="600"/>
                        <a:t>SDA</a:t>
                      </a:r>
                      <a:endParaRPr sz="600"/>
                    </a:p>
                  </a:txBody>
                  <a:tcPr marT="91425" marB="91425" marR="91425" marL="91425"/>
                </a:tc>
                <a:tc>
                  <a:txBody>
                    <a:bodyPr/>
                    <a:lstStyle/>
                    <a:p>
                      <a:pPr indent="0" lvl="0" marL="0" rtl="0" algn="l">
                        <a:spcBef>
                          <a:spcPts val="0"/>
                        </a:spcBef>
                        <a:spcAft>
                          <a:spcPts val="0"/>
                        </a:spcAft>
                        <a:buNone/>
                      </a:pPr>
                      <a:r>
                        <a:rPr lang="en-GB" sz="600"/>
                        <a:t>Communication to IMU - I2C</a:t>
                      </a:r>
                      <a:endParaRPr sz="600"/>
                    </a:p>
                  </a:txBody>
                  <a:tcPr marT="91425" marB="91425" marR="91425" marL="91425"/>
                </a:tc>
                <a:tc>
                  <a:txBody>
                    <a:bodyPr/>
                    <a:lstStyle/>
                    <a:p>
                      <a:pPr indent="0" lvl="0" marL="0" rtl="0" algn="l">
                        <a:spcBef>
                          <a:spcPts val="0"/>
                        </a:spcBef>
                        <a:spcAft>
                          <a:spcPts val="0"/>
                        </a:spcAft>
                        <a:buNone/>
                      </a:pPr>
                      <a:r>
                        <a:rPr lang="en-GB" sz="600"/>
                        <a:t>27</a:t>
                      </a:r>
                      <a:endParaRPr sz="600"/>
                    </a:p>
                  </a:txBody>
                  <a:tcPr marT="91425" marB="91425" marR="91425" marL="91425"/>
                </a:tc>
                <a:tc>
                  <a:txBody>
                    <a:bodyPr/>
                    <a:lstStyle/>
                    <a:p>
                      <a:pPr indent="0" lvl="0" marL="0" rtl="0" algn="l">
                        <a:spcBef>
                          <a:spcPts val="0"/>
                        </a:spcBef>
                        <a:spcAft>
                          <a:spcPts val="0"/>
                        </a:spcAft>
                        <a:buNone/>
                      </a:pPr>
                      <a:r>
                        <a:rPr lang="en-GB" sz="600"/>
                        <a:t>PC4</a:t>
                      </a:r>
                      <a:endParaRPr sz="600"/>
                    </a:p>
                  </a:txBody>
                  <a:tcPr marT="91425" marB="91425" marR="91425" marL="91425"/>
                </a:tc>
                <a:tc>
                  <a:txBody>
                    <a:bodyPr/>
                    <a:lstStyle/>
                    <a:p>
                      <a:pPr indent="0" lvl="0" marL="0" rtl="0" algn="l">
                        <a:spcBef>
                          <a:spcPts val="0"/>
                        </a:spcBef>
                        <a:spcAft>
                          <a:spcPts val="0"/>
                        </a:spcAft>
                        <a:buNone/>
                      </a:pPr>
                      <a:r>
                        <a:rPr lang="en-GB" sz="600"/>
                        <a:t>SDA</a:t>
                      </a:r>
                      <a:endParaRPr sz="600"/>
                    </a:p>
                  </a:txBody>
                  <a:tcPr marT="91425" marB="91425" marR="91425" marL="91425"/>
                </a:tc>
                <a:tc>
                  <a:txBody>
                    <a:bodyPr/>
                    <a:lstStyle/>
                    <a:p>
                      <a:pPr indent="0" lvl="0" marL="0" rtl="0" algn="l">
                        <a:spcBef>
                          <a:spcPts val="0"/>
                        </a:spcBef>
                        <a:spcAft>
                          <a:spcPts val="0"/>
                        </a:spcAft>
                        <a:buNone/>
                      </a:pPr>
                      <a:r>
                        <a:rPr lang="en-GB" sz="600"/>
                        <a:t>A4 (SDA)</a:t>
                      </a:r>
                      <a:endParaRPr sz="600"/>
                    </a:p>
                  </a:txBody>
                  <a:tcPr marT="91425" marB="91425" marR="91425" marL="91425"/>
                </a:tc>
                <a:tc>
                  <a:txBody>
                    <a:bodyPr/>
                    <a:lstStyle/>
                    <a:p>
                      <a:pPr indent="0" lvl="0" marL="0" rtl="0" algn="l">
                        <a:spcBef>
                          <a:spcPts val="0"/>
                        </a:spcBef>
                        <a:spcAft>
                          <a:spcPts val="0"/>
                        </a:spcAft>
                        <a:buNone/>
                      </a:pPr>
                      <a:r>
                        <a:rPr lang="en-GB" sz="600"/>
                        <a:t>X</a:t>
                      </a:r>
                      <a:endParaRPr sz="600"/>
                    </a:p>
                  </a:txBody>
                  <a:tcPr marT="91425" marB="91425" marR="91425" marL="91425"/>
                </a:tc>
              </a:tr>
              <a:tr h="100000">
                <a:tc>
                  <a:txBody>
                    <a:bodyPr/>
                    <a:lstStyle/>
                    <a:p>
                      <a:pPr indent="0" lvl="0" marL="0" rtl="0" algn="l">
                        <a:spcBef>
                          <a:spcPts val="0"/>
                        </a:spcBef>
                        <a:spcAft>
                          <a:spcPts val="0"/>
                        </a:spcAft>
                        <a:buNone/>
                      </a:pPr>
                      <a:r>
                        <a:rPr lang="en-GB" sz="600"/>
                        <a:t>SCL</a:t>
                      </a:r>
                      <a:endParaRPr sz="6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600">
                          <a:solidFill>
                            <a:schemeClr val="dk1"/>
                          </a:solidFill>
                        </a:rPr>
                        <a:t>Communication to IMU - I2C</a:t>
                      </a:r>
                      <a:endParaRPr b="1" sz="600"/>
                    </a:p>
                  </a:txBody>
                  <a:tcPr marT="91425" marB="91425" marR="91425" marL="91425"/>
                </a:tc>
                <a:tc>
                  <a:txBody>
                    <a:bodyPr/>
                    <a:lstStyle/>
                    <a:p>
                      <a:pPr indent="0" lvl="0" marL="0" rtl="0" algn="l">
                        <a:spcBef>
                          <a:spcPts val="0"/>
                        </a:spcBef>
                        <a:spcAft>
                          <a:spcPts val="0"/>
                        </a:spcAft>
                        <a:buNone/>
                      </a:pPr>
                      <a:r>
                        <a:rPr lang="en-GB" sz="600"/>
                        <a:t>28</a:t>
                      </a:r>
                      <a:endParaRPr sz="600"/>
                    </a:p>
                  </a:txBody>
                  <a:tcPr marT="91425" marB="91425" marR="91425" marL="91425"/>
                </a:tc>
                <a:tc>
                  <a:txBody>
                    <a:bodyPr/>
                    <a:lstStyle/>
                    <a:p>
                      <a:pPr indent="0" lvl="0" marL="0" rtl="0" algn="l">
                        <a:spcBef>
                          <a:spcPts val="0"/>
                        </a:spcBef>
                        <a:spcAft>
                          <a:spcPts val="0"/>
                        </a:spcAft>
                        <a:buNone/>
                      </a:pPr>
                      <a:r>
                        <a:rPr lang="en-GB" sz="600"/>
                        <a:t>PC5</a:t>
                      </a:r>
                      <a:endParaRPr sz="600"/>
                    </a:p>
                  </a:txBody>
                  <a:tcPr marT="91425" marB="91425" marR="91425" marL="91425"/>
                </a:tc>
                <a:tc>
                  <a:txBody>
                    <a:bodyPr/>
                    <a:lstStyle/>
                    <a:p>
                      <a:pPr indent="0" lvl="0" marL="0" rtl="0" algn="l">
                        <a:spcBef>
                          <a:spcPts val="0"/>
                        </a:spcBef>
                        <a:spcAft>
                          <a:spcPts val="0"/>
                        </a:spcAft>
                        <a:buNone/>
                      </a:pPr>
                      <a:r>
                        <a:rPr lang="en-GB" sz="600"/>
                        <a:t>SCL</a:t>
                      </a:r>
                      <a:endParaRPr sz="600"/>
                    </a:p>
                  </a:txBody>
                  <a:tcPr marT="91425" marB="91425" marR="91425" marL="91425"/>
                </a:tc>
                <a:tc>
                  <a:txBody>
                    <a:bodyPr/>
                    <a:lstStyle/>
                    <a:p>
                      <a:pPr indent="0" lvl="0" marL="0" rtl="0" algn="l">
                        <a:spcBef>
                          <a:spcPts val="0"/>
                        </a:spcBef>
                        <a:spcAft>
                          <a:spcPts val="0"/>
                        </a:spcAft>
                        <a:buNone/>
                      </a:pPr>
                      <a:r>
                        <a:rPr lang="en-GB" sz="600"/>
                        <a:t>A5 (SCL)</a:t>
                      </a:r>
                      <a:endParaRPr sz="600"/>
                    </a:p>
                  </a:txBody>
                  <a:tcPr marT="91425" marB="91425" marR="91425" marL="91425"/>
                </a:tc>
                <a:tc>
                  <a:txBody>
                    <a:bodyPr/>
                    <a:lstStyle/>
                    <a:p>
                      <a:pPr indent="0" lvl="0" marL="0" rtl="0" algn="l">
                        <a:spcBef>
                          <a:spcPts val="0"/>
                        </a:spcBef>
                        <a:spcAft>
                          <a:spcPts val="0"/>
                        </a:spcAft>
                        <a:buNone/>
                      </a:pPr>
                      <a:r>
                        <a:rPr lang="en-GB" sz="600"/>
                        <a:t>X</a:t>
                      </a:r>
                      <a:endParaRPr sz="600"/>
                    </a:p>
                  </a:txBody>
                  <a:tcPr marT="91425" marB="91425" marR="91425" marL="91425"/>
                </a:tc>
              </a:tr>
              <a:tr h="100000">
                <a:tc>
                  <a:txBody>
                    <a:bodyPr/>
                    <a:lstStyle/>
                    <a:p>
                      <a:pPr indent="0" lvl="0" marL="0" rtl="0" algn="l">
                        <a:spcBef>
                          <a:spcPts val="0"/>
                        </a:spcBef>
                        <a:spcAft>
                          <a:spcPts val="0"/>
                        </a:spcAft>
                        <a:buNone/>
                      </a:pPr>
                      <a:r>
                        <a:rPr lang="en-GB" sz="600"/>
                        <a:t>IMU INT</a:t>
                      </a:r>
                      <a:endParaRPr sz="600"/>
                    </a:p>
                  </a:txBody>
                  <a:tcPr marT="91425" marB="91425" marR="91425" marL="91425"/>
                </a:tc>
                <a:tc>
                  <a:txBody>
                    <a:bodyPr/>
                    <a:lstStyle/>
                    <a:p>
                      <a:pPr indent="0" lvl="0" marL="0" rtl="0" algn="l">
                        <a:spcBef>
                          <a:spcPts val="0"/>
                        </a:spcBef>
                        <a:spcAft>
                          <a:spcPts val="0"/>
                        </a:spcAft>
                        <a:buNone/>
                      </a:pPr>
                      <a:r>
                        <a:rPr lang="en-GB" sz="600">
                          <a:solidFill>
                            <a:schemeClr val="dk1"/>
                          </a:solidFill>
                        </a:rPr>
                        <a:t>Read Signal - Pin Change interrupt</a:t>
                      </a:r>
                      <a:endParaRPr sz="600">
                        <a:solidFill>
                          <a:schemeClr val="dk1"/>
                        </a:solidFill>
                      </a:endParaRPr>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rPr lang="en-GB" sz="600"/>
                        <a:t>D12</a:t>
                      </a:r>
                      <a:endParaRPr sz="600"/>
                    </a:p>
                  </a:txBody>
                  <a:tcPr marT="91425" marB="91425" marR="91425" marL="91425"/>
                </a:tc>
                <a:tc>
                  <a:txBody>
                    <a:bodyPr/>
                    <a:lstStyle/>
                    <a:p>
                      <a:pPr indent="0" lvl="0" marL="0" rtl="0" algn="l">
                        <a:spcBef>
                          <a:spcPts val="0"/>
                        </a:spcBef>
                        <a:spcAft>
                          <a:spcPts val="0"/>
                        </a:spcAft>
                        <a:buNone/>
                      </a:pPr>
                      <a:r>
                        <a:rPr lang="en-GB" sz="600"/>
                        <a:t>INPUT</a:t>
                      </a:r>
                      <a:endParaRPr sz="600"/>
                    </a:p>
                  </a:txBody>
                  <a:tcPr marT="91425" marB="91425" marR="91425" marL="91425"/>
                </a:tc>
              </a:tr>
              <a:tr h="153600">
                <a:tc>
                  <a:txBody>
                    <a:bodyPr/>
                    <a:lstStyle/>
                    <a:p>
                      <a:pPr indent="0" lvl="0" marL="0" rtl="0" algn="l">
                        <a:spcBef>
                          <a:spcPts val="0"/>
                        </a:spcBef>
                        <a:spcAft>
                          <a:spcPts val="0"/>
                        </a:spcAft>
                        <a:buNone/>
                      </a:pPr>
                      <a:r>
                        <a:rPr lang="en-GB" sz="600"/>
                        <a:t>THRO</a:t>
                      </a:r>
                      <a:endParaRPr sz="600"/>
                    </a:p>
                  </a:txBody>
                  <a:tcPr marT="91425" marB="91425" marR="91425" marL="91425"/>
                </a:tc>
                <a:tc>
                  <a:txBody>
                    <a:bodyPr/>
                    <a:lstStyle/>
                    <a:p>
                      <a:pPr indent="0" lvl="0" marL="0" rtl="0" algn="l">
                        <a:spcBef>
                          <a:spcPts val="0"/>
                        </a:spcBef>
                        <a:spcAft>
                          <a:spcPts val="0"/>
                        </a:spcAft>
                        <a:buNone/>
                      </a:pPr>
                      <a:r>
                        <a:rPr lang="en-GB" sz="600"/>
                        <a:t>Read PWM Signal - Pin Change interrupt</a:t>
                      </a:r>
                      <a:endParaRPr sz="600"/>
                    </a:p>
                  </a:txBody>
                  <a:tcPr marT="91425" marB="91425" marR="91425" marL="91425"/>
                </a:tc>
                <a:tc>
                  <a:txBody>
                    <a:bodyPr/>
                    <a:lstStyle/>
                    <a:p>
                      <a:pPr indent="0" lvl="0" marL="0" rtl="0" algn="l">
                        <a:spcBef>
                          <a:spcPts val="0"/>
                        </a:spcBef>
                        <a:spcAft>
                          <a:spcPts val="0"/>
                        </a:spcAft>
                        <a:buNone/>
                      </a:pPr>
                      <a:r>
                        <a:rPr lang="en-GB" sz="600"/>
                        <a:t>32</a:t>
                      </a:r>
                      <a:endParaRPr sz="600"/>
                    </a:p>
                  </a:txBody>
                  <a:tcPr marT="91425" marB="91425" marR="91425" marL="91425"/>
                </a:tc>
                <a:tc>
                  <a:txBody>
                    <a:bodyPr/>
                    <a:lstStyle/>
                    <a:p>
                      <a:pPr indent="0" lvl="0" marL="0" rtl="0" algn="l">
                        <a:spcBef>
                          <a:spcPts val="0"/>
                        </a:spcBef>
                        <a:spcAft>
                          <a:spcPts val="0"/>
                        </a:spcAft>
                        <a:buNone/>
                      </a:pPr>
                      <a:r>
                        <a:rPr lang="en-GB" sz="600"/>
                        <a:t>PD2</a:t>
                      </a:r>
                      <a:endParaRPr sz="600"/>
                    </a:p>
                  </a:txBody>
                  <a:tcPr marT="91425" marB="91425" marR="91425" marL="91425"/>
                </a:tc>
                <a:tc>
                  <a:txBody>
                    <a:bodyPr/>
                    <a:lstStyle/>
                    <a:p>
                      <a:pPr indent="0" lvl="0" marL="0" rtl="0" algn="l">
                        <a:spcBef>
                          <a:spcPts val="0"/>
                        </a:spcBef>
                        <a:spcAft>
                          <a:spcPts val="0"/>
                        </a:spcAft>
                        <a:buNone/>
                      </a:pPr>
                      <a:r>
                        <a:rPr lang="en-GB" sz="600"/>
                        <a:t>PCINT18</a:t>
                      </a:r>
                      <a:endParaRPr sz="600"/>
                    </a:p>
                  </a:txBody>
                  <a:tcPr marT="91425" marB="91425" marR="91425" marL="91425"/>
                </a:tc>
                <a:tc>
                  <a:txBody>
                    <a:bodyPr/>
                    <a:lstStyle/>
                    <a:p>
                      <a:pPr indent="0" lvl="0" marL="0" rtl="0" algn="l">
                        <a:spcBef>
                          <a:spcPts val="0"/>
                        </a:spcBef>
                        <a:spcAft>
                          <a:spcPts val="0"/>
                        </a:spcAft>
                        <a:buNone/>
                      </a:pPr>
                      <a:r>
                        <a:rPr lang="en-GB" sz="600"/>
                        <a:t>2</a:t>
                      </a:r>
                      <a:endParaRPr sz="600"/>
                    </a:p>
                  </a:txBody>
                  <a:tcPr marT="91425" marB="91425" marR="91425" marL="91425"/>
                </a:tc>
                <a:tc>
                  <a:txBody>
                    <a:bodyPr/>
                    <a:lstStyle/>
                    <a:p>
                      <a:pPr indent="0" lvl="0" marL="0" rtl="0" algn="l">
                        <a:spcBef>
                          <a:spcPts val="0"/>
                        </a:spcBef>
                        <a:spcAft>
                          <a:spcPts val="0"/>
                        </a:spcAft>
                        <a:buNone/>
                      </a:pPr>
                      <a:r>
                        <a:rPr lang="en-GB" sz="600"/>
                        <a:t>INPUT</a:t>
                      </a:r>
                      <a:endParaRPr sz="600"/>
                    </a:p>
                  </a:txBody>
                  <a:tcPr marT="91425" marB="91425" marR="91425" marL="91425"/>
                </a:tc>
              </a:tr>
              <a:tr h="166975">
                <a:tc>
                  <a:txBody>
                    <a:bodyPr/>
                    <a:lstStyle/>
                    <a:p>
                      <a:pPr indent="0" lvl="0" marL="0" rtl="0" algn="l">
                        <a:spcBef>
                          <a:spcPts val="0"/>
                        </a:spcBef>
                        <a:spcAft>
                          <a:spcPts val="0"/>
                        </a:spcAft>
                        <a:buNone/>
                      </a:pPr>
                      <a:r>
                        <a:rPr lang="en-GB" sz="600"/>
                        <a:t>ALIE</a:t>
                      </a:r>
                      <a:endParaRPr sz="6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600">
                          <a:solidFill>
                            <a:schemeClr val="dk1"/>
                          </a:solidFill>
                        </a:rPr>
                        <a:t>Read PWM Signal - Pin Change interrupt</a:t>
                      </a:r>
                      <a:endParaRPr sz="600"/>
                    </a:p>
                  </a:txBody>
                  <a:tcPr marT="91425" marB="91425" marR="91425" marL="91425"/>
                </a:tc>
                <a:tc>
                  <a:txBody>
                    <a:bodyPr/>
                    <a:lstStyle/>
                    <a:p>
                      <a:pPr indent="0" lvl="0" marL="0" rtl="0" algn="l">
                        <a:spcBef>
                          <a:spcPts val="0"/>
                        </a:spcBef>
                        <a:spcAft>
                          <a:spcPts val="0"/>
                        </a:spcAft>
                        <a:buNone/>
                      </a:pPr>
                      <a:r>
                        <a:rPr lang="en-GB" sz="600"/>
                        <a:t>2</a:t>
                      </a:r>
                      <a:endParaRPr sz="600"/>
                    </a:p>
                  </a:txBody>
                  <a:tcPr marT="91425" marB="91425" marR="91425" marL="91425"/>
                </a:tc>
                <a:tc>
                  <a:txBody>
                    <a:bodyPr/>
                    <a:lstStyle/>
                    <a:p>
                      <a:pPr indent="0" lvl="0" marL="0" rtl="0" algn="l">
                        <a:spcBef>
                          <a:spcPts val="0"/>
                        </a:spcBef>
                        <a:spcAft>
                          <a:spcPts val="0"/>
                        </a:spcAft>
                        <a:buNone/>
                      </a:pPr>
                      <a:r>
                        <a:rPr lang="en-GB" sz="600"/>
                        <a:t>PD4</a:t>
                      </a:r>
                      <a:endParaRPr sz="600"/>
                    </a:p>
                  </a:txBody>
                  <a:tcPr marT="91425" marB="91425" marR="91425" marL="91425"/>
                </a:tc>
                <a:tc>
                  <a:txBody>
                    <a:bodyPr/>
                    <a:lstStyle/>
                    <a:p>
                      <a:pPr indent="0" lvl="0" marL="0" rtl="0" algn="l">
                        <a:spcBef>
                          <a:spcPts val="0"/>
                        </a:spcBef>
                        <a:spcAft>
                          <a:spcPts val="0"/>
                        </a:spcAft>
                        <a:buNone/>
                      </a:pPr>
                      <a:r>
                        <a:rPr lang="en-GB" sz="600"/>
                        <a:t>PCINT20</a:t>
                      </a:r>
                      <a:endParaRPr sz="600"/>
                    </a:p>
                  </a:txBody>
                  <a:tcPr marT="91425" marB="91425" marR="91425" marL="91425"/>
                </a:tc>
                <a:tc>
                  <a:txBody>
                    <a:bodyPr/>
                    <a:lstStyle/>
                    <a:p>
                      <a:pPr indent="0" lvl="0" marL="0" rtl="0" algn="l">
                        <a:spcBef>
                          <a:spcPts val="0"/>
                        </a:spcBef>
                        <a:spcAft>
                          <a:spcPts val="0"/>
                        </a:spcAft>
                        <a:buNone/>
                      </a:pPr>
                      <a:r>
                        <a:rPr lang="en-GB" sz="600"/>
                        <a:t>4</a:t>
                      </a:r>
                      <a:endParaRPr sz="600"/>
                    </a:p>
                  </a:txBody>
                  <a:tcPr marT="91425" marB="91425" marR="91425" marL="91425"/>
                </a:tc>
                <a:tc>
                  <a:txBody>
                    <a:bodyPr/>
                    <a:lstStyle/>
                    <a:p>
                      <a:pPr indent="0" lvl="0" marL="0" rtl="0" algn="l">
                        <a:spcBef>
                          <a:spcPts val="0"/>
                        </a:spcBef>
                        <a:spcAft>
                          <a:spcPts val="0"/>
                        </a:spcAft>
                        <a:buNone/>
                      </a:pPr>
                      <a:r>
                        <a:rPr lang="en-GB" sz="600"/>
                        <a:t>INPUT</a:t>
                      </a:r>
                      <a:endParaRPr sz="600"/>
                    </a:p>
                  </a:txBody>
                  <a:tcPr marT="91425" marB="91425" marR="91425" marL="91425"/>
                </a:tc>
              </a:tr>
              <a:tr h="160275">
                <a:tc>
                  <a:txBody>
                    <a:bodyPr/>
                    <a:lstStyle/>
                    <a:p>
                      <a:pPr indent="0" lvl="0" marL="0" rtl="0" algn="l">
                        <a:spcBef>
                          <a:spcPts val="0"/>
                        </a:spcBef>
                        <a:spcAft>
                          <a:spcPts val="0"/>
                        </a:spcAft>
                        <a:buNone/>
                      </a:pPr>
                      <a:r>
                        <a:rPr lang="en-GB" sz="600"/>
                        <a:t>ELEV</a:t>
                      </a:r>
                      <a:endParaRPr sz="6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600">
                          <a:solidFill>
                            <a:schemeClr val="dk1"/>
                          </a:solidFill>
                        </a:rPr>
                        <a:t>Read PWM Signal - Pin Change interrupt</a:t>
                      </a:r>
                      <a:endParaRPr sz="600"/>
                    </a:p>
                  </a:txBody>
                  <a:tcPr marT="91425" marB="91425" marR="91425" marL="91425"/>
                </a:tc>
                <a:tc>
                  <a:txBody>
                    <a:bodyPr/>
                    <a:lstStyle/>
                    <a:p>
                      <a:pPr indent="0" lvl="0" marL="0" rtl="0" algn="l">
                        <a:spcBef>
                          <a:spcPts val="0"/>
                        </a:spcBef>
                        <a:spcAft>
                          <a:spcPts val="0"/>
                        </a:spcAft>
                        <a:buNone/>
                      </a:pPr>
                      <a:r>
                        <a:rPr lang="en-GB" sz="600"/>
                        <a:t>11</a:t>
                      </a:r>
                      <a:endParaRPr sz="600"/>
                    </a:p>
                  </a:txBody>
                  <a:tcPr marT="91425" marB="91425" marR="91425" marL="91425"/>
                </a:tc>
                <a:tc>
                  <a:txBody>
                    <a:bodyPr/>
                    <a:lstStyle/>
                    <a:p>
                      <a:pPr indent="0" lvl="0" marL="0" rtl="0" algn="l">
                        <a:spcBef>
                          <a:spcPts val="0"/>
                        </a:spcBef>
                        <a:spcAft>
                          <a:spcPts val="0"/>
                        </a:spcAft>
                        <a:buNone/>
                      </a:pPr>
                      <a:r>
                        <a:rPr lang="en-GB" sz="600"/>
                        <a:t>PD7</a:t>
                      </a:r>
                      <a:endParaRPr sz="600"/>
                    </a:p>
                  </a:txBody>
                  <a:tcPr marT="91425" marB="91425" marR="91425" marL="91425"/>
                </a:tc>
                <a:tc>
                  <a:txBody>
                    <a:bodyPr/>
                    <a:lstStyle/>
                    <a:p>
                      <a:pPr indent="0" lvl="0" marL="0" rtl="0" algn="l">
                        <a:spcBef>
                          <a:spcPts val="0"/>
                        </a:spcBef>
                        <a:spcAft>
                          <a:spcPts val="0"/>
                        </a:spcAft>
                        <a:buNone/>
                      </a:pPr>
                      <a:r>
                        <a:rPr lang="en-GB" sz="600"/>
                        <a:t>PCINT23</a:t>
                      </a:r>
                      <a:endParaRPr sz="600"/>
                    </a:p>
                  </a:txBody>
                  <a:tcPr marT="91425" marB="91425" marR="91425" marL="91425"/>
                </a:tc>
                <a:tc>
                  <a:txBody>
                    <a:bodyPr/>
                    <a:lstStyle/>
                    <a:p>
                      <a:pPr indent="0" lvl="0" marL="0" rtl="0" algn="l">
                        <a:spcBef>
                          <a:spcPts val="0"/>
                        </a:spcBef>
                        <a:spcAft>
                          <a:spcPts val="0"/>
                        </a:spcAft>
                        <a:buNone/>
                      </a:pPr>
                      <a:r>
                        <a:rPr lang="en-GB" sz="600"/>
                        <a:t>7</a:t>
                      </a:r>
                      <a:endParaRPr sz="600"/>
                    </a:p>
                  </a:txBody>
                  <a:tcPr marT="91425" marB="91425" marR="91425" marL="91425"/>
                </a:tc>
                <a:tc>
                  <a:txBody>
                    <a:bodyPr/>
                    <a:lstStyle/>
                    <a:p>
                      <a:pPr indent="0" lvl="0" marL="0" rtl="0" algn="l">
                        <a:spcBef>
                          <a:spcPts val="0"/>
                        </a:spcBef>
                        <a:spcAft>
                          <a:spcPts val="0"/>
                        </a:spcAft>
                        <a:buNone/>
                      </a:pPr>
                      <a:r>
                        <a:rPr lang="en-GB" sz="600"/>
                        <a:t>INPUT</a:t>
                      </a:r>
                      <a:endParaRPr sz="600"/>
                    </a:p>
                  </a:txBody>
                  <a:tcPr marT="91425" marB="91425" marR="91425" marL="91425"/>
                </a:tc>
              </a:tr>
              <a:tr h="146900">
                <a:tc>
                  <a:txBody>
                    <a:bodyPr/>
                    <a:lstStyle/>
                    <a:p>
                      <a:pPr indent="0" lvl="0" marL="0" rtl="0" algn="l">
                        <a:spcBef>
                          <a:spcPts val="0"/>
                        </a:spcBef>
                        <a:spcAft>
                          <a:spcPts val="0"/>
                        </a:spcAft>
                        <a:buNone/>
                      </a:pPr>
                      <a:r>
                        <a:rPr lang="en-GB" sz="600"/>
                        <a:t>RUDD</a:t>
                      </a:r>
                      <a:endParaRPr sz="6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600">
                          <a:solidFill>
                            <a:schemeClr val="dk1"/>
                          </a:solidFill>
                        </a:rPr>
                        <a:t>Read PWM Signal - Pin Change interrupt</a:t>
                      </a:r>
                      <a:endParaRPr sz="600"/>
                    </a:p>
                  </a:txBody>
                  <a:tcPr marT="91425" marB="91425" marR="91425" marL="91425"/>
                </a:tc>
                <a:tc>
                  <a:txBody>
                    <a:bodyPr/>
                    <a:lstStyle/>
                    <a:p>
                      <a:pPr indent="0" lvl="0" marL="0" rtl="0" algn="l">
                        <a:spcBef>
                          <a:spcPts val="0"/>
                        </a:spcBef>
                        <a:spcAft>
                          <a:spcPts val="0"/>
                        </a:spcAft>
                        <a:buNone/>
                      </a:pPr>
                      <a:r>
                        <a:rPr lang="en-GB" sz="600"/>
                        <a:t>12</a:t>
                      </a:r>
                      <a:endParaRPr sz="600"/>
                    </a:p>
                  </a:txBody>
                  <a:tcPr marT="91425" marB="91425" marR="91425" marL="91425"/>
                </a:tc>
                <a:tc>
                  <a:txBody>
                    <a:bodyPr/>
                    <a:lstStyle/>
                    <a:p>
                      <a:pPr indent="0" lvl="0" marL="0" rtl="0" algn="l">
                        <a:spcBef>
                          <a:spcPts val="0"/>
                        </a:spcBef>
                        <a:spcAft>
                          <a:spcPts val="0"/>
                        </a:spcAft>
                        <a:buNone/>
                      </a:pPr>
                      <a:r>
                        <a:rPr lang="en-GB" sz="600"/>
                        <a:t>PB0</a:t>
                      </a:r>
                      <a:endParaRPr sz="600"/>
                    </a:p>
                  </a:txBody>
                  <a:tcPr marT="91425" marB="91425" marR="91425" marL="91425"/>
                </a:tc>
                <a:tc>
                  <a:txBody>
                    <a:bodyPr/>
                    <a:lstStyle/>
                    <a:p>
                      <a:pPr indent="0" lvl="0" marL="0" rtl="0" algn="l">
                        <a:spcBef>
                          <a:spcPts val="0"/>
                        </a:spcBef>
                        <a:spcAft>
                          <a:spcPts val="0"/>
                        </a:spcAft>
                        <a:buNone/>
                      </a:pPr>
                      <a:r>
                        <a:rPr lang="en-GB" sz="600"/>
                        <a:t>PCINT0</a:t>
                      </a:r>
                      <a:endParaRPr sz="600"/>
                    </a:p>
                  </a:txBody>
                  <a:tcPr marT="91425" marB="91425" marR="91425" marL="91425"/>
                </a:tc>
                <a:tc>
                  <a:txBody>
                    <a:bodyPr/>
                    <a:lstStyle/>
                    <a:p>
                      <a:pPr indent="0" lvl="0" marL="0" rtl="0" algn="l">
                        <a:spcBef>
                          <a:spcPts val="0"/>
                        </a:spcBef>
                        <a:spcAft>
                          <a:spcPts val="0"/>
                        </a:spcAft>
                        <a:buNone/>
                      </a:pPr>
                      <a:r>
                        <a:rPr lang="en-GB" sz="600"/>
                        <a:t>8</a:t>
                      </a:r>
                      <a:endParaRPr sz="600"/>
                    </a:p>
                  </a:txBody>
                  <a:tcPr marT="91425" marB="91425" marR="91425" marL="91425"/>
                </a:tc>
                <a:tc>
                  <a:txBody>
                    <a:bodyPr/>
                    <a:lstStyle/>
                    <a:p>
                      <a:pPr indent="0" lvl="0" marL="0" rtl="0" algn="l">
                        <a:spcBef>
                          <a:spcPts val="0"/>
                        </a:spcBef>
                        <a:spcAft>
                          <a:spcPts val="0"/>
                        </a:spcAft>
                        <a:buNone/>
                      </a:pPr>
                      <a:r>
                        <a:rPr lang="en-GB" sz="600"/>
                        <a:t>INPUT</a:t>
                      </a:r>
                      <a:endParaRPr sz="600"/>
                    </a:p>
                  </a:txBody>
                  <a:tcPr marT="91425" marB="91425" marR="91425" marL="91425"/>
                </a:tc>
              </a:tr>
              <a:tr h="146900">
                <a:tc>
                  <a:txBody>
                    <a:bodyPr/>
                    <a:lstStyle/>
                    <a:p>
                      <a:pPr indent="0" lvl="0" marL="0" rtl="0" algn="l">
                        <a:spcBef>
                          <a:spcPts val="0"/>
                        </a:spcBef>
                        <a:spcAft>
                          <a:spcPts val="0"/>
                        </a:spcAft>
                        <a:buNone/>
                      </a:pPr>
                      <a:r>
                        <a:rPr lang="en-GB" sz="600"/>
                        <a:t>GEAR</a:t>
                      </a:r>
                      <a:endParaRPr sz="600"/>
                    </a:p>
                  </a:txBody>
                  <a:tcPr marT="91425" marB="91425" marR="91425" marL="91425"/>
                </a:tc>
                <a:tc>
                  <a:txBody>
                    <a:bodyPr/>
                    <a:lstStyle/>
                    <a:p>
                      <a:pPr indent="0" lvl="0" marL="0" rtl="0" algn="l">
                        <a:spcBef>
                          <a:spcPts val="0"/>
                        </a:spcBef>
                        <a:spcAft>
                          <a:spcPts val="0"/>
                        </a:spcAft>
                        <a:buNone/>
                      </a:pPr>
                      <a:r>
                        <a:rPr lang="en-GB" sz="600">
                          <a:solidFill>
                            <a:schemeClr val="dk1"/>
                          </a:solidFill>
                        </a:rPr>
                        <a:t>Read PWM Signal - Pin Change interrupt</a:t>
                      </a:r>
                      <a:endParaRPr sz="600">
                        <a:solidFill>
                          <a:schemeClr val="dk1"/>
                        </a:solidFill>
                      </a:endParaRPr>
                    </a:p>
                  </a:txBody>
                  <a:tcPr marT="91425" marB="91425" marR="91425" marL="91425"/>
                </a:tc>
                <a:tc>
                  <a:txBody>
                    <a:bodyPr/>
                    <a:lstStyle/>
                    <a:p>
                      <a:pPr indent="0" lvl="0" marL="0" rtl="0" algn="l">
                        <a:spcBef>
                          <a:spcPts val="0"/>
                        </a:spcBef>
                        <a:spcAft>
                          <a:spcPts val="0"/>
                        </a:spcAft>
                        <a:buNone/>
                      </a:pPr>
                      <a:r>
                        <a:rPr lang="en-GB" sz="600"/>
                        <a:t>13</a:t>
                      </a:r>
                      <a:endParaRPr sz="600"/>
                    </a:p>
                  </a:txBody>
                  <a:tcPr marT="91425" marB="91425" marR="91425" marL="91425"/>
                </a:tc>
                <a:tc>
                  <a:txBody>
                    <a:bodyPr/>
                    <a:lstStyle/>
                    <a:p>
                      <a:pPr indent="0" lvl="0" marL="0" rtl="0" algn="l">
                        <a:spcBef>
                          <a:spcPts val="0"/>
                        </a:spcBef>
                        <a:spcAft>
                          <a:spcPts val="0"/>
                        </a:spcAft>
                        <a:buNone/>
                      </a:pPr>
                      <a:r>
                        <a:rPr lang="en-GB" sz="600"/>
                        <a:t>PB1</a:t>
                      </a:r>
                      <a:endParaRPr sz="600"/>
                    </a:p>
                  </a:txBody>
                  <a:tcPr marT="91425" marB="91425" marR="91425" marL="91425"/>
                </a:tc>
                <a:tc>
                  <a:txBody>
                    <a:bodyPr/>
                    <a:lstStyle/>
                    <a:p>
                      <a:pPr indent="0" lvl="0" marL="0" rtl="0" algn="l">
                        <a:spcBef>
                          <a:spcPts val="0"/>
                        </a:spcBef>
                        <a:spcAft>
                          <a:spcPts val="0"/>
                        </a:spcAft>
                        <a:buNone/>
                      </a:pPr>
                      <a:r>
                        <a:rPr lang="en-GB" sz="600"/>
                        <a:t>PCINT1</a:t>
                      </a:r>
                      <a:endParaRPr sz="600"/>
                    </a:p>
                  </a:txBody>
                  <a:tcPr marT="91425" marB="91425" marR="91425" marL="91425"/>
                </a:tc>
                <a:tc>
                  <a:txBody>
                    <a:bodyPr/>
                    <a:lstStyle/>
                    <a:p>
                      <a:pPr indent="0" lvl="0" marL="0" rtl="0" algn="l">
                        <a:spcBef>
                          <a:spcPts val="0"/>
                        </a:spcBef>
                        <a:spcAft>
                          <a:spcPts val="0"/>
                        </a:spcAft>
                        <a:buNone/>
                      </a:pPr>
                      <a:r>
                        <a:rPr lang="en-GB" sz="600"/>
                        <a:t>9</a:t>
                      </a:r>
                      <a:endParaRPr sz="600"/>
                    </a:p>
                  </a:txBody>
                  <a:tcPr marT="91425" marB="91425" marR="91425" marL="91425"/>
                </a:tc>
                <a:tc>
                  <a:txBody>
                    <a:bodyPr/>
                    <a:lstStyle/>
                    <a:p>
                      <a:pPr indent="0" lvl="0" marL="0" rtl="0" algn="l">
                        <a:spcBef>
                          <a:spcPts val="0"/>
                        </a:spcBef>
                        <a:spcAft>
                          <a:spcPts val="0"/>
                        </a:spcAft>
                        <a:buNone/>
                      </a:pPr>
                      <a:r>
                        <a:rPr lang="en-GB" sz="600"/>
                        <a:t>INPUT</a:t>
                      </a:r>
                      <a:endParaRPr sz="600"/>
                    </a:p>
                  </a:txBody>
                  <a:tcPr marT="91425" marB="91425" marR="91425" marL="91425"/>
                </a:tc>
              </a:tr>
              <a:tr h="146900">
                <a:tc>
                  <a:txBody>
                    <a:bodyPr/>
                    <a:lstStyle/>
                    <a:p>
                      <a:pPr indent="0" lvl="0" marL="0" rtl="0" algn="l">
                        <a:spcBef>
                          <a:spcPts val="0"/>
                        </a:spcBef>
                        <a:spcAft>
                          <a:spcPts val="0"/>
                        </a:spcAft>
                        <a:buNone/>
                      </a:pPr>
                      <a:r>
                        <a:rPr lang="en-GB" sz="600"/>
                        <a:t>AUX</a:t>
                      </a:r>
                      <a:endParaRPr sz="600"/>
                    </a:p>
                  </a:txBody>
                  <a:tcPr marT="91425" marB="91425" marR="91425" marL="91425"/>
                </a:tc>
                <a:tc>
                  <a:txBody>
                    <a:bodyPr/>
                    <a:lstStyle/>
                    <a:p>
                      <a:pPr indent="0" lvl="0" marL="0" rtl="0" algn="l">
                        <a:spcBef>
                          <a:spcPts val="0"/>
                        </a:spcBef>
                        <a:spcAft>
                          <a:spcPts val="0"/>
                        </a:spcAft>
                        <a:buNone/>
                      </a:pPr>
                      <a:r>
                        <a:rPr lang="en-GB" sz="600">
                          <a:solidFill>
                            <a:schemeClr val="dk1"/>
                          </a:solidFill>
                        </a:rPr>
                        <a:t>Read PWM Signal - Pin Change interrupt</a:t>
                      </a:r>
                      <a:endParaRPr sz="600">
                        <a:solidFill>
                          <a:schemeClr val="dk1"/>
                        </a:solidFill>
                      </a:endParaRPr>
                    </a:p>
                  </a:txBody>
                  <a:tcPr marT="91425" marB="91425" marR="91425" marL="91425"/>
                </a:tc>
                <a:tc>
                  <a:txBody>
                    <a:bodyPr/>
                    <a:lstStyle/>
                    <a:p>
                      <a:pPr indent="0" lvl="0" marL="0" rtl="0" algn="l">
                        <a:spcBef>
                          <a:spcPts val="0"/>
                        </a:spcBef>
                        <a:spcAft>
                          <a:spcPts val="0"/>
                        </a:spcAft>
                        <a:buNone/>
                      </a:pPr>
                      <a:r>
                        <a:rPr lang="en-GB" sz="600"/>
                        <a:t>14</a:t>
                      </a:r>
                      <a:endParaRPr sz="600"/>
                    </a:p>
                  </a:txBody>
                  <a:tcPr marT="91425" marB="91425" marR="91425" marL="91425"/>
                </a:tc>
                <a:tc>
                  <a:txBody>
                    <a:bodyPr/>
                    <a:lstStyle/>
                    <a:p>
                      <a:pPr indent="0" lvl="0" marL="0" rtl="0" algn="l">
                        <a:spcBef>
                          <a:spcPts val="0"/>
                        </a:spcBef>
                        <a:spcAft>
                          <a:spcPts val="0"/>
                        </a:spcAft>
                        <a:buNone/>
                      </a:pPr>
                      <a:r>
                        <a:rPr lang="en-GB" sz="600"/>
                        <a:t>PB2</a:t>
                      </a:r>
                      <a:endParaRPr sz="600"/>
                    </a:p>
                  </a:txBody>
                  <a:tcPr marT="91425" marB="91425" marR="91425" marL="91425"/>
                </a:tc>
                <a:tc>
                  <a:txBody>
                    <a:bodyPr/>
                    <a:lstStyle/>
                    <a:p>
                      <a:pPr indent="0" lvl="0" marL="0" rtl="0" algn="l">
                        <a:spcBef>
                          <a:spcPts val="0"/>
                        </a:spcBef>
                        <a:spcAft>
                          <a:spcPts val="0"/>
                        </a:spcAft>
                        <a:buNone/>
                      </a:pPr>
                      <a:r>
                        <a:rPr lang="en-GB" sz="600"/>
                        <a:t>PCINT2</a:t>
                      </a:r>
                      <a:endParaRPr sz="600"/>
                    </a:p>
                  </a:txBody>
                  <a:tcPr marT="91425" marB="91425" marR="91425" marL="91425"/>
                </a:tc>
                <a:tc>
                  <a:txBody>
                    <a:bodyPr/>
                    <a:lstStyle/>
                    <a:p>
                      <a:pPr indent="0" lvl="0" marL="0" rtl="0" algn="l">
                        <a:spcBef>
                          <a:spcPts val="0"/>
                        </a:spcBef>
                        <a:spcAft>
                          <a:spcPts val="0"/>
                        </a:spcAft>
                        <a:buNone/>
                      </a:pPr>
                      <a:r>
                        <a:rPr lang="en-GB" sz="600"/>
                        <a:t>10</a:t>
                      </a:r>
                      <a:endParaRPr sz="600"/>
                    </a:p>
                  </a:txBody>
                  <a:tcPr marT="91425" marB="91425" marR="91425" marL="91425"/>
                </a:tc>
                <a:tc>
                  <a:txBody>
                    <a:bodyPr/>
                    <a:lstStyle/>
                    <a:p>
                      <a:pPr indent="0" lvl="0" marL="0" rtl="0" algn="l">
                        <a:spcBef>
                          <a:spcPts val="0"/>
                        </a:spcBef>
                        <a:spcAft>
                          <a:spcPts val="0"/>
                        </a:spcAft>
                        <a:buNone/>
                      </a:pPr>
                      <a:r>
                        <a:rPr lang="en-GB" sz="600"/>
                        <a:t>INPUT</a:t>
                      </a:r>
                      <a:endParaRPr sz="600"/>
                    </a:p>
                  </a:txBody>
                  <a:tcPr marT="91425" marB="91425" marR="91425" marL="91425"/>
                </a:tc>
              </a:tr>
              <a:tr h="120150">
                <a:tc>
                  <a:txBody>
                    <a:bodyPr/>
                    <a:lstStyle/>
                    <a:p>
                      <a:pPr indent="0" lvl="0" marL="0" rtl="0" algn="l">
                        <a:spcBef>
                          <a:spcPts val="0"/>
                        </a:spcBef>
                        <a:spcAft>
                          <a:spcPts val="0"/>
                        </a:spcAft>
                        <a:buNone/>
                      </a:pPr>
                      <a:r>
                        <a:rPr lang="en-GB" sz="600"/>
                        <a:t>M1</a:t>
                      </a:r>
                      <a:endParaRPr sz="600"/>
                    </a:p>
                  </a:txBody>
                  <a:tcPr marT="91425" marB="91425" marR="91425" marL="91425"/>
                </a:tc>
                <a:tc>
                  <a:txBody>
                    <a:bodyPr/>
                    <a:lstStyle/>
                    <a:p>
                      <a:pPr indent="0" lvl="0" marL="0" rtl="0" algn="l">
                        <a:spcBef>
                          <a:spcPts val="0"/>
                        </a:spcBef>
                        <a:spcAft>
                          <a:spcPts val="0"/>
                        </a:spcAft>
                        <a:buNone/>
                      </a:pPr>
                      <a:r>
                        <a:rPr lang="en-GB" sz="600"/>
                        <a:t>Generate PWM Signal - Timer/Counter Output Compare</a:t>
                      </a:r>
                      <a:endParaRPr sz="600"/>
                    </a:p>
                  </a:txBody>
                  <a:tcPr marT="91425" marB="91425" marR="91425" marL="91425"/>
                </a:tc>
                <a:tc>
                  <a:txBody>
                    <a:bodyPr/>
                    <a:lstStyle/>
                    <a:p>
                      <a:pPr indent="0" lvl="0" marL="0" rtl="0" algn="l">
                        <a:spcBef>
                          <a:spcPts val="0"/>
                        </a:spcBef>
                        <a:spcAft>
                          <a:spcPts val="0"/>
                        </a:spcAft>
                        <a:buNone/>
                      </a:pPr>
                      <a:r>
                        <a:rPr lang="en-GB" sz="600"/>
                        <a:t>10</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rPr lang="en-GB" sz="600"/>
                        <a:t>3</a:t>
                      </a:r>
                      <a:endParaRPr sz="600"/>
                    </a:p>
                  </a:txBody>
                  <a:tcPr marT="91425" marB="91425" marR="91425" marL="91425"/>
                </a:tc>
                <a:tc>
                  <a:txBody>
                    <a:bodyPr/>
                    <a:lstStyle/>
                    <a:p>
                      <a:pPr indent="0" lvl="0" marL="0" rtl="0" algn="l">
                        <a:spcBef>
                          <a:spcPts val="0"/>
                        </a:spcBef>
                        <a:spcAft>
                          <a:spcPts val="0"/>
                        </a:spcAft>
                        <a:buNone/>
                      </a:pPr>
                      <a:r>
                        <a:rPr lang="en-GB" sz="600"/>
                        <a:t>OUTPUT</a:t>
                      </a:r>
                      <a:endParaRPr sz="600"/>
                    </a:p>
                  </a:txBody>
                  <a:tcPr marT="91425" marB="91425" marR="91425" marL="91425"/>
                </a:tc>
              </a:tr>
              <a:tr h="120125">
                <a:tc>
                  <a:txBody>
                    <a:bodyPr/>
                    <a:lstStyle/>
                    <a:p>
                      <a:pPr indent="0" lvl="0" marL="0" rtl="0" algn="l">
                        <a:spcBef>
                          <a:spcPts val="0"/>
                        </a:spcBef>
                        <a:spcAft>
                          <a:spcPts val="0"/>
                        </a:spcAft>
                        <a:buNone/>
                      </a:pPr>
                      <a:r>
                        <a:rPr lang="en-GB" sz="600"/>
                        <a:t>M2</a:t>
                      </a:r>
                      <a:endParaRPr sz="6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600">
                          <a:solidFill>
                            <a:schemeClr val="dk1"/>
                          </a:solidFill>
                        </a:rPr>
                        <a:t>Generate PWM Signal - Timer/Counter Output Compare</a:t>
                      </a:r>
                      <a:endParaRPr sz="600"/>
                    </a:p>
                  </a:txBody>
                  <a:tcPr marT="91425" marB="91425" marR="91425" marL="91425"/>
                </a:tc>
                <a:tc>
                  <a:txBody>
                    <a:bodyPr/>
                    <a:lstStyle/>
                    <a:p>
                      <a:pPr indent="0" lvl="0" marL="0" rtl="0" algn="l">
                        <a:spcBef>
                          <a:spcPts val="0"/>
                        </a:spcBef>
                        <a:spcAft>
                          <a:spcPts val="0"/>
                        </a:spcAft>
                        <a:buNone/>
                      </a:pPr>
                      <a:r>
                        <a:rPr lang="en-GB" sz="600"/>
                        <a:t>9</a:t>
                      </a:r>
                      <a:endParaRPr sz="600"/>
                    </a:p>
                  </a:txBody>
                  <a:tcPr marT="91425" marB="91425" marR="91425" marL="91425"/>
                </a:tc>
                <a:tc>
                  <a:txBody>
                    <a:bodyPr/>
                    <a:lstStyle/>
                    <a:p>
                      <a:pPr indent="0" lvl="0" marL="0" rtl="0" algn="l">
                        <a:spcBef>
                          <a:spcPts val="0"/>
                        </a:spcBef>
                        <a:spcAft>
                          <a:spcPts val="0"/>
                        </a:spcAft>
                        <a:buNone/>
                      </a:pPr>
                      <a:r>
                        <a:rPr lang="en-GB" sz="600"/>
                        <a:t>PD5</a:t>
                      </a:r>
                      <a:endParaRPr sz="600"/>
                    </a:p>
                  </a:txBody>
                  <a:tcPr marT="91425" marB="91425" marR="91425" marL="91425"/>
                </a:tc>
                <a:tc>
                  <a:txBody>
                    <a:bodyPr/>
                    <a:lstStyle/>
                    <a:p>
                      <a:pPr indent="0" lvl="0" marL="0" rtl="0" algn="l">
                        <a:spcBef>
                          <a:spcPts val="0"/>
                        </a:spcBef>
                        <a:spcAft>
                          <a:spcPts val="0"/>
                        </a:spcAft>
                        <a:buNone/>
                      </a:pPr>
                      <a:r>
                        <a:rPr lang="en-GB" sz="600"/>
                        <a:t>OC0B</a:t>
                      </a:r>
                      <a:endParaRPr sz="600"/>
                    </a:p>
                  </a:txBody>
                  <a:tcPr marT="91425" marB="91425" marR="91425" marL="91425"/>
                </a:tc>
                <a:tc>
                  <a:txBody>
                    <a:bodyPr/>
                    <a:lstStyle/>
                    <a:p>
                      <a:pPr indent="0" lvl="0" marL="0" rtl="0" algn="l">
                        <a:spcBef>
                          <a:spcPts val="0"/>
                        </a:spcBef>
                        <a:spcAft>
                          <a:spcPts val="0"/>
                        </a:spcAft>
                        <a:buNone/>
                      </a:pPr>
                      <a:r>
                        <a:rPr lang="en-GB" sz="600"/>
                        <a:t>5</a:t>
                      </a:r>
                      <a:endParaRPr sz="600"/>
                    </a:p>
                  </a:txBody>
                  <a:tcPr marT="91425" marB="91425" marR="91425" marL="91425"/>
                </a:tc>
                <a:tc>
                  <a:txBody>
                    <a:bodyPr/>
                    <a:lstStyle/>
                    <a:p>
                      <a:pPr indent="0" lvl="0" marL="0" rtl="0" algn="l">
                        <a:spcBef>
                          <a:spcPts val="0"/>
                        </a:spcBef>
                        <a:spcAft>
                          <a:spcPts val="0"/>
                        </a:spcAft>
                        <a:buNone/>
                      </a:pPr>
                      <a:r>
                        <a:rPr lang="en-GB" sz="600"/>
                        <a:t>OUTPUT</a:t>
                      </a:r>
                      <a:endParaRPr sz="600"/>
                    </a:p>
                  </a:txBody>
                  <a:tcPr marT="91425" marB="91425" marR="91425" marL="91425"/>
                </a:tc>
              </a:tr>
              <a:tr h="100000">
                <a:tc>
                  <a:txBody>
                    <a:bodyPr/>
                    <a:lstStyle/>
                    <a:p>
                      <a:pPr indent="0" lvl="0" marL="0" rtl="0" algn="l">
                        <a:spcBef>
                          <a:spcPts val="0"/>
                        </a:spcBef>
                        <a:spcAft>
                          <a:spcPts val="0"/>
                        </a:spcAft>
                        <a:buNone/>
                      </a:pPr>
                      <a:r>
                        <a:rPr lang="en-GB" sz="600"/>
                        <a:t>M3</a:t>
                      </a:r>
                      <a:endParaRPr sz="6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600">
                          <a:solidFill>
                            <a:schemeClr val="dk1"/>
                          </a:solidFill>
                        </a:rPr>
                        <a:t>Generate PWM Signal - Timer/Counter Output Compare</a:t>
                      </a:r>
                      <a:endParaRPr sz="600"/>
                    </a:p>
                  </a:txBody>
                  <a:tcPr marT="91425" marB="91425" marR="91425" marL="91425"/>
                </a:tc>
                <a:tc>
                  <a:txBody>
                    <a:bodyPr/>
                    <a:lstStyle/>
                    <a:p>
                      <a:pPr indent="0" lvl="0" marL="0" rtl="0" algn="l">
                        <a:spcBef>
                          <a:spcPts val="0"/>
                        </a:spcBef>
                        <a:spcAft>
                          <a:spcPts val="0"/>
                        </a:spcAft>
                        <a:buNone/>
                      </a:pPr>
                      <a:r>
                        <a:rPr lang="en-GB" sz="600"/>
                        <a:t>15</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rPr lang="en-GB" sz="600"/>
                        <a:t>6</a:t>
                      </a:r>
                      <a:endParaRPr sz="600"/>
                    </a:p>
                  </a:txBody>
                  <a:tcPr marT="91425" marB="91425" marR="91425" marL="91425"/>
                </a:tc>
                <a:tc>
                  <a:txBody>
                    <a:bodyPr/>
                    <a:lstStyle/>
                    <a:p>
                      <a:pPr indent="0" lvl="0" marL="0" rtl="0" algn="l">
                        <a:spcBef>
                          <a:spcPts val="0"/>
                        </a:spcBef>
                        <a:spcAft>
                          <a:spcPts val="0"/>
                        </a:spcAft>
                        <a:buNone/>
                      </a:pPr>
                      <a:r>
                        <a:rPr lang="en-GB" sz="600"/>
                        <a:t>OUTPUT</a:t>
                      </a:r>
                      <a:endParaRPr sz="600"/>
                    </a:p>
                  </a:txBody>
                  <a:tcPr marT="91425" marB="91425" marR="91425" marL="91425"/>
                </a:tc>
              </a:tr>
              <a:tr h="126825">
                <a:tc>
                  <a:txBody>
                    <a:bodyPr/>
                    <a:lstStyle/>
                    <a:p>
                      <a:pPr indent="0" lvl="0" marL="0" rtl="0" algn="l">
                        <a:spcBef>
                          <a:spcPts val="0"/>
                        </a:spcBef>
                        <a:spcAft>
                          <a:spcPts val="0"/>
                        </a:spcAft>
                        <a:buNone/>
                      </a:pPr>
                      <a:r>
                        <a:rPr lang="en-GB" sz="600"/>
                        <a:t>M4</a:t>
                      </a:r>
                      <a:endParaRPr sz="6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600">
                          <a:solidFill>
                            <a:schemeClr val="dk1"/>
                          </a:solidFill>
                        </a:rPr>
                        <a:t>Generate PWM Signal - Timer/Counter Output Compare</a:t>
                      </a:r>
                      <a:endParaRPr sz="600"/>
                    </a:p>
                  </a:txBody>
                  <a:tcPr marT="91425" marB="91425" marR="91425" marL="91425"/>
                </a:tc>
                <a:tc>
                  <a:txBody>
                    <a:bodyPr/>
                    <a:lstStyle/>
                    <a:p>
                      <a:pPr indent="0" lvl="0" marL="0" rtl="0" algn="l">
                        <a:spcBef>
                          <a:spcPts val="0"/>
                        </a:spcBef>
                        <a:spcAft>
                          <a:spcPts val="0"/>
                        </a:spcAft>
                        <a:buNone/>
                      </a:pPr>
                      <a:r>
                        <a:rPr lang="en-GB" sz="600"/>
                        <a:t>1</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rPr lang="en-GB" sz="600"/>
                        <a:t>11</a:t>
                      </a:r>
                      <a:endParaRPr sz="600"/>
                    </a:p>
                  </a:txBody>
                  <a:tcPr marT="91425" marB="91425" marR="91425" marL="91425"/>
                </a:tc>
                <a:tc>
                  <a:txBody>
                    <a:bodyPr/>
                    <a:lstStyle/>
                    <a:p>
                      <a:pPr indent="0" lvl="0" marL="0" rtl="0" algn="l">
                        <a:spcBef>
                          <a:spcPts val="0"/>
                        </a:spcBef>
                        <a:spcAft>
                          <a:spcPts val="0"/>
                        </a:spcAft>
                        <a:buNone/>
                      </a:pPr>
                      <a:r>
                        <a:rPr lang="en-GB" sz="600"/>
                        <a:t>OUTPUT</a:t>
                      </a:r>
                      <a:endParaRPr sz="600"/>
                    </a:p>
                  </a:txBody>
                  <a:tcPr marT="91425" marB="91425" marR="91425" marL="91425"/>
                </a:tc>
              </a:tr>
              <a:tr h="113475">
                <a:tc>
                  <a:txBody>
                    <a:bodyPr/>
                    <a:lstStyle/>
                    <a:p>
                      <a:pPr indent="0" lvl="0" marL="0" rtl="0" algn="l">
                        <a:spcBef>
                          <a:spcPts val="0"/>
                        </a:spcBef>
                        <a:spcAft>
                          <a:spcPts val="0"/>
                        </a:spcAft>
                        <a:buNone/>
                      </a:pPr>
                      <a:r>
                        <a:rPr lang="en-GB" sz="600"/>
                        <a:t>TXD</a:t>
                      </a:r>
                      <a:endParaRPr sz="600"/>
                    </a:p>
                  </a:txBody>
                  <a:tcPr marT="91425" marB="91425" marR="91425" marL="91425"/>
                </a:tc>
                <a:tc>
                  <a:txBody>
                    <a:bodyPr/>
                    <a:lstStyle/>
                    <a:p>
                      <a:pPr indent="0" lvl="0" marL="0" rtl="0" algn="l">
                        <a:spcBef>
                          <a:spcPts val="0"/>
                        </a:spcBef>
                        <a:spcAft>
                          <a:spcPts val="0"/>
                        </a:spcAft>
                        <a:buNone/>
                      </a:pPr>
                      <a:r>
                        <a:rPr lang="en-GB" sz="600">
                          <a:solidFill>
                            <a:schemeClr val="dk1"/>
                          </a:solidFill>
                        </a:rPr>
                        <a:t>Serial comms</a:t>
                      </a:r>
                      <a:endParaRPr sz="600">
                        <a:solidFill>
                          <a:schemeClr val="dk1"/>
                        </a:solidFill>
                      </a:endParaRPr>
                    </a:p>
                  </a:txBody>
                  <a:tcPr marT="91425" marB="91425" marR="91425" marL="91425"/>
                </a:tc>
                <a:tc>
                  <a:txBody>
                    <a:bodyPr/>
                    <a:lstStyle/>
                    <a:p>
                      <a:pPr indent="0" lvl="0" marL="0" rtl="0" algn="l">
                        <a:spcBef>
                          <a:spcPts val="0"/>
                        </a:spcBef>
                        <a:spcAft>
                          <a:spcPts val="0"/>
                        </a:spcAft>
                        <a:buNone/>
                      </a:pPr>
                      <a:r>
                        <a:rPr lang="en-GB" sz="600"/>
                        <a:t>31</a:t>
                      </a:r>
                      <a:endParaRPr sz="600"/>
                    </a:p>
                  </a:txBody>
                  <a:tcPr marT="91425" marB="91425" marR="91425" marL="91425"/>
                </a:tc>
                <a:tc>
                  <a:txBody>
                    <a:bodyPr/>
                    <a:lstStyle/>
                    <a:p>
                      <a:pPr indent="0" lvl="0" marL="0" rtl="0" algn="l">
                        <a:spcBef>
                          <a:spcPts val="0"/>
                        </a:spcBef>
                        <a:spcAft>
                          <a:spcPts val="0"/>
                        </a:spcAft>
                        <a:buNone/>
                      </a:pPr>
                      <a:r>
                        <a:rPr lang="en-GB" sz="600"/>
                        <a:t>PD1</a:t>
                      </a:r>
                      <a:endParaRPr sz="600"/>
                    </a:p>
                  </a:txBody>
                  <a:tcPr marT="91425" marB="91425" marR="91425" marL="91425"/>
                </a:tc>
                <a:tc>
                  <a:txBody>
                    <a:bodyPr/>
                    <a:lstStyle/>
                    <a:p>
                      <a:pPr indent="0" lvl="0" marL="0" rtl="0" algn="l">
                        <a:spcBef>
                          <a:spcPts val="0"/>
                        </a:spcBef>
                        <a:spcAft>
                          <a:spcPts val="0"/>
                        </a:spcAft>
                        <a:buNone/>
                      </a:pPr>
                      <a:r>
                        <a:rPr lang="en-GB" sz="600"/>
                        <a:t>TXD</a:t>
                      </a:r>
                      <a:endParaRPr sz="600"/>
                    </a:p>
                  </a:txBody>
                  <a:tcPr marT="91425" marB="91425" marR="91425" marL="91425"/>
                </a:tc>
                <a:tc>
                  <a:txBody>
                    <a:bodyPr/>
                    <a:lstStyle/>
                    <a:p>
                      <a:pPr indent="0" lvl="0" marL="0" rtl="0" algn="l">
                        <a:spcBef>
                          <a:spcPts val="0"/>
                        </a:spcBef>
                        <a:spcAft>
                          <a:spcPts val="0"/>
                        </a:spcAft>
                        <a:buNone/>
                      </a:pPr>
                      <a:r>
                        <a:rPr lang="en-GB" sz="600"/>
                        <a:t>TX</a:t>
                      </a:r>
                      <a:endParaRPr sz="600"/>
                    </a:p>
                  </a:txBody>
                  <a:tcPr marT="91425" marB="91425" marR="91425" marL="91425"/>
                </a:tc>
                <a:tc>
                  <a:txBody>
                    <a:bodyPr/>
                    <a:lstStyle/>
                    <a:p>
                      <a:pPr indent="0" lvl="0" marL="0" rtl="0" algn="l">
                        <a:spcBef>
                          <a:spcPts val="0"/>
                        </a:spcBef>
                        <a:spcAft>
                          <a:spcPts val="0"/>
                        </a:spcAft>
                        <a:buNone/>
                      </a:pPr>
                      <a:r>
                        <a:rPr lang="en-GB" sz="600"/>
                        <a:t>X</a:t>
                      </a:r>
                      <a:endParaRPr sz="600"/>
                    </a:p>
                  </a:txBody>
                  <a:tcPr marT="91425" marB="91425" marR="91425" marL="91425"/>
                </a:tc>
              </a:tr>
              <a:tr h="100000">
                <a:tc>
                  <a:txBody>
                    <a:bodyPr/>
                    <a:lstStyle/>
                    <a:p>
                      <a:pPr indent="0" lvl="0" marL="0" rtl="0" algn="l">
                        <a:spcBef>
                          <a:spcPts val="0"/>
                        </a:spcBef>
                        <a:spcAft>
                          <a:spcPts val="0"/>
                        </a:spcAft>
                        <a:buNone/>
                      </a:pPr>
                      <a:r>
                        <a:rPr lang="en-GB" sz="600"/>
                        <a:t>RXD</a:t>
                      </a:r>
                      <a:endParaRPr sz="600"/>
                    </a:p>
                  </a:txBody>
                  <a:tcPr marT="91425" marB="91425" marR="91425" marL="91425"/>
                </a:tc>
                <a:tc>
                  <a:txBody>
                    <a:bodyPr/>
                    <a:lstStyle/>
                    <a:p>
                      <a:pPr indent="0" lvl="0" marL="0" rtl="0" algn="l">
                        <a:spcBef>
                          <a:spcPts val="0"/>
                        </a:spcBef>
                        <a:spcAft>
                          <a:spcPts val="0"/>
                        </a:spcAft>
                        <a:buNone/>
                      </a:pPr>
                      <a:r>
                        <a:rPr lang="en-GB" sz="600">
                          <a:solidFill>
                            <a:schemeClr val="dk1"/>
                          </a:solidFill>
                        </a:rPr>
                        <a:t>Serial Comms</a:t>
                      </a:r>
                      <a:endParaRPr sz="600">
                        <a:solidFill>
                          <a:schemeClr val="dk1"/>
                        </a:solidFill>
                      </a:endParaRPr>
                    </a:p>
                  </a:txBody>
                  <a:tcPr marT="91425" marB="91425" marR="91425" marL="91425"/>
                </a:tc>
                <a:tc>
                  <a:txBody>
                    <a:bodyPr/>
                    <a:lstStyle/>
                    <a:p>
                      <a:pPr indent="0" lvl="0" marL="0" rtl="0" algn="l">
                        <a:spcBef>
                          <a:spcPts val="0"/>
                        </a:spcBef>
                        <a:spcAft>
                          <a:spcPts val="0"/>
                        </a:spcAft>
                        <a:buNone/>
                      </a:pPr>
                      <a:r>
                        <a:rPr lang="en-GB" sz="600"/>
                        <a:t>30</a:t>
                      </a:r>
                      <a:endParaRPr sz="600"/>
                    </a:p>
                  </a:txBody>
                  <a:tcPr marT="91425" marB="91425" marR="91425" marL="91425"/>
                </a:tc>
                <a:tc>
                  <a:txBody>
                    <a:bodyPr/>
                    <a:lstStyle/>
                    <a:p>
                      <a:pPr indent="0" lvl="0" marL="0" rtl="0" algn="l">
                        <a:spcBef>
                          <a:spcPts val="0"/>
                        </a:spcBef>
                        <a:spcAft>
                          <a:spcPts val="0"/>
                        </a:spcAft>
                        <a:buNone/>
                      </a:pPr>
                      <a:r>
                        <a:rPr lang="en-GB" sz="600"/>
                        <a:t>PD0</a:t>
                      </a:r>
                      <a:endParaRPr sz="600"/>
                    </a:p>
                  </a:txBody>
                  <a:tcPr marT="91425" marB="91425" marR="91425" marL="91425"/>
                </a:tc>
                <a:tc>
                  <a:txBody>
                    <a:bodyPr/>
                    <a:lstStyle/>
                    <a:p>
                      <a:pPr indent="0" lvl="0" marL="0" rtl="0" algn="l">
                        <a:spcBef>
                          <a:spcPts val="0"/>
                        </a:spcBef>
                        <a:spcAft>
                          <a:spcPts val="0"/>
                        </a:spcAft>
                        <a:buNone/>
                      </a:pPr>
                      <a:r>
                        <a:rPr lang="en-GB" sz="600"/>
                        <a:t>RXD</a:t>
                      </a:r>
                      <a:endParaRPr sz="600"/>
                    </a:p>
                  </a:txBody>
                  <a:tcPr marT="91425" marB="91425" marR="91425" marL="91425"/>
                </a:tc>
                <a:tc>
                  <a:txBody>
                    <a:bodyPr/>
                    <a:lstStyle/>
                    <a:p>
                      <a:pPr indent="0" lvl="0" marL="0" rtl="0" algn="l">
                        <a:spcBef>
                          <a:spcPts val="0"/>
                        </a:spcBef>
                        <a:spcAft>
                          <a:spcPts val="0"/>
                        </a:spcAft>
                        <a:buNone/>
                      </a:pPr>
                      <a:r>
                        <a:rPr lang="en-GB" sz="600"/>
                        <a:t>RX</a:t>
                      </a:r>
                      <a:endParaRPr sz="600"/>
                    </a:p>
                  </a:txBody>
                  <a:tcPr marT="91425" marB="91425" marR="91425" marL="91425"/>
                </a:tc>
                <a:tc>
                  <a:txBody>
                    <a:bodyPr/>
                    <a:lstStyle/>
                    <a:p>
                      <a:pPr indent="0" lvl="0" marL="0" rtl="0" algn="l">
                        <a:spcBef>
                          <a:spcPts val="0"/>
                        </a:spcBef>
                        <a:spcAft>
                          <a:spcPts val="0"/>
                        </a:spcAft>
                        <a:buNone/>
                      </a:pPr>
                      <a:r>
                        <a:rPr lang="en-GB" sz="600"/>
                        <a:t>X</a:t>
                      </a:r>
                      <a:endParaRPr sz="600"/>
                    </a:p>
                  </a:txBody>
                  <a:tcPr marT="91425" marB="91425" marR="91425" marL="91425"/>
                </a:tc>
              </a:tr>
              <a:tr h="162100">
                <a:tc>
                  <a:txBody>
                    <a:bodyPr/>
                    <a:lstStyle/>
                    <a:p>
                      <a:pPr indent="0" lvl="0" marL="0" rtl="0" algn="l">
                        <a:spcBef>
                          <a:spcPts val="0"/>
                        </a:spcBef>
                        <a:spcAft>
                          <a:spcPts val="0"/>
                        </a:spcAft>
                        <a:buNone/>
                      </a:pPr>
                      <a:r>
                        <a:rPr lang="en-GB" sz="600"/>
                        <a:t>LED</a:t>
                      </a:r>
                      <a:endParaRPr sz="600"/>
                    </a:p>
                  </a:txBody>
                  <a:tcPr marT="91425" marB="91425" marR="91425" marL="91425"/>
                </a:tc>
                <a:tc>
                  <a:txBody>
                    <a:bodyPr/>
                    <a:lstStyle/>
                    <a:p>
                      <a:pPr indent="0" lvl="0" marL="0" rtl="0" algn="l">
                        <a:spcBef>
                          <a:spcPts val="0"/>
                        </a:spcBef>
                        <a:spcAft>
                          <a:spcPts val="0"/>
                        </a:spcAft>
                        <a:buNone/>
                      </a:pPr>
                      <a:r>
                        <a:rPr lang="en-GB" sz="600">
                          <a:solidFill>
                            <a:schemeClr val="dk1"/>
                          </a:solidFill>
                        </a:rPr>
                        <a:t>LED Pin</a:t>
                      </a:r>
                      <a:endParaRPr sz="600">
                        <a:solidFill>
                          <a:schemeClr val="dk1"/>
                        </a:solidFill>
                      </a:endParaRPr>
                    </a:p>
                  </a:txBody>
                  <a:tcPr marT="91425" marB="91425" marR="91425" marL="91425"/>
                </a:tc>
                <a:tc>
                  <a:txBody>
                    <a:bodyPr/>
                    <a:lstStyle/>
                    <a:p>
                      <a:pPr indent="0" lvl="0" marL="0" rtl="0" algn="l">
                        <a:spcBef>
                          <a:spcPts val="0"/>
                        </a:spcBef>
                        <a:spcAft>
                          <a:spcPts val="0"/>
                        </a:spcAft>
                        <a:buNone/>
                      </a:pPr>
                      <a:r>
                        <a:rPr lang="en-GB" sz="600"/>
                        <a:t>17</a:t>
                      </a:r>
                      <a:endParaRPr sz="600"/>
                    </a:p>
                  </a:txBody>
                  <a:tcPr marT="91425" marB="91425" marR="91425" marL="91425"/>
                </a:tc>
                <a:tc>
                  <a:txBody>
                    <a:bodyPr/>
                    <a:lstStyle/>
                    <a:p>
                      <a:pPr indent="0" lvl="0" marL="0" rtl="0" algn="l">
                        <a:spcBef>
                          <a:spcPts val="0"/>
                        </a:spcBef>
                        <a:spcAft>
                          <a:spcPts val="0"/>
                        </a:spcAft>
                        <a:buNone/>
                      </a:pPr>
                      <a:r>
                        <a:rPr lang="en-GB" sz="600"/>
                        <a:t>PB5</a:t>
                      </a:r>
                      <a:endParaRPr sz="600"/>
                    </a:p>
                  </a:txBody>
                  <a:tcPr marT="91425" marB="91425" marR="91425" marL="91425"/>
                </a:tc>
                <a:tc>
                  <a:txBody>
                    <a:bodyPr/>
                    <a:lstStyle/>
                    <a:p>
                      <a:pPr indent="0" lvl="0" marL="0" rtl="0" algn="l">
                        <a:spcBef>
                          <a:spcPts val="0"/>
                        </a:spcBef>
                        <a:spcAft>
                          <a:spcPts val="0"/>
                        </a:spcAft>
                        <a:buNone/>
                      </a:pPr>
                      <a:r>
                        <a:rPr lang="en-GB" sz="600"/>
                        <a:t>LED</a:t>
                      </a:r>
                      <a:endParaRPr sz="600"/>
                    </a:p>
                  </a:txBody>
                  <a:tcPr marT="91425" marB="91425" marR="91425" marL="91425"/>
                </a:tc>
                <a:tc>
                  <a:txBody>
                    <a:bodyPr/>
                    <a:lstStyle/>
                    <a:p>
                      <a:pPr indent="0" lvl="0" marL="0" rtl="0" algn="l">
                        <a:spcBef>
                          <a:spcPts val="0"/>
                        </a:spcBef>
                        <a:spcAft>
                          <a:spcPts val="0"/>
                        </a:spcAft>
                        <a:buNone/>
                      </a:pPr>
                      <a:r>
                        <a:rPr lang="en-GB" sz="600"/>
                        <a:t>13</a:t>
                      </a:r>
                      <a:endParaRPr sz="600"/>
                    </a:p>
                  </a:txBody>
                  <a:tcPr marT="91425" marB="91425" marR="91425" marL="91425"/>
                </a:tc>
                <a:tc>
                  <a:txBody>
                    <a:bodyPr/>
                    <a:lstStyle/>
                    <a:p>
                      <a:pPr indent="0" lvl="0" marL="0" rtl="0" algn="l">
                        <a:spcBef>
                          <a:spcPts val="0"/>
                        </a:spcBef>
                        <a:spcAft>
                          <a:spcPts val="0"/>
                        </a:spcAft>
                        <a:buNone/>
                      </a:pPr>
                      <a:r>
                        <a:rPr lang="en-GB" sz="600"/>
                        <a:t>OUTPUT</a:t>
                      </a:r>
                      <a:endParaRPr sz="600"/>
                    </a:p>
                  </a:txBody>
                  <a:tcPr marT="91425" marB="91425" marR="91425" marL="91425"/>
                </a:tc>
              </a:tr>
              <a:tr h="100000">
                <a:tc>
                  <a:txBody>
                    <a:bodyPr/>
                    <a:lstStyle/>
                    <a:p>
                      <a:pPr indent="0" lvl="0" marL="0" rtl="0" algn="l">
                        <a:spcBef>
                          <a:spcPts val="0"/>
                        </a:spcBef>
                        <a:spcAft>
                          <a:spcPts val="0"/>
                        </a:spcAft>
                        <a:buNone/>
                      </a:pPr>
                      <a:r>
                        <a:rPr lang="en-GB" sz="600"/>
                        <a:t>GPIO1</a:t>
                      </a:r>
                      <a:endParaRPr sz="600"/>
                    </a:p>
                  </a:txBody>
                  <a:tcPr marT="91425" marB="91425" marR="91425" marL="91425"/>
                </a:tc>
                <a:tc>
                  <a:txBody>
                    <a:bodyPr/>
                    <a:lstStyle/>
                    <a:p>
                      <a:pPr indent="0" lvl="0" marL="0" rtl="0" algn="l">
                        <a:spcBef>
                          <a:spcPts val="0"/>
                        </a:spcBef>
                        <a:spcAft>
                          <a:spcPts val="0"/>
                        </a:spcAft>
                        <a:buNone/>
                      </a:pPr>
                      <a:r>
                        <a:rPr lang="en-GB" sz="600">
                          <a:solidFill>
                            <a:schemeClr val="dk1"/>
                          </a:solidFill>
                        </a:rPr>
                        <a:t>General IO - LEDs etc</a:t>
                      </a:r>
                      <a:endParaRPr sz="600">
                        <a:solidFill>
                          <a:schemeClr val="dk1"/>
                        </a:solidFill>
                      </a:endParaRPr>
                    </a:p>
                  </a:txBody>
                  <a:tcPr marT="91425" marB="91425" marR="91425" marL="91425"/>
                </a:tc>
                <a:tc>
                  <a:txBody>
                    <a:bodyPr/>
                    <a:lstStyle/>
                    <a:p>
                      <a:pPr indent="0" lvl="0" marL="0" rtl="0" algn="l">
                        <a:spcBef>
                          <a:spcPts val="0"/>
                        </a:spcBef>
                        <a:spcAft>
                          <a:spcPts val="0"/>
                        </a:spcAft>
                        <a:buNone/>
                      </a:pPr>
                      <a:r>
                        <a:rPr lang="en-GB" sz="600"/>
                        <a:t>24</a:t>
                      </a:r>
                      <a:endParaRPr sz="600"/>
                    </a:p>
                  </a:txBody>
                  <a:tcPr marT="91425" marB="91425" marR="91425" marL="91425"/>
                </a:tc>
                <a:tc>
                  <a:txBody>
                    <a:bodyPr/>
                    <a:lstStyle/>
                    <a:p>
                      <a:pPr indent="0" lvl="0" marL="0" rtl="0" algn="l">
                        <a:spcBef>
                          <a:spcPts val="0"/>
                        </a:spcBef>
                        <a:spcAft>
                          <a:spcPts val="0"/>
                        </a:spcAft>
                        <a:buNone/>
                      </a:pPr>
                      <a:r>
                        <a:rPr lang="en-GB" sz="600"/>
                        <a:t>PC1</a:t>
                      </a:r>
                      <a:endParaRPr sz="600"/>
                    </a:p>
                  </a:txBody>
                  <a:tcPr marT="91425" marB="91425" marR="91425" marL="91425"/>
                </a:tc>
                <a:tc>
                  <a:txBody>
                    <a:bodyPr/>
                    <a:lstStyle/>
                    <a:p>
                      <a:pPr indent="0" lvl="0" marL="0" rtl="0" algn="l">
                        <a:spcBef>
                          <a:spcPts val="0"/>
                        </a:spcBef>
                        <a:spcAft>
                          <a:spcPts val="0"/>
                        </a:spcAft>
                        <a:buNone/>
                      </a:pPr>
                      <a:r>
                        <a:rPr lang="en-GB" sz="600"/>
                        <a:t>A1</a:t>
                      </a:r>
                      <a:endParaRPr sz="600"/>
                    </a:p>
                  </a:txBody>
                  <a:tcPr marT="91425" marB="91425" marR="91425" marL="91425"/>
                </a:tc>
                <a:tc>
                  <a:txBody>
                    <a:bodyPr/>
                    <a:lstStyle/>
                    <a:p>
                      <a:pPr indent="0" lvl="0" marL="0" rtl="0" algn="l">
                        <a:spcBef>
                          <a:spcPts val="0"/>
                        </a:spcBef>
                        <a:spcAft>
                          <a:spcPts val="0"/>
                        </a:spcAft>
                        <a:buNone/>
                      </a:pPr>
                      <a:r>
                        <a:rPr lang="en-GB" sz="600"/>
                        <a:t>A1</a:t>
                      </a:r>
                      <a:endParaRPr sz="600"/>
                    </a:p>
                  </a:txBody>
                  <a:tcPr marT="91425" marB="91425" marR="91425" marL="91425"/>
                </a:tc>
                <a:tc>
                  <a:txBody>
                    <a:bodyPr/>
                    <a:lstStyle/>
                    <a:p>
                      <a:pPr indent="0" lvl="0" marL="0" rtl="0" algn="l">
                        <a:spcBef>
                          <a:spcPts val="0"/>
                        </a:spcBef>
                        <a:spcAft>
                          <a:spcPts val="0"/>
                        </a:spcAft>
                        <a:buNone/>
                      </a:pPr>
                      <a:r>
                        <a:rPr lang="en-GB" sz="600"/>
                        <a:t>OUTPUT</a:t>
                      </a:r>
                      <a:endParaRPr sz="600"/>
                    </a:p>
                  </a:txBody>
                  <a:tcPr marT="91425" marB="91425" marR="91425" marL="91425"/>
                </a:tc>
              </a:tr>
              <a:tr h="100000">
                <a:tc>
                  <a:txBody>
                    <a:bodyPr/>
                    <a:lstStyle/>
                    <a:p>
                      <a:pPr indent="0" lvl="0" marL="0" rtl="0" algn="l">
                        <a:spcBef>
                          <a:spcPts val="0"/>
                        </a:spcBef>
                        <a:spcAft>
                          <a:spcPts val="0"/>
                        </a:spcAft>
                        <a:buNone/>
                      </a:pPr>
                      <a:r>
                        <a:rPr lang="en-GB" sz="600"/>
                        <a:t>GPIO2</a:t>
                      </a:r>
                      <a:endParaRPr sz="6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600">
                          <a:solidFill>
                            <a:schemeClr val="dk1"/>
                          </a:solidFill>
                        </a:rPr>
                        <a:t>General IO - LEDs etc</a:t>
                      </a:r>
                      <a:endParaRPr sz="600">
                        <a:solidFill>
                          <a:schemeClr val="dk1"/>
                        </a:solidFill>
                      </a:endParaRPr>
                    </a:p>
                  </a:txBody>
                  <a:tcPr marT="91425" marB="91425" marR="91425" marL="91425"/>
                </a:tc>
                <a:tc>
                  <a:txBody>
                    <a:bodyPr/>
                    <a:lstStyle/>
                    <a:p>
                      <a:pPr indent="0" lvl="0" marL="0" rtl="0" algn="l">
                        <a:spcBef>
                          <a:spcPts val="0"/>
                        </a:spcBef>
                        <a:spcAft>
                          <a:spcPts val="0"/>
                        </a:spcAft>
                        <a:buNone/>
                      </a:pPr>
                      <a:r>
                        <a:rPr lang="en-GB" sz="600"/>
                        <a:t>25</a:t>
                      </a:r>
                      <a:endParaRPr sz="600"/>
                    </a:p>
                  </a:txBody>
                  <a:tcPr marT="91425" marB="91425" marR="91425" marL="91425"/>
                </a:tc>
                <a:tc>
                  <a:txBody>
                    <a:bodyPr/>
                    <a:lstStyle/>
                    <a:p>
                      <a:pPr indent="0" lvl="0" marL="0" rtl="0" algn="l">
                        <a:spcBef>
                          <a:spcPts val="0"/>
                        </a:spcBef>
                        <a:spcAft>
                          <a:spcPts val="0"/>
                        </a:spcAft>
                        <a:buNone/>
                      </a:pPr>
                      <a:r>
                        <a:rPr lang="en-GB" sz="600"/>
                        <a:t>PC2</a:t>
                      </a:r>
                      <a:endParaRPr sz="600"/>
                    </a:p>
                  </a:txBody>
                  <a:tcPr marT="91425" marB="91425" marR="91425" marL="91425"/>
                </a:tc>
                <a:tc>
                  <a:txBody>
                    <a:bodyPr/>
                    <a:lstStyle/>
                    <a:p>
                      <a:pPr indent="0" lvl="0" marL="0" rtl="0" algn="l">
                        <a:spcBef>
                          <a:spcPts val="0"/>
                        </a:spcBef>
                        <a:spcAft>
                          <a:spcPts val="0"/>
                        </a:spcAft>
                        <a:buNone/>
                      </a:pPr>
                      <a:r>
                        <a:rPr lang="en-GB" sz="600"/>
                        <a:t>A2</a:t>
                      </a:r>
                      <a:endParaRPr sz="600"/>
                    </a:p>
                  </a:txBody>
                  <a:tcPr marT="91425" marB="91425" marR="91425" marL="91425"/>
                </a:tc>
                <a:tc>
                  <a:txBody>
                    <a:bodyPr/>
                    <a:lstStyle/>
                    <a:p>
                      <a:pPr indent="0" lvl="0" marL="0" rtl="0" algn="l">
                        <a:spcBef>
                          <a:spcPts val="0"/>
                        </a:spcBef>
                        <a:spcAft>
                          <a:spcPts val="0"/>
                        </a:spcAft>
                        <a:buNone/>
                      </a:pPr>
                      <a:r>
                        <a:rPr lang="en-GB" sz="600"/>
                        <a:t>A2</a:t>
                      </a:r>
                      <a:endParaRPr sz="600"/>
                    </a:p>
                  </a:txBody>
                  <a:tcPr marT="91425" marB="91425" marR="91425" marL="91425"/>
                </a:tc>
                <a:tc>
                  <a:txBody>
                    <a:bodyPr/>
                    <a:lstStyle/>
                    <a:p>
                      <a:pPr indent="0" lvl="0" marL="0" rtl="0" algn="l">
                        <a:spcBef>
                          <a:spcPts val="0"/>
                        </a:spcBef>
                        <a:spcAft>
                          <a:spcPts val="0"/>
                        </a:spcAft>
                        <a:buNone/>
                      </a:pPr>
                      <a:r>
                        <a:rPr lang="en-GB" sz="600"/>
                        <a:t>OUTPUT</a:t>
                      </a:r>
                      <a:endParaRPr sz="600"/>
                    </a:p>
                  </a:txBody>
                  <a:tcPr marT="91425" marB="91425" marR="91425" marL="91425"/>
                </a:tc>
              </a:tr>
              <a:tr h="100000">
                <a:tc>
                  <a:txBody>
                    <a:bodyPr/>
                    <a:lstStyle/>
                    <a:p>
                      <a:pPr indent="0" lvl="0" marL="0" rtl="0" algn="l">
                        <a:spcBef>
                          <a:spcPts val="0"/>
                        </a:spcBef>
                        <a:spcAft>
                          <a:spcPts val="0"/>
                        </a:spcAft>
                        <a:buNone/>
                      </a:pPr>
                      <a:r>
                        <a:rPr lang="en-GB" sz="600"/>
                        <a:t>GPIO0</a:t>
                      </a:r>
                      <a:endParaRPr sz="6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sz="600">
                          <a:solidFill>
                            <a:schemeClr val="dk1"/>
                          </a:solidFill>
                        </a:rPr>
                        <a:t>General IO - LEDs etc</a:t>
                      </a:r>
                      <a:endParaRPr sz="600">
                        <a:solidFill>
                          <a:schemeClr val="dk1"/>
                        </a:solidFill>
                      </a:endParaRPr>
                    </a:p>
                  </a:txBody>
                  <a:tcPr marT="91425" marB="91425" marR="91425" marL="91425"/>
                </a:tc>
                <a:tc>
                  <a:txBody>
                    <a:bodyPr/>
                    <a:lstStyle/>
                    <a:p>
                      <a:pPr indent="0" lvl="0" marL="0" rtl="0" algn="l">
                        <a:spcBef>
                          <a:spcPts val="0"/>
                        </a:spcBef>
                        <a:spcAft>
                          <a:spcPts val="0"/>
                        </a:spcAft>
                        <a:buNone/>
                      </a:pPr>
                      <a:r>
                        <a:rPr lang="en-GB" sz="600"/>
                        <a:t>23</a:t>
                      </a:r>
                      <a:endParaRPr sz="600"/>
                    </a:p>
                  </a:txBody>
                  <a:tcPr marT="91425" marB="91425" marR="91425" marL="91425"/>
                </a:tc>
                <a:tc>
                  <a:txBody>
                    <a:bodyPr/>
                    <a:lstStyle/>
                    <a:p>
                      <a:pPr indent="0" lvl="0" marL="0" rtl="0" algn="l">
                        <a:spcBef>
                          <a:spcPts val="0"/>
                        </a:spcBef>
                        <a:spcAft>
                          <a:spcPts val="0"/>
                        </a:spcAft>
                        <a:buNone/>
                      </a:pPr>
                      <a:r>
                        <a:rPr lang="en-GB" sz="600"/>
                        <a:t>PC0</a:t>
                      </a:r>
                      <a:endParaRPr sz="600"/>
                    </a:p>
                  </a:txBody>
                  <a:tcPr marT="91425" marB="91425" marR="91425" marL="91425"/>
                </a:tc>
                <a:tc>
                  <a:txBody>
                    <a:bodyPr/>
                    <a:lstStyle/>
                    <a:p>
                      <a:pPr indent="0" lvl="0" marL="0" rtl="0" algn="l">
                        <a:spcBef>
                          <a:spcPts val="0"/>
                        </a:spcBef>
                        <a:spcAft>
                          <a:spcPts val="0"/>
                        </a:spcAft>
                        <a:buNone/>
                      </a:pPr>
                      <a:r>
                        <a:rPr lang="en-GB" sz="600"/>
                        <a:t>A0</a:t>
                      </a:r>
                      <a:endParaRPr sz="600"/>
                    </a:p>
                  </a:txBody>
                  <a:tcPr marT="91425" marB="91425" marR="91425" marL="91425"/>
                </a:tc>
                <a:tc>
                  <a:txBody>
                    <a:bodyPr/>
                    <a:lstStyle/>
                    <a:p>
                      <a:pPr indent="0" lvl="0" marL="0" rtl="0" algn="l">
                        <a:spcBef>
                          <a:spcPts val="0"/>
                        </a:spcBef>
                        <a:spcAft>
                          <a:spcPts val="0"/>
                        </a:spcAft>
                        <a:buNone/>
                      </a:pPr>
                      <a:r>
                        <a:rPr lang="en-GB" sz="600"/>
                        <a:t>A0</a:t>
                      </a:r>
                      <a:endParaRPr sz="600"/>
                    </a:p>
                  </a:txBody>
                  <a:tcPr marT="91425" marB="91425" marR="91425" marL="91425"/>
                </a:tc>
                <a:tc>
                  <a:txBody>
                    <a:bodyPr/>
                    <a:lstStyle/>
                    <a:p>
                      <a:pPr indent="0" lvl="0" marL="0" rtl="0" algn="l">
                        <a:spcBef>
                          <a:spcPts val="0"/>
                        </a:spcBef>
                        <a:spcAft>
                          <a:spcPts val="0"/>
                        </a:spcAft>
                        <a:buNone/>
                      </a:pPr>
                      <a:r>
                        <a:rPr lang="en-GB" sz="600"/>
                        <a:t>OUTPUT</a:t>
                      </a:r>
                      <a:endParaRPr sz="600"/>
                    </a:p>
                  </a:txBody>
                  <a:tcPr marT="91425" marB="91425" marR="91425" marL="91425"/>
                </a:tc>
              </a:tr>
              <a:tr h="100000">
                <a:tc>
                  <a:txBody>
                    <a:bodyPr/>
                    <a:lstStyle/>
                    <a:p>
                      <a:pPr indent="0" lvl="0" marL="0" rtl="0" algn="l">
                        <a:spcBef>
                          <a:spcPts val="0"/>
                        </a:spcBef>
                        <a:spcAft>
                          <a:spcPts val="0"/>
                        </a:spcAft>
                        <a:buNone/>
                      </a:pPr>
                      <a:r>
                        <a:rPr lang="en-GB" sz="600"/>
                        <a:t>GPIO3</a:t>
                      </a:r>
                      <a:endParaRPr sz="600"/>
                    </a:p>
                  </a:txBody>
                  <a:tcPr marT="91425" marB="91425" marR="91425" marL="91425"/>
                </a:tc>
                <a:tc>
                  <a:txBody>
                    <a:bodyPr/>
                    <a:lstStyle/>
                    <a:p>
                      <a:pPr indent="0" lvl="0" marL="0" rtl="0" algn="l">
                        <a:spcBef>
                          <a:spcPts val="0"/>
                        </a:spcBef>
                        <a:spcAft>
                          <a:spcPts val="0"/>
                        </a:spcAft>
                        <a:buNone/>
                      </a:pPr>
                      <a:r>
                        <a:t/>
                      </a:r>
                      <a:endParaRPr sz="600">
                        <a:solidFill>
                          <a:schemeClr val="dk1"/>
                        </a:solidFill>
                      </a:endParaRPr>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c>
                  <a:txBody>
                    <a:bodyPr/>
                    <a:lstStyle/>
                    <a:p>
                      <a:pPr indent="0" lvl="0" marL="0" rtl="0" algn="l">
                        <a:spcBef>
                          <a:spcPts val="0"/>
                        </a:spcBef>
                        <a:spcAft>
                          <a:spcPts val="0"/>
                        </a:spcAft>
                        <a:buNone/>
                      </a:pPr>
                      <a:r>
                        <a:rPr lang="en-GB" sz="600"/>
                        <a:t>AI3</a:t>
                      </a:r>
                      <a:endParaRPr sz="600"/>
                    </a:p>
                  </a:txBody>
                  <a:tcPr marT="91425" marB="91425" marR="91425" marL="91425"/>
                </a:tc>
                <a:tc>
                  <a:txBody>
                    <a:bodyPr/>
                    <a:lstStyle/>
                    <a:p>
                      <a:pPr indent="0" lvl="0" marL="0" rtl="0" algn="l">
                        <a:spcBef>
                          <a:spcPts val="0"/>
                        </a:spcBef>
                        <a:spcAft>
                          <a:spcPts val="0"/>
                        </a:spcAft>
                        <a:buNone/>
                      </a:pPr>
                      <a:r>
                        <a:rPr lang="en-GB" sz="600"/>
                        <a:t>Input/Output</a:t>
                      </a:r>
                      <a:endParaRPr sz="600"/>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pic>
        <p:nvPicPr>
          <p:cNvPr id="727" name="Google Shape;727;p39"/>
          <p:cNvPicPr preferRelativeResize="0"/>
          <p:nvPr/>
        </p:nvPicPr>
        <p:blipFill>
          <a:blip r:embed="rId3">
            <a:alphaModFix/>
          </a:blip>
          <a:stretch>
            <a:fillRect/>
          </a:stretch>
        </p:blipFill>
        <p:spPr>
          <a:xfrm>
            <a:off x="152400" y="152400"/>
            <a:ext cx="7511826" cy="48386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pic>
        <p:nvPicPr>
          <p:cNvPr id="732" name="Google Shape;732;p40"/>
          <p:cNvPicPr preferRelativeResize="0"/>
          <p:nvPr/>
        </p:nvPicPr>
        <p:blipFill>
          <a:blip r:embed="rId3">
            <a:alphaModFix/>
          </a:blip>
          <a:stretch>
            <a:fillRect/>
          </a:stretch>
        </p:blipFill>
        <p:spPr>
          <a:xfrm>
            <a:off x="152400" y="152400"/>
            <a:ext cx="4180178" cy="48386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pic>
        <p:nvPicPr>
          <p:cNvPr id="737" name="Google Shape;737;p41"/>
          <p:cNvPicPr preferRelativeResize="0"/>
          <p:nvPr/>
        </p:nvPicPr>
        <p:blipFill>
          <a:blip r:embed="rId3">
            <a:alphaModFix/>
          </a:blip>
          <a:stretch>
            <a:fillRect/>
          </a:stretch>
        </p:blipFill>
        <p:spPr>
          <a:xfrm>
            <a:off x="152400" y="152400"/>
            <a:ext cx="8654011" cy="48386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42"/>
          <p:cNvSpPr txBox="1"/>
          <p:nvPr/>
        </p:nvSpPr>
        <p:spPr>
          <a:xfrm>
            <a:off x="515025" y="481575"/>
            <a:ext cx="6059700" cy="43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Directory Layout</a:t>
            </a:r>
            <a:endParaRPr b="1" u="sng"/>
          </a:p>
          <a:p>
            <a:pPr indent="0" lvl="0" marL="0" rtl="0" algn="l">
              <a:spcBef>
                <a:spcPts val="0"/>
              </a:spcBef>
              <a:spcAft>
                <a:spcPts val="0"/>
              </a:spcAft>
              <a:buNone/>
            </a:pPr>
            <a:r>
              <a:t/>
            </a:r>
            <a:endParaRPr/>
          </a:p>
          <a:p>
            <a:pPr indent="0" lvl="0" marL="0" rtl="0" algn="l">
              <a:spcBef>
                <a:spcPts val="0"/>
              </a:spcBef>
              <a:spcAft>
                <a:spcPts val="0"/>
              </a:spcAft>
              <a:buNone/>
            </a:pPr>
            <a:r>
              <a:rPr lang="en-GB"/>
              <a:t>Sketchbook Directory</a:t>
            </a:r>
            <a:endParaRPr/>
          </a:p>
          <a:p>
            <a:pPr indent="0" lvl="0" marL="0" rtl="0" algn="l">
              <a:spcBef>
                <a:spcPts val="0"/>
              </a:spcBef>
              <a:spcAft>
                <a:spcPts val="0"/>
              </a:spcAft>
              <a:buNone/>
            </a:pPr>
            <a:r>
              <a:rPr lang="en-GB"/>
              <a:t>	/Main</a:t>
            </a:r>
            <a:endParaRPr/>
          </a:p>
          <a:p>
            <a:pPr indent="0" lvl="0" marL="0" rtl="0" algn="l">
              <a:spcBef>
                <a:spcPts val="0"/>
              </a:spcBef>
              <a:spcAft>
                <a:spcPts val="0"/>
              </a:spcAft>
              <a:buNone/>
            </a:pPr>
            <a:r>
              <a:rPr lang="en-GB"/>
              <a:t>		/Main.ino</a:t>
            </a:r>
            <a:endParaRPr/>
          </a:p>
          <a:p>
            <a:pPr indent="0" lvl="0" marL="0" rtl="0" algn="l">
              <a:spcBef>
                <a:spcPts val="0"/>
              </a:spcBef>
              <a:spcAft>
                <a:spcPts val="0"/>
              </a:spcAft>
              <a:buNone/>
            </a:pPr>
            <a:r>
              <a:rPr lang="en-GB"/>
              <a:t>	/libraries</a:t>
            </a:r>
            <a:endParaRPr/>
          </a:p>
          <a:p>
            <a:pPr indent="0" lvl="0" marL="0" rtl="0" algn="l">
              <a:spcBef>
                <a:spcPts val="0"/>
              </a:spcBef>
              <a:spcAft>
                <a:spcPts val="0"/>
              </a:spcAft>
              <a:buNone/>
            </a:pPr>
            <a:r>
              <a:rPr lang="en-GB"/>
              <a:t>		/Library1</a:t>
            </a:r>
            <a:endParaRPr/>
          </a:p>
          <a:p>
            <a:pPr indent="457200" lvl="0" marL="914400" rtl="0" algn="l">
              <a:spcBef>
                <a:spcPts val="0"/>
              </a:spcBef>
              <a:spcAft>
                <a:spcPts val="0"/>
              </a:spcAft>
              <a:buNone/>
            </a:pPr>
            <a:r>
              <a:rPr lang="en-GB"/>
              <a:t>/Library1.c (or Library.cpp)</a:t>
            </a:r>
            <a:endParaRPr/>
          </a:p>
          <a:p>
            <a:pPr indent="457200" lvl="0" marL="914400" rtl="0" algn="l">
              <a:spcBef>
                <a:spcPts val="0"/>
              </a:spcBef>
              <a:spcAft>
                <a:spcPts val="0"/>
              </a:spcAft>
              <a:buNone/>
            </a:pPr>
            <a:r>
              <a:rPr lang="en-GB"/>
              <a:t>/Library1.h</a:t>
            </a:r>
            <a:endParaRPr/>
          </a:p>
          <a:p>
            <a:pPr indent="457200" lvl="0" marL="914400" rtl="0" algn="l">
              <a:spcBef>
                <a:spcPts val="0"/>
              </a:spcBef>
              <a:spcAft>
                <a:spcPts val="0"/>
              </a:spcAft>
              <a:buNone/>
            </a:pPr>
            <a:r>
              <a:rPr lang="en-GB"/>
              <a:t>/Keywords.txt (optional used only in arduino IDE)</a:t>
            </a:r>
            <a:endParaRPr/>
          </a:p>
          <a:p>
            <a:pPr indent="457200" lvl="0" marL="914400" rtl="0" algn="l">
              <a:spcBef>
                <a:spcPts val="0"/>
              </a:spcBef>
              <a:spcAft>
                <a:spcPts val="0"/>
              </a:spcAft>
              <a:buNone/>
            </a:pPr>
            <a:r>
              <a:rPr lang="en-GB"/>
              <a:t>/Readme</a:t>
            </a:r>
            <a:endParaRPr/>
          </a:p>
          <a:p>
            <a:pPr indent="457200" lvl="0" marL="914400" rtl="0" algn="l">
              <a:spcBef>
                <a:spcPts val="0"/>
              </a:spcBef>
              <a:spcAft>
                <a:spcPts val="0"/>
              </a:spcAft>
              <a:buNone/>
            </a:pPr>
            <a:r>
              <a:rPr lang="en-GB"/>
              <a:t>/</a:t>
            </a:r>
            <a:r>
              <a:rPr lang="en-GB"/>
              <a:t>Utility (Note: Any helper functions)</a:t>
            </a:r>
            <a:endParaRPr/>
          </a:p>
          <a:p>
            <a:pPr indent="457200" lvl="0" marL="914400" rtl="0" algn="l">
              <a:spcBef>
                <a:spcPts val="0"/>
              </a:spcBef>
              <a:spcAft>
                <a:spcPts val="0"/>
              </a:spcAft>
              <a:buNone/>
            </a:pPr>
            <a:r>
              <a:rPr lang="en-GB"/>
              <a:t>	/File1.c (or File1.cpp)</a:t>
            </a:r>
            <a:endParaRPr/>
          </a:p>
          <a:p>
            <a:pPr indent="457200" lvl="0" marL="914400" rtl="0" algn="l">
              <a:spcBef>
                <a:spcPts val="0"/>
              </a:spcBef>
              <a:spcAft>
                <a:spcPts val="0"/>
              </a:spcAft>
              <a:buNone/>
            </a:pPr>
            <a:r>
              <a:rPr lang="en-GB"/>
              <a:t>	/File1.h</a:t>
            </a:r>
            <a:endParaRPr/>
          </a:p>
          <a:p>
            <a:pPr indent="457200" lvl="0" marL="914400" rtl="0" algn="l">
              <a:spcBef>
                <a:spcPts val="0"/>
              </a:spcBef>
              <a:spcAft>
                <a:spcPts val="0"/>
              </a:spcAft>
              <a:buNone/>
            </a:pPr>
            <a:r>
              <a:rPr lang="en-GB"/>
              <a:t>	/</a:t>
            </a:r>
            <a:r>
              <a:rPr lang="en-GB">
                <a:solidFill>
                  <a:schemeClr val="dk1"/>
                </a:solidFill>
              </a:rPr>
              <a:t>File2.c (or File2.cpp)</a:t>
            </a:r>
            <a:endParaRPr>
              <a:solidFill>
                <a:schemeClr val="dk1"/>
              </a:solidFill>
            </a:endParaRPr>
          </a:p>
          <a:p>
            <a:pPr indent="457200" lvl="0" marL="914400" rtl="0" algn="l">
              <a:spcBef>
                <a:spcPts val="0"/>
              </a:spcBef>
              <a:spcAft>
                <a:spcPts val="0"/>
              </a:spcAft>
              <a:buNone/>
            </a:pPr>
            <a:r>
              <a:rPr lang="en-GB">
                <a:solidFill>
                  <a:schemeClr val="dk1"/>
                </a:solidFill>
              </a:rPr>
              <a:t>	/File2.h</a:t>
            </a:r>
            <a:endParaRPr>
              <a:solidFill>
                <a:schemeClr val="dk1"/>
              </a:solidFill>
            </a:endParaRPr>
          </a:p>
          <a:p>
            <a:pPr indent="457200" lvl="0" marL="914400" rtl="0" algn="l">
              <a:spcBef>
                <a:spcPts val="0"/>
              </a:spcBef>
              <a:spcAft>
                <a:spcPts val="0"/>
              </a:spcAft>
              <a:buNone/>
            </a:pPr>
            <a:r>
              <a:rPr lang="en-GB">
                <a:solidFill>
                  <a:schemeClr val="dk1"/>
                </a:solidFill>
              </a:rPr>
              <a:t>/Examples</a:t>
            </a:r>
            <a:endParaRPr>
              <a:solidFill>
                <a:schemeClr val="dk1"/>
              </a:solidFill>
            </a:endParaRPr>
          </a:p>
          <a:p>
            <a:pPr indent="457200" lvl="0" marL="914400" rtl="0" algn="l">
              <a:spcBef>
                <a:spcPts val="0"/>
              </a:spcBef>
              <a:spcAft>
                <a:spcPts val="0"/>
              </a:spcAft>
              <a:buClr>
                <a:schemeClr val="dk1"/>
              </a:buClr>
              <a:buSzPts val="1100"/>
              <a:buFont typeface="Arial"/>
              <a:buNone/>
            </a:pPr>
            <a:r>
              <a:rPr lang="en-GB">
                <a:solidFill>
                  <a:schemeClr val="dk1"/>
                </a:solidFill>
              </a:rPr>
              <a:t>	/Example.ino</a:t>
            </a:r>
            <a:endParaRPr>
              <a:solidFill>
                <a:schemeClr val="dk1"/>
              </a:solidFill>
            </a:endParaRPr>
          </a:p>
          <a:p>
            <a:pPr indent="457200" lvl="0" marL="914400" rtl="0" algn="l">
              <a:spcBef>
                <a:spcPts val="0"/>
              </a:spcBef>
              <a:spcAft>
                <a:spcPts val="0"/>
              </a:spcAft>
              <a:buNone/>
            </a:pPr>
            <a:r>
              <a:t/>
            </a:r>
            <a:endParaRPr/>
          </a:p>
          <a:p>
            <a:pPr indent="457200" lvl="0" marL="1371600" rtl="0" algn="l">
              <a:spcBef>
                <a:spcPts val="0"/>
              </a:spcBef>
              <a:spcAft>
                <a:spcPts val="0"/>
              </a:spcAft>
              <a:buNone/>
            </a:pPr>
            <a:r>
              <a:rPr lang="en-GB"/>
              <a: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44"/>
          <p:cNvSpPr txBox="1"/>
          <p:nvPr/>
        </p:nvSpPr>
        <p:spPr>
          <a:xfrm>
            <a:off x="1096925" y="494950"/>
            <a:ext cx="3678600" cy="4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Library </a:t>
            </a:r>
            <a:r>
              <a:rPr lang="en-GB"/>
              <a:t>Source</a:t>
            </a:r>
            <a:r>
              <a:rPr lang="en-GB"/>
              <a:t> (.cpp)</a:t>
            </a:r>
            <a:endParaRPr/>
          </a:p>
        </p:txBody>
      </p:sp>
      <p:sp>
        <p:nvSpPr>
          <p:cNvPr id="752" name="Google Shape;752;p44"/>
          <p:cNvSpPr txBox="1"/>
          <p:nvPr/>
        </p:nvSpPr>
        <p:spPr>
          <a:xfrm>
            <a:off x="1096925" y="1424675"/>
            <a:ext cx="7591500" cy="3136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a:t>Any </a:t>
            </a:r>
            <a:r>
              <a:rPr lang="en-GB"/>
              <a:t>declaration</a:t>
            </a:r>
            <a:r>
              <a:rPr lang="en-GB"/>
              <a:t> of variable or constant must prefix with data type and postfix units</a:t>
            </a:r>
            <a:endParaRPr/>
          </a:p>
          <a:p>
            <a:pPr indent="-317500" lvl="0" marL="457200" rtl="0" algn="l">
              <a:spcBef>
                <a:spcPts val="0"/>
              </a:spcBef>
              <a:spcAft>
                <a:spcPts val="0"/>
              </a:spcAft>
              <a:buSzPts val="1400"/>
              <a:buChar char="-"/>
            </a:pPr>
            <a:r>
              <a:rPr lang="en-GB"/>
              <a:t>Constants must be defined in capitals</a:t>
            </a:r>
            <a:endParaRPr/>
          </a:p>
          <a:p>
            <a:pPr indent="-317500" lvl="0" marL="457200" rtl="0" algn="l">
              <a:spcBef>
                <a:spcPts val="0"/>
              </a:spcBef>
              <a:spcAft>
                <a:spcPts val="0"/>
              </a:spcAft>
              <a:buSzPts val="1400"/>
              <a:buChar char="-"/>
            </a:pPr>
            <a:r>
              <a:rPr lang="en-GB"/>
              <a:t>Function must be defined as follows </a:t>
            </a:r>
            <a:r>
              <a:rPr lang="en-GB">
                <a:latin typeface="Courier New"/>
                <a:ea typeface="Courier New"/>
                <a:cs typeface="Courier New"/>
                <a:sym typeface="Courier New"/>
              </a:rPr>
              <a:t>setVoltage()</a:t>
            </a:r>
            <a:r>
              <a:rPr lang="en-GB"/>
              <a:t>, </a:t>
            </a:r>
            <a:r>
              <a:rPr lang="en-GB">
                <a:latin typeface="Courier New"/>
                <a:ea typeface="Courier New"/>
                <a:cs typeface="Courier New"/>
                <a:sym typeface="Courier New"/>
              </a:rPr>
              <a:t>getCurrent()</a:t>
            </a:r>
            <a:endParaRPr>
              <a:latin typeface="Courier New"/>
              <a:ea typeface="Courier New"/>
              <a:cs typeface="Courier New"/>
              <a:sym typeface="Courier New"/>
            </a:endParaRPr>
          </a:p>
          <a:p>
            <a:pPr indent="-317500" lvl="0" marL="457200" rtl="0" algn="l">
              <a:spcBef>
                <a:spcPts val="0"/>
              </a:spcBef>
              <a:spcAft>
                <a:spcPts val="0"/>
              </a:spcAft>
              <a:buSzPts val="1400"/>
              <a:buChar char="-"/>
            </a:pPr>
            <a:r>
              <a:rPr lang="en-GB"/>
              <a:t>Variables must be defined as follows </a:t>
            </a:r>
            <a:r>
              <a:rPr lang="en-GB">
                <a:latin typeface="Courier New"/>
                <a:ea typeface="Courier New"/>
                <a:cs typeface="Courier New"/>
                <a:sym typeface="Courier New"/>
              </a:rPr>
              <a:t>sensor_voltage_v</a:t>
            </a:r>
            <a:r>
              <a:rPr lang="en-GB"/>
              <a:t>, </a:t>
            </a:r>
            <a:r>
              <a:rPr lang="en-GB">
                <a:latin typeface="Courier New"/>
                <a:ea typeface="Courier New"/>
                <a:cs typeface="Courier New"/>
                <a:sym typeface="Courier New"/>
              </a:rPr>
              <a:t>sensor_current_mA</a:t>
            </a:r>
            <a:endParaRPr>
              <a:latin typeface="Courier New"/>
              <a:ea typeface="Courier New"/>
              <a:cs typeface="Courier New"/>
              <a:sym typeface="Courier New"/>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45"/>
          <p:cNvSpPr txBox="1"/>
          <p:nvPr/>
        </p:nvSpPr>
        <p:spPr>
          <a:xfrm>
            <a:off x="1096925" y="494950"/>
            <a:ext cx="3678600" cy="4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User Manual</a:t>
            </a:r>
            <a:endParaRPr/>
          </a:p>
        </p:txBody>
      </p:sp>
      <p:sp>
        <p:nvSpPr>
          <p:cNvPr id="758" name="Google Shape;758;p45"/>
          <p:cNvSpPr txBox="1"/>
          <p:nvPr/>
        </p:nvSpPr>
        <p:spPr>
          <a:xfrm>
            <a:off x="1096925" y="1424675"/>
            <a:ext cx="7591500" cy="31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Calibration of the MPU_6050</a:t>
            </a:r>
            <a:endParaRPr b="1"/>
          </a:p>
          <a:p>
            <a:pPr indent="-228600" lvl="0" marL="457200" rtl="0" algn="l">
              <a:spcBef>
                <a:spcPts val="0"/>
              </a:spcBef>
              <a:spcAft>
                <a:spcPts val="0"/>
              </a:spcAft>
              <a:buSzPts val="1100"/>
              <a:buNone/>
            </a:pPr>
            <a:r>
              <a:rPr b="1" lang="en-GB" sz="1100" u="sng">
                <a:solidFill>
                  <a:schemeClr val="dk1"/>
                </a:solidFill>
              </a:rPr>
              <a:t>Calibration instructions</a:t>
            </a:r>
            <a:endParaRPr b="1" sz="1100" u="sng">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GB" sz="1100">
                <a:solidFill>
                  <a:schemeClr val="dk1"/>
                </a:solidFill>
              </a:rPr>
              <a:t>Flash the MPU6050_ Calibration code to the arduino</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GB" sz="1100">
                <a:solidFill>
                  <a:schemeClr val="dk1"/>
                </a:solidFill>
              </a:rPr>
              <a:t>Connect to the the arduino and view on the screen serial message</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GB" sz="1100">
                <a:solidFill>
                  <a:schemeClr val="dk1"/>
                </a:solidFill>
              </a:rPr>
              <a:t>follow on screen instructions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GB" sz="1100">
                <a:solidFill>
                  <a:schemeClr val="dk1"/>
                </a:solidFill>
              </a:rPr>
              <a:t>Once the calibration is complete update the offset values in the sensor.h file</a:t>
            </a:r>
            <a:endParaRPr sz="11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GB"/>
              <a:t>Example Result from calibration program</a:t>
            </a:r>
            <a:endParaRPr/>
          </a:p>
          <a:p>
            <a:pPr indent="0" lvl="0" marL="0" rtl="0" algn="l">
              <a:spcBef>
                <a:spcPts val="0"/>
              </a:spcBef>
              <a:spcAft>
                <a:spcPts val="0"/>
              </a:spcAft>
              <a:buClr>
                <a:schemeClr val="dk1"/>
              </a:buClr>
              <a:buSzPts val="1100"/>
              <a:buFont typeface="Arial"/>
              <a:buNone/>
            </a:pPr>
            <a:r>
              <a:rPr lang="en-GB"/>
              <a:t>Sensor readings with offsets:   -1      5       16378   1       0       0</a:t>
            </a:r>
            <a:endParaRPr/>
          </a:p>
          <a:p>
            <a:pPr indent="0" lvl="0" marL="0" rtl="0" algn="l">
              <a:spcBef>
                <a:spcPts val="0"/>
              </a:spcBef>
              <a:spcAft>
                <a:spcPts val="0"/>
              </a:spcAft>
              <a:buClr>
                <a:schemeClr val="dk1"/>
              </a:buClr>
              <a:buSzPts val="1100"/>
              <a:buFont typeface="Arial"/>
              <a:buNone/>
            </a:pPr>
            <a:r>
              <a:rPr lang="en-GB"/>
              <a:t>Your offsets:   -5193   2336    811     89      56      38</a:t>
            </a:r>
            <a:endParaRPr/>
          </a:p>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46"/>
          <p:cNvSpPr txBox="1"/>
          <p:nvPr/>
        </p:nvSpPr>
        <p:spPr>
          <a:xfrm>
            <a:off x="1096925" y="494950"/>
            <a:ext cx="3678600" cy="4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User Manual</a:t>
            </a:r>
            <a:endParaRPr/>
          </a:p>
        </p:txBody>
      </p:sp>
      <p:sp>
        <p:nvSpPr>
          <p:cNvPr id="764" name="Google Shape;764;p46"/>
          <p:cNvSpPr txBox="1"/>
          <p:nvPr/>
        </p:nvSpPr>
        <p:spPr>
          <a:xfrm>
            <a:off x="1096925" y="1424675"/>
            <a:ext cx="7591500" cy="31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PID Tuning</a:t>
            </a:r>
            <a:endParaRPr b="1"/>
          </a:p>
          <a:p>
            <a:pPr indent="0" lvl="0" marL="0" rtl="0" algn="l">
              <a:spcBef>
                <a:spcPts val="0"/>
              </a:spcBef>
              <a:spcAft>
                <a:spcPts val="0"/>
              </a:spcAft>
              <a:buNone/>
            </a:pPr>
            <a:r>
              <a:rPr lang="en-GB"/>
              <a:t>SW:</a:t>
            </a:r>
            <a:endParaRPr/>
          </a:p>
          <a:p>
            <a:pPr indent="0" lvl="0" marL="0" rtl="0" algn="l">
              <a:spcBef>
                <a:spcPts val="0"/>
              </a:spcBef>
              <a:spcAft>
                <a:spcPts val="0"/>
              </a:spcAft>
              <a:buNone/>
            </a:pPr>
            <a:r>
              <a:rPr lang="en-GB"/>
              <a:t>#define TUNE set to 1</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HW:</a:t>
            </a:r>
            <a:endParaRPr/>
          </a:p>
          <a:p>
            <a:pPr indent="0" lvl="0" marL="0" rtl="0" algn="l">
              <a:spcBef>
                <a:spcPts val="0"/>
              </a:spcBef>
              <a:spcAft>
                <a:spcPts val="0"/>
              </a:spcAft>
              <a:buNone/>
            </a:pPr>
            <a:r>
              <a:rPr lang="en-GB"/>
              <a:t>Remove jumper</a:t>
            </a:r>
            <a:endParaRPr/>
          </a:p>
          <a:p>
            <a:pPr indent="0" lvl="0" marL="0" rtl="0" algn="l">
              <a:spcBef>
                <a:spcPts val="0"/>
              </a:spcBef>
              <a:spcAft>
                <a:spcPts val="0"/>
              </a:spcAft>
              <a:buNone/>
            </a:pPr>
            <a:r>
              <a:rPr lang="en-GB"/>
              <a:t>Connect Pot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47"/>
          <p:cNvSpPr txBox="1"/>
          <p:nvPr/>
        </p:nvSpPr>
        <p:spPr>
          <a:xfrm>
            <a:off x="1096925" y="494950"/>
            <a:ext cx="3678600" cy="4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User Manual</a:t>
            </a:r>
            <a:endParaRPr/>
          </a:p>
        </p:txBody>
      </p:sp>
      <p:sp>
        <p:nvSpPr>
          <p:cNvPr id="770" name="Google Shape;770;p47"/>
          <p:cNvSpPr txBox="1"/>
          <p:nvPr/>
        </p:nvSpPr>
        <p:spPr>
          <a:xfrm>
            <a:off x="1096925" y="1424675"/>
            <a:ext cx="7591500" cy="31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	 * To Calibrate motors</a:t>
            </a:r>
            <a:endParaRPr b="1"/>
          </a:p>
          <a:p>
            <a:pPr indent="0" lvl="0" marL="0" rtl="0" algn="l">
              <a:spcBef>
                <a:spcPts val="0"/>
              </a:spcBef>
              <a:spcAft>
                <a:spcPts val="0"/>
              </a:spcAft>
              <a:buClr>
                <a:schemeClr val="dk1"/>
              </a:buClr>
              <a:buSzPts val="1100"/>
              <a:buFont typeface="Arial"/>
              <a:buNone/>
            </a:pPr>
            <a:r>
              <a:rPr b="1" lang="en-GB"/>
              <a:t>Flip aux1 to on position</a:t>
            </a:r>
            <a:endParaRPr b="1"/>
          </a:p>
          <a:p>
            <a:pPr indent="0" lvl="0" marL="0" rtl="0" algn="l">
              <a:spcBef>
                <a:spcPts val="0"/>
              </a:spcBef>
              <a:spcAft>
                <a:spcPts val="0"/>
              </a:spcAft>
              <a:buClr>
                <a:schemeClr val="dk1"/>
              </a:buClr>
              <a:buSzPts val="1100"/>
              <a:buFont typeface="Arial"/>
              <a:buNone/>
            </a:pPr>
            <a:r>
              <a:rPr b="1" lang="en-GB"/>
              <a:t>	 * 1. Connect USB cable (PC - Arduino)</a:t>
            </a:r>
            <a:endParaRPr b="1"/>
          </a:p>
          <a:p>
            <a:pPr indent="0" lvl="0" marL="0" rtl="0" algn="l">
              <a:spcBef>
                <a:spcPts val="0"/>
              </a:spcBef>
              <a:spcAft>
                <a:spcPts val="0"/>
              </a:spcAft>
              <a:buClr>
                <a:schemeClr val="dk1"/>
              </a:buClr>
              <a:buSzPts val="1100"/>
              <a:buFont typeface="Arial"/>
              <a:buNone/>
            </a:pPr>
            <a:r>
              <a:rPr b="1" lang="en-GB"/>
              <a:t>	 * 2. Ensure Transmiter and and Rx are connected</a:t>
            </a:r>
            <a:endParaRPr b="1"/>
          </a:p>
          <a:p>
            <a:pPr indent="0" lvl="0" marL="0" rtl="0" algn="l">
              <a:spcBef>
                <a:spcPts val="0"/>
              </a:spcBef>
              <a:spcAft>
                <a:spcPts val="0"/>
              </a:spcAft>
              <a:buClr>
                <a:schemeClr val="dk1"/>
              </a:buClr>
              <a:buSzPts val="1100"/>
              <a:buFont typeface="Arial"/>
              <a:buNone/>
            </a:pPr>
            <a:r>
              <a:rPr b="1" lang="en-GB"/>
              <a:t>	 * 3. Set throttle stick to max</a:t>
            </a:r>
            <a:endParaRPr b="1"/>
          </a:p>
          <a:p>
            <a:pPr indent="0" lvl="0" marL="0" rtl="0" algn="l">
              <a:spcBef>
                <a:spcPts val="0"/>
              </a:spcBef>
              <a:spcAft>
                <a:spcPts val="0"/>
              </a:spcAft>
              <a:buClr>
                <a:schemeClr val="dk1"/>
              </a:buClr>
              <a:buSzPts val="1100"/>
              <a:buFont typeface="Arial"/>
              <a:buNone/>
            </a:pPr>
            <a:r>
              <a:rPr b="1" lang="en-GB"/>
              <a:t>	 * 4. Toggle AUX to ON</a:t>
            </a:r>
            <a:endParaRPr b="1"/>
          </a:p>
          <a:p>
            <a:pPr indent="0" lvl="0" marL="0" rtl="0" algn="l">
              <a:spcBef>
                <a:spcPts val="0"/>
              </a:spcBef>
              <a:spcAft>
                <a:spcPts val="0"/>
              </a:spcAft>
              <a:buClr>
                <a:schemeClr val="dk1"/>
              </a:buClr>
              <a:buSzPts val="1100"/>
              <a:buFont typeface="Arial"/>
              <a:buNone/>
            </a:pPr>
            <a:r>
              <a:rPr b="1" lang="en-GB"/>
              <a:t>	 * 5. Restart the Arduino</a:t>
            </a:r>
            <a:endParaRPr b="1"/>
          </a:p>
          <a:p>
            <a:pPr indent="0" lvl="0" marL="0" rtl="0" algn="l">
              <a:spcBef>
                <a:spcPts val="0"/>
              </a:spcBef>
              <a:spcAft>
                <a:spcPts val="0"/>
              </a:spcAft>
              <a:buNone/>
            </a:pPr>
            <a:r>
              <a:rPr b="1" lang="en-GB"/>
              <a:t>	 * 6. Connect the battery</a:t>
            </a:r>
            <a:endParaRPr b="1"/>
          </a:p>
          <a:p>
            <a:pPr indent="0" lvl="0" marL="0" rtl="0" algn="l">
              <a:spcBef>
                <a:spcPts val="0"/>
              </a:spcBef>
              <a:spcAft>
                <a:spcPts val="0"/>
              </a:spcAft>
              <a:buNone/>
            </a:pPr>
            <a:r>
              <a:rPr b="1" lang="en-GB"/>
              <a:t>You will here a musical tone followed by 2 beeps</a:t>
            </a:r>
            <a:endParaRPr b="1"/>
          </a:p>
          <a:p>
            <a:pPr indent="0" lvl="0" marL="0" rtl="0" algn="l">
              <a:spcBef>
                <a:spcPts val="0"/>
              </a:spcBef>
              <a:spcAft>
                <a:spcPts val="0"/>
              </a:spcAft>
              <a:buNone/>
            </a:pPr>
            <a:r>
              <a:rPr b="1" lang="en-GB"/>
              <a:t>After 2 beeps lower stick to min position</a:t>
            </a:r>
            <a:endParaRPr b="1"/>
          </a:p>
          <a:p>
            <a:pPr indent="0" lvl="0" marL="0" rtl="0" algn="l">
              <a:spcBef>
                <a:spcPts val="0"/>
              </a:spcBef>
              <a:spcAft>
                <a:spcPts val="0"/>
              </a:spcAft>
              <a:buNone/>
            </a:pPr>
            <a:r>
              <a:rPr b="1" lang="en-GB"/>
              <a:t>Will then here beeps</a:t>
            </a:r>
            <a:endParaRPr b="1"/>
          </a:p>
          <a:p>
            <a:pPr indent="0" lvl="0" marL="0" rtl="0" algn="l">
              <a:spcBef>
                <a:spcPts val="0"/>
              </a:spcBef>
              <a:spcAft>
                <a:spcPts val="0"/>
              </a:spcAft>
              <a:buClr>
                <a:schemeClr val="dk1"/>
              </a:buClr>
              <a:buSzPts val="1100"/>
              <a:buFont typeface="Arial"/>
              <a:buNone/>
            </a:pPr>
            <a:r>
              <a:rPr b="1" lang="en-GB"/>
              <a:t>Cal complete</a:t>
            </a:r>
            <a:endParaRPr b="1"/>
          </a:p>
          <a:p>
            <a:pPr indent="0" lvl="0" marL="0" rtl="0" algn="l">
              <a:spcBef>
                <a:spcPts val="0"/>
              </a:spcBef>
              <a:spcAft>
                <a:spcPts val="0"/>
              </a:spcAft>
              <a:buClr>
                <a:schemeClr val="dk1"/>
              </a:buClr>
              <a:buSzPts val="1100"/>
              <a:buFont typeface="Arial"/>
              <a:buNone/>
            </a:pPr>
            <a:r>
              <a:rPr b="1" lang="en-GB"/>
              <a:t>	</a:t>
            </a:r>
            <a:endParaRPr b="1"/>
          </a:p>
          <a:p>
            <a:pPr indent="0" lvl="0" marL="0" rtl="0" algn="l">
              <a:spcBef>
                <a:spcPts val="0"/>
              </a:spcBef>
              <a:spcAft>
                <a:spcPts val="0"/>
              </a:spcAft>
              <a:buNone/>
            </a:pPr>
            <a:r>
              <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pic>
        <p:nvPicPr>
          <p:cNvPr id="775" name="Google Shape;775;p48"/>
          <p:cNvPicPr preferRelativeResize="0"/>
          <p:nvPr/>
        </p:nvPicPr>
        <p:blipFill>
          <a:blip r:embed="rId3">
            <a:alphaModFix/>
          </a:blip>
          <a:stretch>
            <a:fillRect/>
          </a:stretch>
        </p:blipFill>
        <p:spPr>
          <a:xfrm>
            <a:off x="152400" y="152400"/>
            <a:ext cx="8839203" cy="236732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49"/>
          <p:cNvSpPr txBox="1"/>
          <p:nvPr/>
        </p:nvSpPr>
        <p:spPr>
          <a:xfrm>
            <a:off x="1096925" y="494950"/>
            <a:ext cx="3678600" cy="46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Release Notes</a:t>
            </a:r>
            <a:endParaRPr b="1" u="sng"/>
          </a:p>
        </p:txBody>
      </p:sp>
      <p:sp>
        <p:nvSpPr>
          <p:cNvPr id="781" name="Google Shape;781;p49"/>
          <p:cNvSpPr txBox="1"/>
          <p:nvPr/>
        </p:nvSpPr>
        <p:spPr>
          <a:xfrm>
            <a:off x="1096925" y="1424675"/>
            <a:ext cx="7591500" cy="31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Ver3</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5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NOTES</a:t>
            </a:r>
            <a:endParaRPr/>
          </a:p>
        </p:txBody>
      </p:sp>
      <p:sp>
        <p:nvSpPr>
          <p:cNvPr id="787" name="Google Shape;787;p5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51"/>
          <p:cNvSpPr txBox="1"/>
          <p:nvPr>
            <p:ph type="title"/>
          </p:nvPr>
        </p:nvSpPr>
        <p:spPr>
          <a:xfrm>
            <a:off x="311700" y="445025"/>
            <a:ext cx="3690900" cy="100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Atmega 328p Hardware</a:t>
            </a:r>
            <a:endParaRPr/>
          </a:p>
        </p:txBody>
      </p:sp>
      <p:pic>
        <p:nvPicPr>
          <p:cNvPr id="793" name="Google Shape;793;p51"/>
          <p:cNvPicPr preferRelativeResize="0"/>
          <p:nvPr/>
        </p:nvPicPr>
        <p:blipFill rotWithShape="1">
          <a:blip r:embed="rId3">
            <a:alphaModFix/>
          </a:blip>
          <a:srcRect b="6016" l="33794" r="26942" t="15124"/>
          <a:stretch/>
        </p:blipFill>
        <p:spPr>
          <a:xfrm>
            <a:off x="3918675" y="154313"/>
            <a:ext cx="3851526" cy="48348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pic>
        <p:nvPicPr>
          <p:cNvPr id="798" name="Google Shape;798;p52"/>
          <p:cNvPicPr preferRelativeResize="0"/>
          <p:nvPr/>
        </p:nvPicPr>
        <p:blipFill>
          <a:blip r:embed="rId3">
            <a:alphaModFix/>
          </a:blip>
          <a:stretch>
            <a:fillRect/>
          </a:stretch>
        </p:blipFill>
        <p:spPr>
          <a:xfrm>
            <a:off x="0" y="314306"/>
            <a:ext cx="9144001" cy="451488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53"/>
          <p:cNvSpPr txBox="1"/>
          <p:nvPr/>
        </p:nvSpPr>
        <p:spPr>
          <a:xfrm>
            <a:off x="640300" y="372925"/>
            <a:ext cx="6220200" cy="25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Schedulers</a:t>
            </a:r>
            <a:endParaRPr b="1" u="sng"/>
          </a:p>
          <a:p>
            <a:pPr indent="0" lvl="0" marL="0" rtl="0" algn="l">
              <a:spcBef>
                <a:spcPts val="0"/>
              </a:spcBef>
              <a:spcAft>
                <a:spcPts val="0"/>
              </a:spcAft>
              <a:buNone/>
            </a:pPr>
            <a:r>
              <a:t/>
            </a:r>
            <a:endParaRPr/>
          </a:p>
          <a:p>
            <a:pPr indent="0" lvl="0" marL="0" rtl="0" algn="l">
              <a:spcBef>
                <a:spcPts val="0"/>
              </a:spcBef>
              <a:spcAft>
                <a:spcPts val="0"/>
              </a:spcAft>
              <a:buNone/>
            </a:pPr>
            <a:r>
              <a:rPr b="1" lang="en-GB"/>
              <a:t>Time triggered</a:t>
            </a:r>
            <a:endParaRPr b="1"/>
          </a:p>
          <a:p>
            <a:pPr indent="0" lvl="0" marL="0" rtl="0" algn="l">
              <a:spcBef>
                <a:spcPts val="0"/>
              </a:spcBef>
              <a:spcAft>
                <a:spcPts val="0"/>
              </a:spcAft>
              <a:buNone/>
            </a:pPr>
            <a:r>
              <a:t/>
            </a:r>
            <a:endParaRPr/>
          </a:p>
          <a:p>
            <a:pPr indent="0" lvl="0" marL="0" rtl="0" algn="l">
              <a:spcBef>
                <a:spcPts val="0"/>
              </a:spcBef>
              <a:spcAft>
                <a:spcPts val="0"/>
              </a:spcAft>
              <a:buNone/>
            </a:pPr>
            <a:r>
              <a:rPr b="1" lang="en-GB"/>
              <a:t>Pre-emptive/time-sliced scheduler</a:t>
            </a:r>
            <a:r>
              <a:rPr lang="en-GB"/>
              <a:t>: runs a task for say 1 ms then pauses and runs another for 1 ms. This will make it appear to be running multiple tasks in </a:t>
            </a:r>
            <a:r>
              <a:rPr lang="en-GB"/>
              <a:t>parallel. Problem may occur if task share a resource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Co-operative </a:t>
            </a:r>
            <a:r>
              <a:rPr b="1" lang="en-GB"/>
              <a:t>scheduling</a:t>
            </a:r>
            <a:r>
              <a:rPr lang="en-GB"/>
              <a:t> - while a task is running it will not allow </a:t>
            </a:r>
            <a:r>
              <a:rPr lang="en-GB"/>
              <a:t>interrupts</a:t>
            </a:r>
            <a:r>
              <a:rPr lang="en-GB"/>
              <a:t> to interrupt it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54"/>
          <p:cNvSpPr txBox="1"/>
          <p:nvPr/>
        </p:nvSpPr>
        <p:spPr>
          <a:xfrm>
            <a:off x="539175" y="269600"/>
            <a:ext cx="3504600" cy="178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I2c Driver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2-wire Serial Interface (TWI)</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SCL - Serial Clock</a:t>
            </a:r>
            <a:endParaRPr/>
          </a:p>
          <a:p>
            <a:pPr indent="0" lvl="0" marL="0" rtl="0" algn="l">
              <a:spcBef>
                <a:spcPts val="0"/>
              </a:spcBef>
              <a:spcAft>
                <a:spcPts val="0"/>
              </a:spcAft>
              <a:buNone/>
            </a:pPr>
            <a:r>
              <a:rPr lang="en-GB"/>
              <a:t>SDA - Serial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START</a:t>
            </a:r>
            <a:endParaRPr/>
          </a:p>
          <a:p>
            <a:pPr indent="0" lvl="0" marL="0" rtl="0" algn="l">
              <a:spcBef>
                <a:spcPts val="0"/>
              </a:spcBef>
              <a:spcAft>
                <a:spcPts val="0"/>
              </a:spcAft>
              <a:buNone/>
            </a:pPr>
            <a:r>
              <a:rPr lang="en-GB"/>
              <a:t>STOP</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READ/WRITE</a:t>
            </a:r>
            <a:endParaRPr/>
          </a:p>
          <a:p>
            <a:pPr indent="0" lvl="0" marL="0" rtl="0" algn="l">
              <a:spcBef>
                <a:spcPts val="0"/>
              </a:spcBef>
              <a:spcAft>
                <a:spcPts val="0"/>
              </a:spcAft>
              <a:buNone/>
            </a:pPr>
            <a:r>
              <a:rPr lang="en-GB"/>
              <a:t>ADDRESS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809" name="Google Shape;809;p54"/>
          <p:cNvPicPr preferRelativeResize="0"/>
          <p:nvPr/>
        </p:nvPicPr>
        <p:blipFill>
          <a:blip r:embed="rId3">
            <a:alphaModFix/>
          </a:blip>
          <a:stretch>
            <a:fillRect/>
          </a:stretch>
        </p:blipFill>
        <p:spPr>
          <a:xfrm>
            <a:off x="5298400" y="1"/>
            <a:ext cx="3845599" cy="1671351"/>
          </a:xfrm>
          <a:prstGeom prst="rect">
            <a:avLst/>
          </a:prstGeom>
          <a:noFill/>
          <a:ln>
            <a:noFill/>
          </a:ln>
        </p:spPr>
      </p:pic>
      <p:pic>
        <p:nvPicPr>
          <p:cNvPr id="810" name="Google Shape;810;p54"/>
          <p:cNvPicPr preferRelativeResize="0"/>
          <p:nvPr/>
        </p:nvPicPr>
        <p:blipFill>
          <a:blip r:embed="rId4">
            <a:alphaModFix/>
          </a:blip>
          <a:stretch>
            <a:fillRect/>
          </a:stretch>
        </p:blipFill>
        <p:spPr>
          <a:xfrm>
            <a:off x="1702700" y="1711350"/>
            <a:ext cx="4174176" cy="1536300"/>
          </a:xfrm>
          <a:prstGeom prst="rect">
            <a:avLst/>
          </a:prstGeom>
          <a:noFill/>
          <a:ln>
            <a:noFill/>
          </a:ln>
        </p:spPr>
      </p:pic>
      <p:pic>
        <p:nvPicPr>
          <p:cNvPr id="811" name="Google Shape;811;p54"/>
          <p:cNvPicPr preferRelativeResize="0"/>
          <p:nvPr/>
        </p:nvPicPr>
        <p:blipFill>
          <a:blip r:embed="rId5">
            <a:alphaModFix/>
          </a:blip>
          <a:stretch>
            <a:fillRect/>
          </a:stretch>
        </p:blipFill>
        <p:spPr>
          <a:xfrm>
            <a:off x="359050" y="3181651"/>
            <a:ext cx="3380601" cy="1096325"/>
          </a:xfrm>
          <a:prstGeom prst="rect">
            <a:avLst/>
          </a:prstGeom>
          <a:noFill/>
          <a:ln>
            <a:noFill/>
          </a:ln>
        </p:spPr>
      </p:pic>
      <p:pic>
        <p:nvPicPr>
          <p:cNvPr id="812" name="Google Shape;812;p54"/>
          <p:cNvPicPr preferRelativeResize="0"/>
          <p:nvPr/>
        </p:nvPicPr>
        <p:blipFill>
          <a:blip r:embed="rId6">
            <a:alphaModFix/>
          </a:blip>
          <a:stretch>
            <a:fillRect/>
          </a:stretch>
        </p:blipFill>
        <p:spPr>
          <a:xfrm>
            <a:off x="6228949" y="3247649"/>
            <a:ext cx="3220901" cy="1254000"/>
          </a:xfrm>
          <a:prstGeom prst="rect">
            <a:avLst/>
          </a:prstGeom>
          <a:noFill/>
          <a:ln>
            <a:noFill/>
          </a:ln>
        </p:spPr>
      </p:pic>
      <p:pic>
        <p:nvPicPr>
          <p:cNvPr id="813" name="Google Shape;813;p54"/>
          <p:cNvPicPr preferRelativeResize="0"/>
          <p:nvPr/>
        </p:nvPicPr>
        <p:blipFill>
          <a:blip r:embed="rId7">
            <a:alphaModFix/>
          </a:blip>
          <a:stretch>
            <a:fillRect/>
          </a:stretch>
        </p:blipFill>
        <p:spPr>
          <a:xfrm>
            <a:off x="1450850" y="4351075"/>
            <a:ext cx="4040274" cy="792425"/>
          </a:xfrm>
          <a:prstGeom prst="rect">
            <a:avLst/>
          </a:prstGeom>
          <a:noFill/>
          <a:ln>
            <a:noFill/>
          </a:ln>
        </p:spPr>
      </p:pic>
      <p:sp>
        <p:nvSpPr>
          <p:cNvPr id="814" name="Google Shape;814;p54"/>
          <p:cNvSpPr txBox="1"/>
          <p:nvPr/>
        </p:nvSpPr>
        <p:spPr>
          <a:xfrm>
            <a:off x="4164450" y="134800"/>
            <a:ext cx="1071300" cy="47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hlinkClick r:id="rId8"/>
              </a:rPr>
              <a:t>Link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u="sng">
                <a:solidFill>
                  <a:schemeClr val="hlink"/>
                </a:solidFill>
                <a:hlinkClick r:id="rId9"/>
              </a:rPr>
              <a:t>Link2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55"/>
          <p:cNvSpPr txBox="1"/>
          <p:nvPr/>
        </p:nvSpPr>
        <p:spPr>
          <a:xfrm>
            <a:off x="60200" y="46825"/>
            <a:ext cx="1973100" cy="34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u="sng"/>
              <a:t>Arduino Wire Library</a:t>
            </a:r>
            <a:endParaRPr u="sng"/>
          </a:p>
        </p:txBody>
      </p:sp>
      <p:sp>
        <p:nvSpPr>
          <p:cNvPr id="820" name="Google Shape;820;p55"/>
          <p:cNvSpPr txBox="1"/>
          <p:nvPr/>
        </p:nvSpPr>
        <p:spPr>
          <a:xfrm>
            <a:off x="334425" y="897450"/>
            <a:ext cx="1170600" cy="3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wire.begin()</a:t>
            </a:r>
            <a:endParaRPr/>
          </a:p>
        </p:txBody>
      </p:sp>
      <p:sp>
        <p:nvSpPr>
          <p:cNvPr id="821" name="Google Shape;821;p55"/>
          <p:cNvSpPr txBox="1"/>
          <p:nvPr/>
        </p:nvSpPr>
        <p:spPr>
          <a:xfrm>
            <a:off x="334425" y="2485950"/>
            <a:ext cx="28695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wire.beginTransmission(address)</a:t>
            </a:r>
            <a:endParaRPr/>
          </a:p>
        </p:txBody>
      </p:sp>
      <p:sp>
        <p:nvSpPr>
          <p:cNvPr id="822" name="Google Shape;822;p55"/>
          <p:cNvSpPr txBox="1"/>
          <p:nvPr/>
        </p:nvSpPr>
        <p:spPr>
          <a:xfrm>
            <a:off x="334425" y="3086550"/>
            <a:ext cx="16989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wire.write(value)</a:t>
            </a:r>
            <a:endParaRPr/>
          </a:p>
        </p:txBody>
      </p:sp>
      <p:sp>
        <p:nvSpPr>
          <p:cNvPr id="823" name="Google Shape;823;p55"/>
          <p:cNvSpPr txBox="1"/>
          <p:nvPr/>
        </p:nvSpPr>
        <p:spPr>
          <a:xfrm>
            <a:off x="334425" y="3552125"/>
            <a:ext cx="10434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wire.read()</a:t>
            </a:r>
            <a:endParaRPr/>
          </a:p>
        </p:txBody>
      </p:sp>
      <p:sp>
        <p:nvSpPr>
          <p:cNvPr id="824" name="Google Shape;824;p55"/>
          <p:cNvSpPr txBox="1"/>
          <p:nvPr/>
        </p:nvSpPr>
        <p:spPr>
          <a:xfrm>
            <a:off x="334425" y="4154850"/>
            <a:ext cx="20535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wire.endTransmission()</a:t>
            </a:r>
            <a:endParaRPr/>
          </a:p>
        </p:txBody>
      </p:sp>
      <p:sp>
        <p:nvSpPr>
          <p:cNvPr id="825" name="Google Shape;825;p55"/>
          <p:cNvSpPr txBox="1"/>
          <p:nvPr/>
        </p:nvSpPr>
        <p:spPr>
          <a:xfrm>
            <a:off x="1645425" y="897450"/>
            <a:ext cx="3906000" cy="15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twi.init(), </a:t>
            </a:r>
            <a:endParaRPr sz="1000"/>
          </a:p>
          <a:p>
            <a:pPr indent="0" lvl="0" marL="0" rtl="0" algn="l">
              <a:spcBef>
                <a:spcPts val="0"/>
              </a:spcBef>
              <a:spcAft>
                <a:spcPts val="0"/>
              </a:spcAft>
              <a:buNone/>
            </a:pPr>
            <a:r>
              <a:rPr lang="en-GB" sz="1000"/>
              <a:t>digitalWrite(SDA, 1), digitalWrite(SCL,1);, Initialize prescaler</a:t>
            </a:r>
            <a:endParaRPr sz="1000"/>
          </a:p>
          <a:p>
            <a:pPr indent="0" lvl="0" marL="0" rtl="0" algn="l">
              <a:spcBef>
                <a:spcPts val="0"/>
              </a:spcBef>
              <a:spcAft>
                <a:spcPts val="0"/>
              </a:spcAft>
              <a:buClr>
                <a:schemeClr val="dk1"/>
              </a:buClr>
              <a:buSzPts val="1100"/>
              <a:buFont typeface="Arial"/>
              <a:buNone/>
            </a:pPr>
            <a:r>
              <a:rPr lang="en-GB" sz="1000"/>
              <a:t>  // initialize twi prescaler and bit rate</a:t>
            </a:r>
            <a:endParaRPr sz="1000"/>
          </a:p>
          <a:p>
            <a:pPr indent="0" lvl="0" marL="0" rtl="0" algn="l">
              <a:spcBef>
                <a:spcPts val="0"/>
              </a:spcBef>
              <a:spcAft>
                <a:spcPts val="0"/>
              </a:spcAft>
              <a:buClr>
                <a:schemeClr val="dk1"/>
              </a:buClr>
              <a:buSzPts val="1100"/>
              <a:buFont typeface="Arial"/>
              <a:buNone/>
            </a:pPr>
            <a:r>
              <a:rPr lang="en-GB" sz="1000"/>
              <a:t>  cbi(TWSR, TWPS0);</a:t>
            </a:r>
            <a:endParaRPr sz="1000"/>
          </a:p>
          <a:p>
            <a:pPr indent="0" lvl="0" marL="0" rtl="0" algn="l">
              <a:spcBef>
                <a:spcPts val="0"/>
              </a:spcBef>
              <a:spcAft>
                <a:spcPts val="0"/>
              </a:spcAft>
              <a:buClr>
                <a:schemeClr val="dk1"/>
              </a:buClr>
              <a:buSzPts val="1100"/>
              <a:buFont typeface="Arial"/>
              <a:buNone/>
            </a:pPr>
            <a:r>
              <a:rPr lang="en-GB" sz="1000"/>
              <a:t>  cbi(TWSR, TWPS1);</a:t>
            </a:r>
            <a:endParaRPr sz="1000"/>
          </a:p>
          <a:p>
            <a:pPr indent="0" lvl="0" marL="0" rtl="0" algn="l">
              <a:spcBef>
                <a:spcPts val="0"/>
              </a:spcBef>
              <a:spcAft>
                <a:spcPts val="0"/>
              </a:spcAft>
              <a:buNone/>
            </a:pPr>
            <a:r>
              <a:rPr lang="en-GB" sz="1000"/>
              <a:t>  TWBR = ((F_CPU / TWI_FREQ) - 16) / 2;</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GB" sz="1000"/>
              <a:t>Where: F_CPU = 16000000L</a:t>
            </a:r>
            <a:endParaRPr sz="1000"/>
          </a:p>
          <a:p>
            <a:pPr indent="0" lvl="0" marL="0" rtl="0" algn="l">
              <a:spcBef>
                <a:spcPts val="0"/>
              </a:spcBef>
              <a:spcAft>
                <a:spcPts val="0"/>
              </a:spcAft>
              <a:buClr>
                <a:schemeClr val="dk1"/>
              </a:buClr>
              <a:buSzPts val="1100"/>
              <a:buFont typeface="Arial"/>
              <a:buNone/>
            </a:pPr>
            <a:r>
              <a:rPr lang="en-GB" sz="1000"/>
              <a:t>TWI_FREQ = 100000L</a:t>
            </a:r>
            <a:endParaRPr sz="1000"/>
          </a:p>
          <a:p>
            <a:pPr indent="0" lvl="0" marL="0" rtl="0" algn="l">
              <a:spcBef>
                <a:spcPts val="0"/>
              </a:spcBef>
              <a:spcAft>
                <a:spcPts val="0"/>
              </a:spcAft>
              <a:buNone/>
            </a:pPr>
            <a:r>
              <a:t/>
            </a:r>
            <a:endParaRPr sz="1000"/>
          </a:p>
        </p:txBody>
      </p:sp>
      <p:sp>
        <p:nvSpPr>
          <p:cNvPr id="826" name="Google Shape;826;p55"/>
          <p:cNvSpPr txBox="1"/>
          <p:nvPr/>
        </p:nvSpPr>
        <p:spPr>
          <a:xfrm>
            <a:off x="3103600" y="2485950"/>
            <a:ext cx="30498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No calls to TWI just variables.Set the address of the slave as variable</a:t>
            </a:r>
            <a:endParaRPr sz="1000"/>
          </a:p>
        </p:txBody>
      </p:sp>
      <p:sp>
        <p:nvSpPr>
          <p:cNvPr id="827" name="Google Shape;827;p55"/>
          <p:cNvSpPr txBox="1"/>
          <p:nvPr/>
        </p:nvSpPr>
        <p:spPr>
          <a:xfrm>
            <a:off x="2347650" y="4195050"/>
            <a:ext cx="3324300" cy="5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twi_writeTo(address, data, length, wait, send stop)</a:t>
            </a:r>
            <a:endParaRPr sz="1000"/>
          </a:p>
          <a:p>
            <a:pPr indent="0" lvl="0" marL="0" rtl="0" algn="l">
              <a:spcBef>
                <a:spcPts val="0"/>
              </a:spcBef>
              <a:spcAft>
                <a:spcPts val="0"/>
              </a:spcAft>
              <a:buNone/>
            </a:pPr>
            <a:r>
              <a:rPr lang="en-GB" sz="1000">
                <a:solidFill>
                  <a:srgbClr val="FF0000"/>
                </a:solidFill>
              </a:rPr>
              <a:t>Note: This is a blocking function</a:t>
            </a:r>
            <a:endParaRPr sz="1000">
              <a:solidFill>
                <a:srgbClr val="FF0000"/>
              </a:solidFill>
            </a:endParaRPr>
          </a:p>
        </p:txBody>
      </p:sp>
      <p:sp>
        <p:nvSpPr>
          <p:cNvPr id="828" name="Google Shape;828;p55"/>
          <p:cNvSpPr txBox="1"/>
          <p:nvPr/>
        </p:nvSpPr>
        <p:spPr>
          <a:xfrm>
            <a:off x="1832775" y="3126750"/>
            <a:ext cx="3324300" cy="3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No Calls to TWI. Updates the buffer variable with the new buffer element</a:t>
            </a:r>
            <a:endParaRPr sz="1000"/>
          </a:p>
        </p:txBody>
      </p:sp>
      <p:sp>
        <p:nvSpPr>
          <p:cNvPr id="829" name="Google Shape;829;p55"/>
          <p:cNvSpPr txBox="1"/>
          <p:nvPr/>
        </p:nvSpPr>
        <p:spPr>
          <a:xfrm>
            <a:off x="1377825" y="3592325"/>
            <a:ext cx="3324300" cy="3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No Calls to TWI. Read from the buffer variable </a:t>
            </a:r>
            <a:endParaRPr sz="1000"/>
          </a:p>
        </p:txBody>
      </p:sp>
      <p:sp>
        <p:nvSpPr>
          <p:cNvPr id="830" name="Google Shape;830;p55"/>
          <p:cNvSpPr txBox="1"/>
          <p:nvPr/>
        </p:nvSpPr>
        <p:spPr>
          <a:xfrm>
            <a:off x="6648425" y="140450"/>
            <a:ext cx="2280900" cy="12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rgbClr val="93C47D"/>
                </a:solidFill>
              </a:rPr>
              <a:t>#include &lt;math.h&gt;</a:t>
            </a:r>
            <a:endParaRPr>
              <a:solidFill>
                <a:srgbClr val="93C47D"/>
              </a:solidFill>
            </a:endParaRPr>
          </a:p>
          <a:p>
            <a:pPr indent="0" lvl="0" marL="0" rtl="0" algn="l">
              <a:spcBef>
                <a:spcPts val="0"/>
              </a:spcBef>
              <a:spcAft>
                <a:spcPts val="0"/>
              </a:spcAft>
              <a:buClr>
                <a:schemeClr val="dk1"/>
              </a:buClr>
              <a:buSzPts val="1100"/>
              <a:buFont typeface="Arial"/>
              <a:buNone/>
            </a:pPr>
            <a:r>
              <a:rPr lang="en-GB">
                <a:solidFill>
                  <a:srgbClr val="93C47D"/>
                </a:solidFill>
              </a:rPr>
              <a:t>#include &lt;stdlib.h&gt;</a:t>
            </a:r>
            <a:endParaRPr>
              <a:solidFill>
                <a:srgbClr val="93C47D"/>
              </a:solidFill>
            </a:endParaRPr>
          </a:p>
          <a:p>
            <a:pPr indent="0" lvl="0" marL="0" rtl="0" algn="l">
              <a:spcBef>
                <a:spcPts val="0"/>
              </a:spcBef>
              <a:spcAft>
                <a:spcPts val="0"/>
              </a:spcAft>
              <a:buClr>
                <a:schemeClr val="dk1"/>
              </a:buClr>
              <a:buSzPts val="1100"/>
              <a:buFont typeface="Arial"/>
              <a:buNone/>
            </a:pPr>
            <a:r>
              <a:rPr lang="en-GB">
                <a:solidFill>
                  <a:srgbClr val="93C47D"/>
                </a:solidFill>
              </a:rPr>
              <a:t>#include &lt;inttypes.h&gt;</a:t>
            </a:r>
            <a:endParaRPr>
              <a:solidFill>
                <a:srgbClr val="93C47D"/>
              </a:solidFill>
            </a:endParaRPr>
          </a:p>
          <a:p>
            <a:pPr indent="0" lvl="0" marL="0" rtl="0" algn="l">
              <a:spcBef>
                <a:spcPts val="0"/>
              </a:spcBef>
              <a:spcAft>
                <a:spcPts val="0"/>
              </a:spcAft>
              <a:buClr>
                <a:schemeClr val="dk1"/>
              </a:buClr>
              <a:buSzPts val="1100"/>
              <a:buFont typeface="Arial"/>
              <a:buNone/>
            </a:pPr>
            <a:r>
              <a:rPr lang="en-GB">
                <a:solidFill>
                  <a:srgbClr val="93C47D"/>
                </a:solidFill>
              </a:rPr>
              <a:t>#include &lt;avr/io.h&gt;</a:t>
            </a:r>
            <a:endParaRPr>
              <a:solidFill>
                <a:srgbClr val="93C47D"/>
              </a:solidFill>
            </a:endParaRPr>
          </a:p>
          <a:p>
            <a:pPr indent="0" lvl="0" marL="0" rtl="0" algn="l">
              <a:spcBef>
                <a:spcPts val="0"/>
              </a:spcBef>
              <a:spcAft>
                <a:spcPts val="0"/>
              </a:spcAft>
              <a:buClr>
                <a:schemeClr val="dk1"/>
              </a:buClr>
              <a:buSzPts val="1100"/>
              <a:buFont typeface="Arial"/>
              <a:buNone/>
            </a:pPr>
            <a:r>
              <a:rPr lang="en-GB">
                <a:solidFill>
                  <a:srgbClr val="93C47D"/>
                </a:solidFill>
              </a:rPr>
              <a:t>#include &lt;avr/interrupt.h&gt;</a:t>
            </a:r>
            <a:endParaRPr>
              <a:solidFill>
                <a:srgbClr val="93C47D"/>
              </a:solidFill>
            </a:endParaRPr>
          </a:p>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graphicFrame>
        <p:nvGraphicFramePr>
          <p:cNvPr id="835" name="Google Shape;835;p56"/>
          <p:cNvGraphicFramePr/>
          <p:nvPr/>
        </p:nvGraphicFramePr>
        <p:xfrm>
          <a:off x="80950" y="1101725"/>
          <a:ext cx="3000000" cy="3000000"/>
        </p:xfrm>
        <a:graphic>
          <a:graphicData uri="http://schemas.openxmlformats.org/drawingml/2006/table">
            <a:tbl>
              <a:tblPr>
                <a:noFill/>
                <a:tableStyleId>{0DD5E6A9-B8FF-418B-958C-19A1D59B1256}</a:tableStyleId>
              </a:tblPr>
              <a:tblGrid>
                <a:gridCol w="295275"/>
                <a:gridCol w="304800"/>
                <a:gridCol w="304800"/>
                <a:gridCol w="304800"/>
                <a:gridCol w="304800"/>
                <a:gridCol w="304800"/>
                <a:gridCol w="304800"/>
                <a:gridCol w="304800"/>
                <a:gridCol w="352425"/>
                <a:gridCol w="314325"/>
                <a:gridCol w="304800"/>
                <a:gridCol w="304800"/>
                <a:gridCol w="304800"/>
                <a:gridCol w="304800"/>
                <a:gridCol w="304800"/>
                <a:gridCol w="304800"/>
                <a:gridCol w="304800"/>
                <a:gridCol w="304800"/>
                <a:gridCol w="314325"/>
                <a:gridCol w="304800"/>
                <a:gridCol w="314325"/>
                <a:gridCol w="314325"/>
                <a:gridCol w="314325"/>
                <a:gridCol w="314325"/>
                <a:gridCol w="314325"/>
                <a:gridCol w="314325"/>
                <a:gridCol w="314325"/>
                <a:gridCol w="314325"/>
                <a:gridCol w="314325"/>
              </a:tblGrid>
              <a:tr h="276225">
                <a:tc>
                  <a:txBody>
                    <a:bodyPr/>
                    <a:lstStyle/>
                    <a:p>
                      <a:pPr indent="0" lvl="0" marL="0" rtl="0" algn="ctr">
                        <a:lnSpc>
                          <a:spcPct val="115000"/>
                        </a:lnSpc>
                        <a:spcBef>
                          <a:spcPts val="0"/>
                        </a:spcBef>
                        <a:spcAft>
                          <a:spcPts val="0"/>
                        </a:spcAft>
                        <a:buNone/>
                      </a:pPr>
                      <a:r>
                        <a:rPr b="1" lang="en-GB" sz="1200"/>
                        <a:t>S</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3C47D"/>
                    </a:solidFill>
                  </a:tcPr>
                </a:tc>
                <a:tc>
                  <a:txBody>
                    <a:bodyPr/>
                    <a:lstStyle/>
                    <a:p>
                      <a:pPr indent="0" lvl="0" marL="0" rtl="0" algn="ctr">
                        <a:lnSpc>
                          <a:spcPct val="115000"/>
                        </a:lnSpc>
                        <a:spcBef>
                          <a:spcPts val="0"/>
                        </a:spcBef>
                        <a:spcAft>
                          <a:spcPts val="0"/>
                        </a:spcAft>
                        <a:buNone/>
                      </a:pPr>
                      <a:r>
                        <a:rPr b="1" lang="en-GB" sz="1200"/>
                        <a:t>6</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ctr">
                        <a:lnSpc>
                          <a:spcPct val="115000"/>
                        </a:lnSpc>
                        <a:spcBef>
                          <a:spcPts val="0"/>
                        </a:spcBef>
                        <a:spcAft>
                          <a:spcPts val="0"/>
                        </a:spcAft>
                        <a:buNone/>
                      </a:pPr>
                      <a:r>
                        <a:rPr b="1" lang="en-GB" sz="1200"/>
                        <a:t>5</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ctr">
                        <a:lnSpc>
                          <a:spcPct val="115000"/>
                        </a:lnSpc>
                        <a:spcBef>
                          <a:spcPts val="0"/>
                        </a:spcBef>
                        <a:spcAft>
                          <a:spcPts val="0"/>
                        </a:spcAft>
                        <a:buNone/>
                      </a:pPr>
                      <a:r>
                        <a:rPr b="1" lang="en-GB" sz="1200"/>
                        <a:t>4</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ctr">
                        <a:lnSpc>
                          <a:spcPct val="115000"/>
                        </a:lnSpc>
                        <a:spcBef>
                          <a:spcPts val="0"/>
                        </a:spcBef>
                        <a:spcAft>
                          <a:spcPts val="0"/>
                        </a:spcAft>
                        <a:buNone/>
                      </a:pPr>
                      <a:r>
                        <a:rPr b="1" lang="en-GB" sz="1200"/>
                        <a:t>3</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ctr">
                        <a:lnSpc>
                          <a:spcPct val="115000"/>
                        </a:lnSpc>
                        <a:spcBef>
                          <a:spcPts val="0"/>
                        </a:spcBef>
                        <a:spcAft>
                          <a:spcPts val="0"/>
                        </a:spcAft>
                        <a:buNone/>
                      </a:pPr>
                      <a:r>
                        <a:rPr b="1" lang="en-GB" sz="1200"/>
                        <a:t>2</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ctr">
                        <a:lnSpc>
                          <a:spcPct val="115000"/>
                        </a:lnSpc>
                        <a:spcBef>
                          <a:spcPts val="0"/>
                        </a:spcBef>
                        <a:spcAft>
                          <a:spcPts val="0"/>
                        </a:spcAft>
                        <a:buNone/>
                      </a:pPr>
                      <a:r>
                        <a:rPr b="1" lang="en-GB" sz="1200"/>
                        <a:t>1</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ctr">
                        <a:lnSpc>
                          <a:spcPct val="115000"/>
                        </a:lnSpc>
                        <a:spcBef>
                          <a:spcPts val="0"/>
                        </a:spcBef>
                        <a:spcAft>
                          <a:spcPts val="0"/>
                        </a:spcAft>
                        <a:buNone/>
                      </a:pPr>
                      <a:r>
                        <a:rPr b="1" lang="en-GB" sz="1200"/>
                        <a:t>0</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ctr">
                        <a:lnSpc>
                          <a:spcPct val="115000"/>
                        </a:lnSpc>
                        <a:spcBef>
                          <a:spcPts val="0"/>
                        </a:spcBef>
                        <a:spcAft>
                          <a:spcPts val="0"/>
                        </a:spcAft>
                        <a:buNone/>
                      </a:pPr>
                      <a:r>
                        <a:rPr b="1" lang="en-GB" sz="1200"/>
                        <a:t>R/W</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D9EEB"/>
                    </a:solidFill>
                  </a:tcPr>
                </a:tc>
                <a:tc>
                  <a:txBody>
                    <a:bodyPr/>
                    <a:lstStyle/>
                    <a:p>
                      <a:pPr indent="0" lvl="0" marL="0" rtl="0" algn="ctr">
                        <a:lnSpc>
                          <a:spcPct val="115000"/>
                        </a:lnSpc>
                        <a:spcBef>
                          <a:spcPts val="0"/>
                        </a:spcBef>
                        <a:spcAft>
                          <a:spcPts val="0"/>
                        </a:spcAft>
                        <a:buNone/>
                      </a:pPr>
                      <a:r>
                        <a:rPr b="1" lang="en-GB" sz="1200"/>
                        <a:t>A</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CB9C"/>
                    </a:solidFill>
                  </a:tcPr>
                </a:tc>
                <a:tc>
                  <a:txBody>
                    <a:bodyPr/>
                    <a:lstStyle/>
                    <a:p>
                      <a:pPr indent="0" lvl="0" marL="0" rtl="0" algn="ctr">
                        <a:lnSpc>
                          <a:spcPct val="115000"/>
                        </a:lnSpc>
                        <a:spcBef>
                          <a:spcPts val="0"/>
                        </a:spcBef>
                        <a:spcAft>
                          <a:spcPts val="0"/>
                        </a:spcAft>
                        <a:buNone/>
                      </a:pPr>
                      <a:r>
                        <a:rPr b="1" lang="en-GB" sz="1200"/>
                        <a:t>7</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6A5AF"/>
                    </a:solidFill>
                  </a:tcPr>
                </a:tc>
                <a:tc>
                  <a:txBody>
                    <a:bodyPr/>
                    <a:lstStyle/>
                    <a:p>
                      <a:pPr indent="0" lvl="0" marL="0" rtl="0" algn="ctr">
                        <a:lnSpc>
                          <a:spcPct val="115000"/>
                        </a:lnSpc>
                        <a:spcBef>
                          <a:spcPts val="0"/>
                        </a:spcBef>
                        <a:spcAft>
                          <a:spcPts val="0"/>
                        </a:spcAft>
                        <a:buNone/>
                      </a:pPr>
                      <a:r>
                        <a:rPr b="1" lang="en-GB" sz="1200"/>
                        <a:t>6</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6A5AF"/>
                    </a:solidFill>
                  </a:tcPr>
                </a:tc>
                <a:tc>
                  <a:txBody>
                    <a:bodyPr/>
                    <a:lstStyle/>
                    <a:p>
                      <a:pPr indent="0" lvl="0" marL="0" rtl="0" algn="ctr">
                        <a:lnSpc>
                          <a:spcPct val="115000"/>
                        </a:lnSpc>
                        <a:spcBef>
                          <a:spcPts val="0"/>
                        </a:spcBef>
                        <a:spcAft>
                          <a:spcPts val="0"/>
                        </a:spcAft>
                        <a:buNone/>
                      </a:pPr>
                      <a:r>
                        <a:rPr b="1" lang="en-GB" sz="1200"/>
                        <a:t>5</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6A5AF"/>
                    </a:solidFill>
                  </a:tcPr>
                </a:tc>
                <a:tc>
                  <a:txBody>
                    <a:bodyPr/>
                    <a:lstStyle/>
                    <a:p>
                      <a:pPr indent="0" lvl="0" marL="0" rtl="0" algn="ctr">
                        <a:lnSpc>
                          <a:spcPct val="115000"/>
                        </a:lnSpc>
                        <a:spcBef>
                          <a:spcPts val="0"/>
                        </a:spcBef>
                        <a:spcAft>
                          <a:spcPts val="0"/>
                        </a:spcAft>
                        <a:buNone/>
                      </a:pPr>
                      <a:r>
                        <a:rPr b="1" lang="en-GB" sz="1200"/>
                        <a:t>4</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6A5AF"/>
                    </a:solidFill>
                  </a:tcPr>
                </a:tc>
                <a:tc>
                  <a:txBody>
                    <a:bodyPr/>
                    <a:lstStyle/>
                    <a:p>
                      <a:pPr indent="0" lvl="0" marL="0" rtl="0" algn="ctr">
                        <a:lnSpc>
                          <a:spcPct val="115000"/>
                        </a:lnSpc>
                        <a:spcBef>
                          <a:spcPts val="0"/>
                        </a:spcBef>
                        <a:spcAft>
                          <a:spcPts val="0"/>
                        </a:spcAft>
                        <a:buNone/>
                      </a:pPr>
                      <a:r>
                        <a:rPr b="1" lang="en-GB" sz="1200"/>
                        <a:t>3</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6A5AF"/>
                    </a:solidFill>
                  </a:tcPr>
                </a:tc>
                <a:tc>
                  <a:txBody>
                    <a:bodyPr/>
                    <a:lstStyle/>
                    <a:p>
                      <a:pPr indent="0" lvl="0" marL="0" rtl="0" algn="ctr">
                        <a:lnSpc>
                          <a:spcPct val="115000"/>
                        </a:lnSpc>
                        <a:spcBef>
                          <a:spcPts val="0"/>
                        </a:spcBef>
                        <a:spcAft>
                          <a:spcPts val="0"/>
                        </a:spcAft>
                        <a:buNone/>
                      </a:pPr>
                      <a:r>
                        <a:rPr b="1" lang="en-GB" sz="1200"/>
                        <a:t>2</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6A5AF"/>
                    </a:solidFill>
                  </a:tcPr>
                </a:tc>
                <a:tc>
                  <a:txBody>
                    <a:bodyPr/>
                    <a:lstStyle/>
                    <a:p>
                      <a:pPr indent="0" lvl="0" marL="0" rtl="0" algn="ctr">
                        <a:lnSpc>
                          <a:spcPct val="115000"/>
                        </a:lnSpc>
                        <a:spcBef>
                          <a:spcPts val="0"/>
                        </a:spcBef>
                        <a:spcAft>
                          <a:spcPts val="0"/>
                        </a:spcAft>
                        <a:buNone/>
                      </a:pPr>
                      <a:r>
                        <a:rPr b="1" lang="en-GB" sz="1200"/>
                        <a:t>1</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6A5AF"/>
                    </a:solidFill>
                  </a:tcPr>
                </a:tc>
                <a:tc>
                  <a:txBody>
                    <a:bodyPr/>
                    <a:lstStyle/>
                    <a:p>
                      <a:pPr indent="0" lvl="0" marL="0" rtl="0" algn="ctr">
                        <a:lnSpc>
                          <a:spcPct val="115000"/>
                        </a:lnSpc>
                        <a:spcBef>
                          <a:spcPts val="0"/>
                        </a:spcBef>
                        <a:spcAft>
                          <a:spcPts val="0"/>
                        </a:spcAft>
                        <a:buNone/>
                      </a:pPr>
                      <a:r>
                        <a:rPr b="1" lang="en-GB" sz="1200"/>
                        <a:t>0</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6A5AF"/>
                    </a:solidFill>
                  </a:tcPr>
                </a:tc>
                <a:tc>
                  <a:txBody>
                    <a:bodyPr/>
                    <a:lstStyle/>
                    <a:p>
                      <a:pPr indent="0" lvl="0" marL="0" rtl="0" algn="ctr">
                        <a:lnSpc>
                          <a:spcPct val="115000"/>
                        </a:lnSpc>
                        <a:spcBef>
                          <a:spcPts val="0"/>
                        </a:spcBef>
                        <a:spcAft>
                          <a:spcPts val="0"/>
                        </a:spcAft>
                        <a:buNone/>
                      </a:pPr>
                      <a:r>
                        <a:rPr b="1" lang="en-GB" sz="1200"/>
                        <a:t>A</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CB9C"/>
                    </a:solidFill>
                  </a:tcPr>
                </a:tc>
                <a:tc>
                  <a:txBody>
                    <a:bodyPr/>
                    <a:lstStyle/>
                    <a:p>
                      <a:pPr indent="0" lvl="0" marL="0" rtl="0" algn="ctr">
                        <a:lnSpc>
                          <a:spcPct val="115000"/>
                        </a:lnSpc>
                        <a:spcBef>
                          <a:spcPts val="0"/>
                        </a:spcBef>
                        <a:spcAft>
                          <a:spcPts val="0"/>
                        </a:spcAft>
                        <a:buNone/>
                      </a:pPr>
                      <a:r>
                        <a:rPr b="1" lang="en-GB" sz="1200"/>
                        <a:t>7</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en-GB" sz="1200"/>
                        <a:t>6</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en-GB" sz="1200"/>
                        <a:t>5</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en-GB" sz="1200"/>
                        <a:t>4</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en-GB" sz="1200"/>
                        <a:t>3</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en-GB" sz="1200"/>
                        <a:t>2</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en-GB" sz="1200"/>
                        <a:t>1</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en-GB" sz="1200"/>
                        <a:t>0</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rtl="0" algn="ctr">
                        <a:lnSpc>
                          <a:spcPct val="115000"/>
                        </a:lnSpc>
                        <a:spcBef>
                          <a:spcPts val="0"/>
                        </a:spcBef>
                        <a:spcAft>
                          <a:spcPts val="0"/>
                        </a:spcAft>
                        <a:buNone/>
                      </a:pPr>
                      <a:r>
                        <a:rPr b="1" lang="en-GB" sz="1200"/>
                        <a:t>A</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CB9C"/>
                    </a:solidFill>
                  </a:tcPr>
                </a:tc>
                <a:tc>
                  <a:txBody>
                    <a:bodyPr/>
                    <a:lstStyle/>
                    <a:p>
                      <a:pPr indent="0" lvl="0" marL="0" rtl="0" algn="ctr">
                        <a:lnSpc>
                          <a:spcPct val="115000"/>
                        </a:lnSpc>
                        <a:spcBef>
                          <a:spcPts val="0"/>
                        </a:spcBef>
                        <a:spcAft>
                          <a:spcPts val="0"/>
                        </a:spcAft>
                        <a:buNone/>
                      </a:pPr>
                      <a:r>
                        <a:rPr b="1" lang="en-GB" sz="1200"/>
                        <a:t>S</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6666"/>
                    </a:solidFill>
                  </a:tcPr>
                </a:tc>
              </a:tr>
            </a:tbl>
          </a:graphicData>
        </a:graphic>
      </p:graphicFrame>
      <p:sp>
        <p:nvSpPr>
          <p:cNvPr id="836" name="Google Shape;836;p56"/>
          <p:cNvSpPr/>
          <p:nvPr/>
        </p:nvSpPr>
        <p:spPr>
          <a:xfrm rot="5400000">
            <a:off x="1337325" y="-474900"/>
            <a:ext cx="553500" cy="2490000"/>
          </a:xfrm>
          <a:prstGeom prst="leftBrace">
            <a:avLst>
              <a:gd fmla="val 48708" name="adj1"/>
              <a:gd fmla="val 50145"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56"/>
          <p:cNvSpPr/>
          <p:nvPr/>
        </p:nvSpPr>
        <p:spPr>
          <a:xfrm rot="5400000">
            <a:off x="4097075" y="-474900"/>
            <a:ext cx="553500" cy="2490000"/>
          </a:xfrm>
          <a:prstGeom prst="leftBrace">
            <a:avLst>
              <a:gd fmla="val 48708" name="adj1"/>
              <a:gd fmla="val 50145"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56"/>
          <p:cNvSpPr/>
          <p:nvPr/>
        </p:nvSpPr>
        <p:spPr>
          <a:xfrm rot="5400000">
            <a:off x="6899400" y="-474900"/>
            <a:ext cx="553500" cy="2490000"/>
          </a:xfrm>
          <a:prstGeom prst="leftBrace">
            <a:avLst>
              <a:gd fmla="val 48708" name="adj1"/>
              <a:gd fmla="val 50145"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56"/>
          <p:cNvSpPr txBox="1"/>
          <p:nvPr/>
        </p:nvSpPr>
        <p:spPr>
          <a:xfrm>
            <a:off x="805275" y="110250"/>
            <a:ext cx="1617600" cy="3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8 bits sequence</a:t>
            </a:r>
            <a:endParaRPr/>
          </a:p>
        </p:txBody>
      </p:sp>
      <p:sp>
        <p:nvSpPr>
          <p:cNvPr id="840" name="Google Shape;840;p56"/>
          <p:cNvSpPr txBox="1"/>
          <p:nvPr/>
        </p:nvSpPr>
        <p:spPr>
          <a:xfrm>
            <a:off x="3565025" y="110250"/>
            <a:ext cx="1617600" cy="3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8 bits sequence</a:t>
            </a:r>
            <a:endParaRPr/>
          </a:p>
        </p:txBody>
      </p:sp>
      <p:sp>
        <p:nvSpPr>
          <p:cNvPr id="841" name="Google Shape;841;p56"/>
          <p:cNvSpPr txBox="1"/>
          <p:nvPr/>
        </p:nvSpPr>
        <p:spPr>
          <a:xfrm>
            <a:off x="6367350" y="110250"/>
            <a:ext cx="1617600" cy="3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8 bits sequence</a:t>
            </a:r>
            <a:endParaRPr/>
          </a:p>
        </p:txBody>
      </p:sp>
      <p:sp>
        <p:nvSpPr>
          <p:cNvPr id="842" name="Google Shape;842;p56"/>
          <p:cNvSpPr txBox="1"/>
          <p:nvPr/>
        </p:nvSpPr>
        <p:spPr>
          <a:xfrm>
            <a:off x="0" y="1863725"/>
            <a:ext cx="606600" cy="3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Start</a:t>
            </a:r>
            <a:endParaRPr/>
          </a:p>
        </p:txBody>
      </p:sp>
      <p:sp>
        <p:nvSpPr>
          <p:cNvPr id="843" name="Google Shape;843;p56"/>
          <p:cNvSpPr txBox="1"/>
          <p:nvPr/>
        </p:nvSpPr>
        <p:spPr>
          <a:xfrm>
            <a:off x="369075" y="1558925"/>
            <a:ext cx="2490000" cy="3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Device (Slave) Address</a:t>
            </a:r>
            <a:endParaRPr/>
          </a:p>
          <a:p>
            <a:pPr indent="0" lvl="0" marL="0" rtl="0" algn="ctr">
              <a:spcBef>
                <a:spcPts val="0"/>
              </a:spcBef>
              <a:spcAft>
                <a:spcPts val="0"/>
              </a:spcAft>
              <a:buNone/>
            </a:pPr>
            <a:r>
              <a:rPr lang="en-GB"/>
              <a:t>SLA+ R/W</a:t>
            </a:r>
            <a:endParaRPr/>
          </a:p>
        </p:txBody>
      </p:sp>
      <p:sp>
        <p:nvSpPr>
          <p:cNvPr id="844" name="Google Shape;844;p56"/>
          <p:cNvSpPr txBox="1"/>
          <p:nvPr/>
        </p:nvSpPr>
        <p:spPr>
          <a:xfrm>
            <a:off x="2625125" y="1863725"/>
            <a:ext cx="865500" cy="3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(N)Ack.</a:t>
            </a:r>
            <a:endParaRPr/>
          </a:p>
        </p:txBody>
      </p:sp>
      <p:sp>
        <p:nvSpPr>
          <p:cNvPr id="845" name="Google Shape;845;p56"/>
          <p:cNvSpPr txBox="1"/>
          <p:nvPr/>
        </p:nvSpPr>
        <p:spPr>
          <a:xfrm>
            <a:off x="3128825" y="1558925"/>
            <a:ext cx="2490000" cy="3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Internal </a:t>
            </a:r>
            <a:r>
              <a:rPr lang="en-GB"/>
              <a:t>Register</a:t>
            </a:r>
            <a:r>
              <a:rPr lang="en-GB"/>
              <a:t> Address</a:t>
            </a:r>
            <a:endParaRPr/>
          </a:p>
        </p:txBody>
      </p:sp>
      <p:sp>
        <p:nvSpPr>
          <p:cNvPr id="846" name="Google Shape;846;p56"/>
          <p:cNvSpPr txBox="1"/>
          <p:nvPr/>
        </p:nvSpPr>
        <p:spPr>
          <a:xfrm>
            <a:off x="5931150" y="1558925"/>
            <a:ext cx="2490000" cy="3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Data</a:t>
            </a:r>
            <a:endParaRPr/>
          </a:p>
        </p:txBody>
      </p:sp>
      <p:sp>
        <p:nvSpPr>
          <p:cNvPr id="847" name="Google Shape;847;p56"/>
          <p:cNvSpPr txBox="1"/>
          <p:nvPr/>
        </p:nvSpPr>
        <p:spPr>
          <a:xfrm>
            <a:off x="8537400" y="1787525"/>
            <a:ext cx="606600" cy="3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Stop</a:t>
            </a:r>
            <a:endParaRPr/>
          </a:p>
        </p:txBody>
      </p:sp>
      <p:pic>
        <p:nvPicPr>
          <p:cNvPr id="848" name="Google Shape;848;p56"/>
          <p:cNvPicPr preferRelativeResize="0"/>
          <p:nvPr/>
        </p:nvPicPr>
        <p:blipFill>
          <a:blip r:embed="rId3">
            <a:alphaModFix/>
          </a:blip>
          <a:stretch>
            <a:fillRect/>
          </a:stretch>
        </p:blipFill>
        <p:spPr>
          <a:xfrm>
            <a:off x="988825" y="2241575"/>
            <a:ext cx="7166355" cy="28966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pic>
        <p:nvPicPr>
          <p:cNvPr id="853" name="Google Shape;853;p57"/>
          <p:cNvPicPr preferRelativeResize="0"/>
          <p:nvPr/>
        </p:nvPicPr>
        <p:blipFill>
          <a:blip r:embed="rId3">
            <a:alphaModFix/>
          </a:blip>
          <a:stretch>
            <a:fillRect/>
          </a:stretch>
        </p:blipFill>
        <p:spPr>
          <a:xfrm>
            <a:off x="172896" y="127700"/>
            <a:ext cx="2915976" cy="2642300"/>
          </a:xfrm>
          <a:prstGeom prst="rect">
            <a:avLst/>
          </a:prstGeom>
          <a:noFill/>
          <a:ln>
            <a:noFill/>
          </a:ln>
        </p:spPr>
      </p:pic>
      <p:sp>
        <p:nvSpPr>
          <p:cNvPr id="854" name="Google Shape;854;p57"/>
          <p:cNvSpPr txBox="1"/>
          <p:nvPr/>
        </p:nvSpPr>
        <p:spPr>
          <a:xfrm>
            <a:off x="3164150" y="78050"/>
            <a:ext cx="5796000" cy="46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Registers</a:t>
            </a:r>
            <a:endParaRPr b="1" u="sng"/>
          </a:p>
          <a:p>
            <a:pPr indent="0" lvl="0" marL="0" rtl="0" algn="l">
              <a:spcBef>
                <a:spcPts val="0"/>
              </a:spcBef>
              <a:spcAft>
                <a:spcPts val="0"/>
              </a:spcAft>
              <a:buNone/>
            </a:pPr>
            <a:r>
              <a:t/>
            </a:r>
            <a:endParaRPr/>
          </a:p>
          <a:p>
            <a:pPr indent="0" lvl="0" marL="0" rtl="0" algn="l">
              <a:spcBef>
                <a:spcPts val="0"/>
              </a:spcBef>
              <a:spcAft>
                <a:spcPts val="0"/>
              </a:spcAft>
              <a:buNone/>
            </a:pPr>
            <a:r>
              <a:rPr lang="en-GB" sz="1000"/>
              <a:t>SCL Defined by:</a:t>
            </a:r>
            <a:endParaRPr sz="1000"/>
          </a:p>
          <a:p>
            <a:pPr indent="0" lvl="0" marL="0" rtl="0" algn="l">
              <a:spcBef>
                <a:spcPts val="0"/>
              </a:spcBef>
              <a:spcAft>
                <a:spcPts val="0"/>
              </a:spcAft>
              <a:buNone/>
            </a:pPr>
            <a:r>
              <a:rPr lang="en-GB" sz="1000"/>
              <a:t>TWI Bit Rate Register (</a:t>
            </a:r>
            <a:r>
              <a:rPr b="1" lang="en-GB" sz="1000"/>
              <a:t>TWBR</a:t>
            </a:r>
            <a:r>
              <a:rPr lang="en-GB" sz="1000"/>
              <a:t>)</a:t>
            </a:r>
            <a:endParaRPr sz="1000"/>
          </a:p>
          <a:p>
            <a:pPr indent="0" lvl="0" marL="0" rtl="0" algn="l">
              <a:spcBef>
                <a:spcPts val="0"/>
              </a:spcBef>
              <a:spcAft>
                <a:spcPts val="0"/>
              </a:spcAft>
              <a:buNone/>
            </a:pPr>
            <a:r>
              <a:rPr lang="en-GB" sz="1000"/>
              <a:t>TWI Status Register (</a:t>
            </a:r>
            <a:r>
              <a:rPr b="1" lang="en-GB" sz="1000"/>
              <a:t>TWSR</a:t>
            </a:r>
            <a:r>
              <a:rPr lang="en-GB" sz="1000"/>
              <a: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GB" sz="1000"/>
              <a:t>Note: CPU clock frequency in the Slave must be at least 16 times higher than the SCL frequency</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GB" sz="1000"/>
              <a:t>Data and Address Shift Register (</a:t>
            </a:r>
            <a:r>
              <a:rPr b="1" lang="en-GB" sz="1000"/>
              <a:t>TWDR</a:t>
            </a:r>
            <a:r>
              <a:rPr lang="en-GB" sz="1000"/>
              <a:t>)</a:t>
            </a:r>
            <a:endParaRPr sz="1000"/>
          </a:p>
          <a:p>
            <a:pPr indent="0" lvl="0" marL="0" rtl="0" algn="l">
              <a:spcBef>
                <a:spcPts val="0"/>
              </a:spcBef>
              <a:spcAft>
                <a:spcPts val="0"/>
              </a:spcAft>
              <a:buNone/>
            </a:pPr>
            <a:r>
              <a:rPr b="1" lang="en-GB" sz="1000"/>
              <a:t>Note</a:t>
            </a:r>
            <a:r>
              <a:rPr lang="en-GB" sz="1000"/>
              <a:t>: (N)ACK Register is not directly accessible by the application software</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GB" sz="1000"/>
              <a:t>TWI Control Register (</a:t>
            </a:r>
            <a:r>
              <a:rPr b="1" lang="en-GB" sz="1000"/>
              <a:t>TWCR</a:t>
            </a:r>
            <a:r>
              <a:rPr lang="en-GB" sz="1000"/>
              <a: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b="1" lang="en-GB" sz="1000"/>
              <a:t>Note</a:t>
            </a:r>
            <a:r>
              <a:rPr lang="en-GB" sz="1000"/>
              <a:t>: When in Transmitter mode, the value of the received (N)ACK bit can be determined by the value in the </a:t>
            </a:r>
            <a:r>
              <a:rPr b="1" lang="en-GB" sz="1000"/>
              <a:t>TWSR</a:t>
            </a:r>
            <a:r>
              <a:rPr lang="en-GB" sz="1000"/>
              <a: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GB" sz="1000"/>
              <a:t>The Address Match unit checks if received address bytes match the seven-bit address in the TWI Address Register (</a:t>
            </a:r>
            <a:r>
              <a:rPr b="1" lang="en-GB" sz="1000"/>
              <a:t>TWAR</a:t>
            </a:r>
            <a:r>
              <a:rPr lang="en-GB" sz="1000"/>
              <a: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GB" sz="1000"/>
              <a:t>TWI Interrupt Flag (</a:t>
            </a:r>
            <a:r>
              <a:rPr b="1" lang="en-GB" sz="1000"/>
              <a:t>TWINT</a:t>
            </a:r>
            <a:r>
              <a:rPr lang="en-GB" sz="1000"/>
              <a: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GB" sz="1000"/>
              <a:t>TWI Interrupt Enable (</a:t>
            </a:r>
            <a:r>
              <a:rPr b="1" lang="en-GB" sz="1000"/>
              <a:t>TWIE</a:t>
            </a:r>
            <a:r>
              <a:rPr lang="en-GB" sz="1000"/>
              <a:t>) bit in TWCR</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GB" sz="1000"/>
              <a:t>twi .h where the staus are defined</a:t>
            </a:r>
            <a:endParaRPr sz="1000"/>
          </a:p>
          <a:p>
            <a:pPr indent="0" lvl="0" marL="0" rtl="0" algn="l">
              <a:spcBef>
                <a:spcPts val="0"/>
              </a:spcBef>
              <a:spcAft>
                <a:spcPts val="0"/>
              </a:spcAft>
              <a:buNone/>
            </a:pPr>
            <a:r>
              <a:rPr lang="en-GB" sz="1000"/>
              <a:t>C:\Program Files (x86)\Arduino\hardware\tools\avr\avr\include\util</a:t>
            </a:r>
            <a:endParaRPr sz="1000"/>
          </a:p>
          <a:p>
            <a:pPr indent="0" lvl="0" marL="0" rtl="0" algn="l">
              <a:spcBef>
                <a:spcPts val="0"/>
              </a:spcBef>
              <a:spcAft>
                <a:spcPts val="0"/>
              </a:spcAft>
              <a:buNone/>
            </a:pPr>
            <a:r>
              <a:rPr lang="en-GB" sz="1000"/>
              <a:t>#include &lt;compat/twi.h&gt;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855" name="Google Shape;855;p57"/>
          <p:cNvSpPr txBox="1"/>
          <p:nvPr/>
        </p:nvSpPr>
        <p:spPr>
          <a:xfrm>
            <a:off x="521700" y="3116875"/>
            <a:ext cx="1203900" cy="37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hlinkClick r:id="rId4"/>
              </a:rPr>
              <a:t>Link</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58"/>
          <p:cNvSpPr txBox="1"/>
          <p:nvPr/>
        </p:nvSpPr>
        <p:spPr>
          <a:xfrm>
            <a:off x="113500" y="113500"/>
            <a:ext cx="1908300" cy="4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Master Writter</a:t>
            </a:r>
            <a:endParaRPr/>
          </a:p>
        </p:txBody>
      </p:sp>
      <p:pic>
        <p:nvPicPr>
          <p:cNvPr id="861" name="Google Shape;861;p58"/>
          <p:cNvPicPr preferRelativeResize="0"/>
          <p:nvPr/>
        </p:nvPicPr>
        <p:blipFill>
          <a:blip r:embed="rId3">
            <a:alphaModFix/>
          </a:blip>
          <a:stretch>
            <a:fillRect/>
          </a:stretch>
        </p:blipFill>
        <p:spPr>
          <a:xfrm>
            <a:off x="1525293" y="113493"/>
            <a:ext cx="3064825" cy="12546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59"/>
          <p:cNvSpPr txBox="1"/>
          <p:nvPr/>
        </p:nvSpPr>
        <p:spPr>
          <a:xfrm>
            <a:off x="78800" y="0"/>
            <a:ext cx="5817600" cy="24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u="sng"/>
              <a:t>Controller</a:t>
            </a:r>
            <a:endParaRPr b="1" u="sng"/>
          </a:p>
          <a:p>
            <a:pPr indent="0" lvl="0" marL="0" rtl="0" algn="l">
              <a:spcBef>
                <a:spcPts val="0"/>
              </a:spcBef>
              <a:spcAft>
                <a:spcPts val="0"/>
              </a:spcAft>
              <a:buNone/>
            </a:pPr>
            <a:r>
              <a:rPr lang="en-GB" sz="800"/>
              <a:t>This module is the main controller to the application it is responsible for scheduling tasks. </a:t>
            </a:r>
            <a:endParaRPr sz="800"/>
          </a:p>
          <a:p>
            <a:pPr indent="0" lvl="0" marL="0" rtl="0" algn="l">
              <a:spcBef>
                <a:spcPts val="0"/>
              </a:spcBef>
              <a:spcAft>
                <a:spcPts val="0"/>
              </a:spcAft>
              <a:buNone/>
            </a:pPr>
            <a:r>
              <a:rPr lang="en-GB" sz="800"/>
              <a:t>The controller will also handle timing and be linked to Timer/Counter 1 16 bit</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When TC1 Overflow it will generate an interrupt. Rate = 1MHz 1us</a:t>
            </a:r>
            <a:endParaRPr sz="800"/>
          </a:p>
          <a:p>
            <a:pPr indent="0" lvl="0" marL="0" rtl="0" algn="l">
              <a:spcBef>
                <a:spcPts val="0"/>
              </a:spcBef>
              <a:spcAft>
                <a:spcPts val="0"/>
              </a:spcAft>
              <a:buNone/>
            </a:pPr>
            <a:r>
              <a:rPr lang="en-GB" sz="800"/>
              <a:t>Needs to be 1MHz to enable accurate measurement of Read PWM signals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The ISR (Interrupt Service Routine) will increment a counter. - This counter will increment a bunch of counters. Count will increment every 10us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Need to have a task offset from the start to prevent task clash</a:t>
            </a:r>
            <a:endParaRPr sz="8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b="1" lang="en-GB" sz="1000" u="sng"/>
              <a:t>Controller ISR</a:t>
            </a:r>
            <a:endParaRPr b="1" sz="1000" u="sng"/>
          </a:p>
          <a:p>
            <a:pPr indent="0" lvl="0" marL="0" rtl="0" algn="l">
              <a:spcBef>
                <a:spcPts val="0"/>
              </a:spcBef>
              <a:spcAft>
                <a:spcPts val="0"/>
              </a:spcAft>
              <a:buNone/>
            </a:pPr>
            <a:r>
              <a:rPr lang="en-GB" sz="1000"/>
              <a:t>//Increment global variable task counters</a:t>
            </a:r>
            <a:endParaRPr sz="1000"/>
          </a:p>
          <a:p>
            <a:pPr indent="0" lvl="0" marL="0" rtl="0" algn="l">
              <a:spcBef>
                <a:spcPts val="0"/>
              </a:spcBef>
              <a:spcAft>
                <a:spcPts val="0"/>
              </a:spcAft>
              <a:buNone/>
            </a:pPr>
            <a:r>
              <a:rPr lang="en-GB" sz="1000"/>
              <a:t>//Called every 1us 1MHz</a:t>
            </a:r>
            <a:endParaRPr sz="1000"/>
          </a:p>
          <a:p>
            <a:pPr indent="0" lvl="0" marL="0" rtl="0" algn="l">
              <a:spcBef>
                <a:spcPts val="0"/>
              </a:spcBef>
              <a:spcAft>
                <a:spcPts val="0"/>
              </a:spcAft>
              <a:buNone/>
            </a:pPr>
            <a:r>
              <a:rPr lang="en-GB" sz="1000"/>
              <a:t>task_a_count_G++</a:t>
            </a:r>
            <a:endParaRPr sz="1000"/>
          </a:p>
          <a:p>
            <a:pPr indent="0" lvl="0" marL="0" rtl="0" algn="l">
              <a:spcBef>
                <a:spcPts val="0"/>
              </a:spcBef>
              <a:spcAft>
                <a:spcPts val="0"/>
              </a:spcAft>
              <a:buNone/>
            </a:pPr>
            <a:r>
              <a:rPr lang="en-GB" sz="1000"/>
              <a:t>task_b_count_G++</a:t>
            </a:r>
            <a:endParaRPr sz="1000"/>
          </a:p>
          <a:p>
            <a:pPr indent="0" lvl="0" marL="0" rtl="0" algn="l">
              <a:spcBef>
                <a:spcPts val="0"/>
              </a:spcBef>
              <a:spcAft>
                <a:spcPts val="0"/>
              </a:spcAft>
              <a:buNone/>
            </a:pPr>
            <a:r>
              <a:rPr lang="en-GB" sz="1000"/>
              <a:t>task_c_count_G++</a:t>
            </a:r>
            <a:endParaRPr sz="1000"/>
          </a:p>
          <a:p>
            <a:pPr indent="0" lvl="0" marL="0" rtl="0" algn="l">
              <a:spcBef>
                <a:spcPts val="0"/>
              </a:spcBef>
              <a:spcAft>
                <a:spcPts val="0"/>
              </a:spcAft>
              <a:buNone/>
            </a:pPr>
            <a:r>
              <a:rPr lang="en-GB" sz="1000"/>
              <a:t>task_d_count_G++</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p:txBody>
      </p:sp>
      <p:sp>
        <p:nvSpPr>
          <p:cNvPr id="867" name="Google Shape;867;p59"/>
          <p:cNvSpPr/>
          <p:nvPr/>
        </p:nvSpPr>
        <p:spPr>
          <a:xfrm>
            <a:off x="7219200" y="147375"/>
            <a:ext cx="971100" cy="102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t>Controller</a:t>
            </a:r>
            <a:endParaRPr sz="1000"/>
          </a:p>
          <a:p>
            <a:pPr indent="0" lvl="0" marL="0" rtl="0" algn="l">
              <a:spcBef>
                <a:spcPts val="0"/>
              </a:spcBef>
              <a:spcAft>
                <a:spcPts val="0"/>
              </a:spcAft>
              <a:buNone/>
            </a:pPr>
            <a:r>
              <a:rPr lang="en-GB" sz="1000"/>
              <a:t>Free Running</a:t>
            </a:r>
            <a:endParaRPr sz="1000"/>
          </a:p>
        </p:txBody>
      </p:sp>
      <p:sp>
        <p:nvSpPr>
          <p:cNvPr id="868" name="Google Shape;868;p59"/>
          <p:cNvSpPr/>
          <p:nvPr/>
        </p:nvSpPr>
        <p:spPr>
          <a:xfrm>
            <a:off x="6373675" y="1209850"/>
            <a:ext cx="1048500" cy="337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t>Interrupt</a:t>
            </a:r>
            <a:endParaRPr sz="1000"/>
          </a:p>
        </p:txBody>
      </p:sp>
      <p:sp>
        <p:nvSpPr>
          <p:cNvPr id="869" name="Google Shape;869;p59"/>
          <p:cNvSpPr/>
          <p:nvPr/>
        </p:nvSpPr>
        <p:spPr>
          <a:xfrm>
            <a:off x="7422175" y="1209850"/>
            <a:ext cx="768000" cy="40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t>ISR</a:t>
            </a:r>
            <a:endParaRPr sz="1000"/>
          </a:p>
        </p:txBody>
      </p:sp>
      <p:sp>
        <p:nvSpPr>
          <p:cNvPr id="870" name="Google Shape;870;p59"/>
          <p:cNvSpPr/>
          <p:nvPr/>
        </p:nvSpPr>
        <p:spPr>
          <a:xfrm>
            <a:off x="7219200" y="1688300"/>
            <a:ext cx="971100" cy="102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t>Controller</a:t>
            </a:r>
            <a:endParaRPr sz="1000"/>
          </a:p>
          <a:p>
            <a:pPr indent="0" lvl="0" marL="0" rtl="0" algn="l">
              <a:spcBef>
                <a:spcPts val="0"/>
              </a:spcBef>
              <a:spcAft>
                <a:spcPts val="0"/>
              </a:spcAft>
              <a:buNone/>
            </a:pPr>
            <a:r>
              <a:rPr lang="en-GB" sz="1000"/>
              <a:t>Free Running</a:t>
            </a:r>
            <a:endParaRPr sz="1000"/>
          </a:p>
        </p:txBody>
      </p:sp>
      <p:sp>
        <p:nvSpPr>
          <p:cNvPr id="871" name="Google Shape;871;p59"/>
          <p:cNvSpPr txBox="1"/>
          <p:nvPr/>
        </p:nvSpPr>
        <p:spPr>
          <a:xfrm>
            <a:off x="3637750" y="1174575"/>
            <a:ext cx="3581400" cy="399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000" u="sng"/>
              <a:t>Controller</a:t>
            </a:r>
            <a:endParaRPr b="1" sz="1000" u="sng"/>
          </a:p>
          <a:p>
            <a:pPr indent="0" lvl="0" marL="0" rtl="0" algn="l">
              <a:spcBef>
                <a:spcPts val="0"/>
              </a:spcBef>
              <a:spcAft>
                <a:spcPts val="0"/>
              </a:spcAft>
              <a:buNone/>
            </a:pPr>
            <a:r>
              <a:rPr lang="en-GB" sz="800">
                <a:solidFill>
                  <a:schemeClr val="dk1"/>
                </a:solidFill>
              </a:rPr>
              <a:t>TASK_A_TICKS = 10 //[10us]</a:t>
            </a:r>
            <a:endParaRPr sz="800">
              <a:solidFill>
                <a:schemeClr val="dk1"/>
              </a:solidFill>
            </a:endParaRPr>
          </a:p>
          <a:p>
            <a:pPr indent="0" lvl="0" marL="0" rtl="0" algn="l">
              <a:spcBef>
                <a:spcPts val="0"/>
              </a:spcBef>
              <a:spcAft>
                <a:spcPts val="0"/>
              </a:spcAft>
              <a:buNone/>
            </a:pPr>
            <a:r>
              <a:rPr lang="en-GB" sz="800">
                <a:solidFill>
                  <a:schemeClr val="dk1"/>
                </a:solidFill>
              </a:rPr>
              <a:t>TASK_A_OFFSET = 0</a:t>
            </a:r>
            <a:endParaRPr sz="800">
              <a:solidFill>
                <a:schemeClr val="dk1"/>
              </a:solidFill>
            </a:endParaRPr>
          </a:p>
          <a:p>
            <a:pPr indent="0" lvl="0" marL="0" rtl="0" algn="l">
              <a:spcBef>
                <a:spcPts val="0"/>
              </a:spcBef>
              <a:spcAft>
                <a:spcPts val="0"/>
              </a:spcAft>
              <a:buNone/>
            </a:pPr>
            <a:r>
              <a:rPr lang="en-GB" sz="800">
                <a:solidFill>
                  <a:schemeClr val="dk1"/>
                </a:solidFill>
              </a:rPr>
              <a:t>TASK_B_TICKS = 50000 //[50,000us]</a:t>
            </a:r>
            <a:endParaRPr sz="800">
              <a:solidFill>
                <a:schemeClr val="dk1"/>
              </a:solidFill>
            </a:endParaRPr>
          </a:p>
          <a:p>
            <a:pPr indent="0" lvl="0" marL="0" rtl="0" algn="l">
              <a:spcBef>
                <a:spcPts val="0"/>
              </a:spcBef>
              <a:spcAft>
                <a:spcPts val="0"/>
              </a:spcAft>
              <a:buNone/>
            </a:pPr>
            <a:r>
              <a:rPr lang="en-GB" sz="800">
                <a:solidFill>
                  <a:schemeClr val="dk1"/>
                </a:solidFill>
              </a:rPr>
              <a:t>TASK_B_OFFSET = 1</a:t>
            </a:r>
            <a:endParaRPr sz="800">
              <a:solidFill>
                <a:schemeClr val="dk1"/>
              </a:solidFill>
            </a:endParaRPr>
          </a:p>
          <a:p>
            <a:pPr indent="0" lvl="0" marL="0" rtl="0" algn="l">
              <a:spcBef>
                <a:spcPts val="0"/>
              </a:spcBef>
              <a:spcAft>
                <a:spcPts val="0"/>
              </a:spcAft>
              <a:buNone/>
            </a:pPr>
            <a:r>
              <a:rPr lang="en-GB" sz="800">
                <a:solidFill>
                  <a:schemeClr val="dk1"/>
                </a:solidFill>
              </a:rPr>
              <a:t>TASK_C_TICKS = 500 //[500us]</a:t>
            </a:r>
            <a:endParaRPr sz="800">
              <a:solidFill>
                <a:schemeClr val="dk1"/>
              </a:solidFill>
            </a:endParaRPr>
          </a:p>
          <a:p>
            <a:pPr indent="0" lvl="0" marL="0" rtl="0" algn="l">
              <a:spcBef>
                <a:spcPts val="0"/>
              </a:spcBef>
              <a:spcAft>
                <a:spcPts val="0"/>
              </a:spcAft>
              <a:buNone/>
            </a:pPr>
            <a:r>
              <a:rPr lang="en-GB" sz="800">
                <a:solidFill>
                  <a:schemeClr val="dk1"/>
                </a:solidFill>
              </a:rPr>
              <a:t>TASK_C_OFFSET = 2</a:t>
            </a:r>
            <a:endParaRPr sz="800">
              <a:solidFill>
                <a:schemeClr val="dk1"/>
              </a:solidFill>
            </a:endParaRPr>
          </a:p>
          <a:p>
            <a:pPr indent="0" lvl="0" marL="0" rtl="0" algn="l">
              <a:spcBef>
                <a:spcPts val="0"/>
              </a:spcBef>
              <a:spcAft>
                <a:spcPts val="0"/>
              </a:spcAft>
              <a:buNone/>
            </a:pPr>
            <a:r>
              <a:rPr lang="en-GB" sz="800">
                <a:solidFill>
                  <a:schemeClr val="dk1"/>
                </a:solidFill>
              </a:rPr>
              <a:t>TASK_D_TICKS=  2000 //[2,000us]</a:t>
            </a:r>
            <a:endParaRPr sz="800">
              <a:solidFill>
                <a:schemeClr val="dk1"/>
              </a:solidFill>
            </a:endParaRPr>
          </a:p>
          <a:p>
            <a:pPr indent="0" lvl="0" marL="0" rtl="0" algn="l">
              <a:spcBef>
                <a:spcPts val="0"/>
              </a:spcBef>
              <a:spcAft>
                <a:spcPts val="0"/>
              </a:spcAft>
              <a:buNone/>
            </a:pPr>
            <a:r>
              <a:rPr lang="en-GB" sz="800">
                <a:solidFill>
                  <a:schemeClr val="dk1"/>
                </a:solidFill>
              </a:rPr>
              <a:t>TASK_D_OFFSET = 3</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rPr lang="en-GB" sz="800">
                <a:solidFill>
                  <a:schemeClr val="dk1"/>
                </a:solidFill>
              </a:rPr>
              <a:t>initTasks(){</a:t>
            </a:r>
            <a:endParaRPr sz="800">
              <a:solidFill>
                <a:schemeClr val="dk1"/>
              </a:solidFill>
            </a:endParaRPr>
          </a:p>
          <a:p>
            <a:pPr indent="0" lvl="0" marL="0" rtl="0" algn="l">
              <a:spcBef>
                <a:spcPts val="0"/>
              </a:spcBef>
              <a:spcAft>
                <a:spcPts val="0"/>
              </a:spcAft>
              <a:buNone/>
            </a:pPr>
            <a:r>
              <a:rPr lang="en-GB" sz="800">
                <a:solidFill>
                  <a:schemeClr val="dk1"/>
                </a:solidFill>
              </a:rPr>
              <a:t>task_a_count_G = TASK_A_OFFSET;</a:t>
            </a:r>
            <a:endParaRPr sz="800">
              <a:solidFill>
                <a:schemeClr val="dk1"/>
              </a:solidFill>
            </a:endParaRPr>
          </a:p>
          <a:p>
            <a:pPr indent="0" lvl="0" marL="0" rtl="0" algn="l">
              <a:spcBef>
                <a:spcPts val="0"/>
              </a:spcBef>
              <a:spcAft>
                <a:spcPts val="0"/>
              </a:spcAft>
              <a:buNone/>
            </a:pPr>
            <a:r>
              <a:rPr lang="en-GB" sz="800">
                <a:solidFill>
                  <a:schemeClr val="dk1"/>
                </a:solidFill>
              </a:rPr>
              <a:t>task_b_count_G = TASK_B_OFFSET;</a:t>
            </a:r>
            <a:endParaRPr sz="800">
              <a:solidFill>
                <a:schemeClr val="dk1"/>
              </a:solidFill>
            </a:endParaRPr>
          </a:p>
          <a:p>
            <a:pPr indent="0" lvl="0" marL="0" rtl="0" algn="l">
              <a:spcBef>
                <a:spcPts val="0"/>
              </a:spcBef>
              <a:spcAft>
                <a:spcPts val="0"/>
              </a:spcAft>
              <a:buNone/>
            </a:pPr>
            <a:r>
              <a:rPr lang="en-GB" sz="800">
                <a:solidFill>
                  <a:schemeClr val="dk1"/>
                </a:solidFill>
              </a:rPr>
              <a:t>task_c_count_G = TASK_C_OFFSET;</a:t>
            </a:r>
            <a:endParaRPr sz="800">
              <a:solidFill>
                <a:schemeClr val="dk1"/>
              </a:solidFill>
            </a:endParaRPr>
          </a:p>
          <a:p>
            <a:pPr indent="0" lvl="0" marL="0" rtl="0" algn="l">
              <a:spcBef>
                <a:spcPts val="0"/>
              </a:spcBef>
              <a:spcAft>
                <a:spcPts val="0"/>
              </a:spcAft>
              <a:buNone/>
            </a:pPr>
            <a:r>
              <a:rPr lang="en-GB" sz="800">
                <a:solidFill>
                  <a:schemeClr val="dk1"/>
                </a:solidFill>
              </a:rPr>
              <a:t>task_d_count_G = TASK_D_OFFSET;</a:t>
            </a:r>
            <a:endParaRPr sz="800">
              <a:solidFill>
                <a:schemeClr val="dk1"/>
              </a:solidFill>
            </a:endParaRPr>
          </a:p>
          <a:p>
            <a:pPr indent="0" lvl="0" marL="0" rtl="0" algn="l">
              <a:spcBef>
                <a:spcPts val="0"/>
              </a:spcBef>
              <a:spcAft>
                <a:spcPts val="0"/>
              </a:spcAft>
              <a:buNone/>
            </a:pPr>
            <a:r>
              <a:rPr lang="en-GB" sz="800">
                <a:solidFill>
                  <a:schemeClr val="dk1"/>
                </a:solidFill>
              </a:rPr>
              <a:t>}</a:t>
            </a:r>
            <a:endParaRPr sz="800">
              <a:solidFill>
                <a:schemeClr val="dk1"/>
              </a:solidFill>
            </a:endParaRPr>
          </a:p>
          <a:p>
            <a:pPr indent="45720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rPr lang="en-GB" sz="800">
                <a:solidFill>
                  <a:schemeClr val="dk1"/>
                </a:solidFill>
              </a:rPr>
              <a:t>// Will be true when task duration has elapsed</a:t>
            </a:r>
            <a:endParaRPr sz="800">
              <a:solidFill>
                <a:schemeClr val="dk1"/>
              </a:solidFill>
            </a:endParaRPr>
          </a:p>
          <a:p>
            <a:pPr indent="0" lvl="0" marL="0" rtl="0" algn="l">
              <a:spcBef>
                <a:spcPts val="0"/>
              </a:spcBef>
              <a:spcAft>
                <a:spcPts val="0"/>
              </a:spcAft>
              <a:buNone/>
            </a:pPr>
            <a:r>
              <a:rPr lang="en-GB" sz="800">
                <a:solidFill>
                  <a:schemeClr val="dk1"/>
                </a:solidFill>
              </a:rPr>
              <a:t>If (task_a_count_G &gt;= task_a_ticks + TASK_A_OFFSET){</a:t>
            </a:r>
            <a:endParaRPr sz="800">
              <a:solidFill>
                <a:schemeClr val="dk1"/>
              </a:solidFill>
            </a:endParaRPr>
          </a:p>
          <a:p>
            <a:pPr indent="457200" lvl="0" marL="0" rtl="0" algn="l">
              <a:spcBef>
                <a:spcPts val="0"/>
              </a:spcBef>
              <a:spcAft>
                <a:spcPts val="0"/>
              </a:spcAft>
              <a:buNone/>
            </a:pPr>
            <a:r>
              <a:rPr lang="en-GB" sz="800">
                <a:solidFill>
                  <a:schemeClr val="dk1"/>
                </a:solidFill>
              </a:rPr>
              <a:t>task_a_counter = TASK_A_OFFSET; //Rest the counter</a:t>
            </a:r>
            <a:endParaRPr sz="800">
              <a:solidFill>
                <a:schemeClr val="dk1"/>
              </a:solidFill>
            </a:endParaRPr>
          </a:p>
          <a:p>
            <a:pPr indent="457200" lvl="0" marL="0" rtl="0" algn="l">
              <a:spcBef>
                <a:spcPts val="0"/>
              </a:spcBef>
              <a:spcAft>
                <a:spcPts val="0"/>
              </a:spcAft>
              <a:buNone/>
            </a:pPr>
            <a:r>
              <a:rPr lang="en-GB" sz="800">
                <a:solidFill>
                  <a:schemeClr val="dk1"/>
                </a:solidFill>
              </a:rPr>
              <a:t>[TASK CODE]</a:t>
            </a:r>
            <a:endParaRPr sz="800">
              <a:solidFill>
                <a:schemeClr val="dk1"/>
              </a:solidFill>
            </a:endParaRPr>
          </a:p>
          <a:p>
            <a:pPr indent="457200" lvl="0" marL="0" rtl="0" algn="l">
              <a:spcBef>
                <a:spcPts val="0"/>
              </a:spcBef>
              <a:spcAft>
                <a:spcPts val="0"/>
              </a:spcAft>
              <a:buNone/>
            </a:pPr>
            <a:r>
              <a:rPr lang="en-GB" sz="800">
                <a:solidFill>
                  <a:schemeClr val="dk1"/>
                </a:solidFill>
              </a:rPr>
              <a:t>}</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rPr lang="en-GB" sz="800">
                <a:solidFill>
                  <a:schemeClr val="dk1"/>
                </a:solidFill>
              </a:rPr>
              <a:t>if(task_b_count_G &gt;= task_b_ticks + TASK_B_OFFSET){</a:t>
            </a:r>
            <a:endParaRPr sz="800">
              <a:solidFill>
                <a:schemeClr val="dk1"/>
              </a:solidFill>
            </a:endParaRPr>
          </a:p>
          <a:p>
            <a:pPr indent="457200" lvl="0" marL="0" rtl="0" algn="l">
              <a:spcBef>
                <a:spcPts val="0"/>
              </a:spcBef>
              <a:spcAft>
                <a:spcPts val="0"/>
              </a:spcAft>
              <a:buNone/>
            </a:pPr>
            <a:r>
              <a:rPr lang="en-GB" sz="800">
                <a:solidFill>
                  <a:schemeClr val="dk1"/>
                </a:solidFill>
              </a:rPr>
              <a:t>Task_b_counter = TASK_B_OFFSET;</a:t>
            </a:r>
            <a:endParaRPr sz="800">
              <a:solidFill>
                <a:schemeClr val="dk1"/>
              </a:solidFill>
            </a:endParaRPr>
          </a:p>
          <a:p>
            <a:pPr indent="457200" lvl="0" marL="0" rtl="0" algn="l">
              <a:spcBef>
                <a:spcPts val="0"/>
              </a:spcBef>
              <a:spcAft>
                <a:spcPts val="0"/>
              </a:spcAft>
              <a:buNone/>
            </a:pPr>
            <a:r>
              <a:rPr lang="en-GB" sz="800">
                <a:solidFill>
                  <a:schemeClr val="dk1"/>
                </a:solidFill>
              </a:rPr>
              <a:t>[TASK CODE]</a:t>
            </a:r>
            <a:endParaRPr sz="800">
              <a:solidFill>
                <a:schemeClr val="dk1"/>
              </a:solidFill>
            </a:endParaRPr>
          </a:p>
          <a:p>
            <a:pPr indent="457200" lvl="0" marL="0" rtl="0" algn="l">
              <a:spcBef>
                <a:spcPts val="0"/>
              </a:spcBef>
              <a:spcAft>
                <a:spcPts val="0"/>
              </a:spcAft>
              <a:buClr>
                <a:schemeClr val="dk1"/>
              </a:buClr>
              <a:buSzPts val="1100"/>
              <a:buFont typeface="Arial"/>
              <a:buNone/>
            </a:pPr>
            <a:r>
              <a:rPr lang="en-GB" sz="800">
                <a:solidFill>
                  <a:schemeClr val="dk1"/>
                </a:solidFill>
              </a:rPr>
              <a:t>}</a:t>
            </a:r>
            <a:endParaRPr sz="800"/>
          </a:p>
        </p:txBody>
      </p:sp>
      <p:sp>
        <p:nvSpPr>
          <p:cNvPr id="872" name="Google Shape;872;p59"/>
          <p:cNvSpPr txBox="1"/>
          <p:nvPr/>
        </p:nvSpPr>
        <p:spPr>
          <a:xfrm>
            <a:off x="655475" y="3631875"/>
            <a:ext cx="1036800" cy="9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600"/>
              <a:t>Set flags, push entries on a private stack or make entries in an array, etc. inside the interrupt handler to log the event, then have the main loop process the events as it can.</a:t>
            </a:r>
            <a:endParaRPr sz="6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60"/>
          <p:cNvSpPr/>
          <p:nvPr/>
        </p:nvSpPr>
        <p:spPr>
          <a:xfrm>
            <a:off x="468200" y="334400"/>
            <a:ext cx="782700" cy="38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Radio (100 KHz)</a:t>
            </a:r>
            <a:endParaRPr sz="1000"/>
          </a:p>
        </p:txBody>
      </p:sp>
      <p:sp>
        <p:nvSpPr>
          <p:cNvPr id="878" name="Google Shape;878;p60"/>
          <p:cNvSpPr/>
          <p:nvPr/>
        </p:nvSpPr>
        <p:spPr>
          <a:xfrm>
            <a:off x="374600" y="1462500"/>
            <a:ext cx="969900" cy="481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PID Control (200Hz)</a:t>
            </a:r>
            <a:endParaRPr sz="1000"/>
          </a:p>
        </p:txBody>
      </p:sp>
      <p:sp>
        <p:nvSpPr>
          <p:cNvPr id="879" name="Google Shape;879;p60"/>
          <p:cNvSpPr/>
          <p:nvPr/>
        </p:nvSpPr>
        <p:spPr>
          <a:xfrm>
            <a:off x="468200" y="927200"/>
            <a:ext cx="782700" cy="38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Sensors (100Hz)</a:t>
            </a:r>
            <a:endParaRPr sz="1000"/>
          </a:p>
        </p:txBody>
      </p:sp>
      <p:sp>
        <p:nvSpPr>
          <p:cNvPr id="880" name="Google Shape;880;p60"/>
          <p:cNvSpPr/>
          <p:nvPr/>
        </p:nvSpPr>
        <p:spPr>
          <a:xfrm>
            <a:off x="267650" y="2124575"/>
            <a:ext cx="1183800" cy="608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Cyclic Collective Throttle Mixer (200Hz)</a:t>
            </a:r>
            <a:endParaRPr sz="1000"/>
          </a:p>
        </p:txBody>
      </p:sp>
      <p:sp>
        <p:nvSpPr>
          <p:cNvPr id="881" name="Google Shape;881;p60"/>
          <p:cNvSpPr/>
          <p:nvPr/>
        </p:nvSpPr>
        <p:spPr>
          <a:xfrm>
            <a:off x="418100" y="3361900"/>
            <a:ext cx="882900" cy="515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Digital Write (20hz)</a:t>
            </a:r>
            <a:endParaRPr sz="1000"/>
          </a:p>
        </p:txBody>
      </p:sp>
      <p:sp>
        <p:nvSpPr>
          <p:cNvPr id="882" name="Google Shape;882;p60"/>
          <p:cNvSpPr/>
          <p:nvPr/>
        </p:nvSpPr>
        <p:spPr>
          <a:xfrm>
            <a:off x="468200" y="2867050"/>
            <a:ext cx="782700" cy="38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Debug (100Hz)</a:t>
            </a:r>
            <a:endParaRPr sz="1000"/>
          </a:p>
        </p:txBody>
      </p:sp>
      <p:sp>
        <p:nvSpPr>
          <p:cNvPr id="883" name="Google Shape;883;p60"/>
          <p:cNvSpPr/>
          <p:nvPr/>
        </p:nvSpPr>
        <p:spPr>
          <a:xfrm>
            <a:off x="468200" y="3983950"/>
            <a:ext cx="782700" cy="38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Watchdog (1MHz)</a:t>
            </a:r>
            <a:endParaRPr sz="1000"/>
          </a:p>
        </p:txBody>
      </p:sp>
      <p:sp>
        <p:nvSpPr>
          <p:cNvPr id="884" name="Google Shape;884;p60"/>
          <p:cNvSpPr txBox="1"/>
          <p:nvPr/>
        </p:nvSpPr>
        <p:spPr>
          <a:xfrm>
            <a:off x="1645375" y="133700"/>
            <a:ext cx="6915900" cy="8562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SzPts val="700"/>
              <a:buChar char="-"/>
            </a:pPr>
            <a:r>
              <a:rPr lang="en-GB" sz="700"/>
              <a:t>The Radio Module is responsible for calculating the pulse width of the incoming PWM signal. </a:t>
            </a:r>
            <a:endParaRPr sz="700"/>
          </a:p>
          <a:p>
            <a:pPr indent="-273050" lvl="0" marL="457200" rtl="0" algn="l">
              <a:spcBef>
                <a:spcPts val="0"/>
              </a:spcBef>
              <a:spcAft>
                <a:spcPts val="0"/>
              </a:spcAft>
              <a:buSzPts val="700"/>
              <a:buChar char="-"/>
            </a:pPr>
            <a:r>
              <a:rPr lang="en-GB" sz="700"/>
              <a:t>When a PCINT is generated the current clock tick and a flag are sent to the radio module</a:t>
            </a:r>
            <a:endParaRPr sz="700"/>
          </a:p>
          <a:p>
            <a:pPr indent="-273050" lvl="0" marL="457200" rtl="0" algn="l">
              <a:spcBef>
                <a:spcPts val="0"/>
              </a:spcBef>
              <a:spcAft>
                <a:spcPts val="0"/>
              </a:spcAft>
              <a:buSzPts val="700"/>
              <a:buChar char="-"/>
            </a:pPr>
            <a:r>
              <a:rPr lang="en-GB" sz="700"/>
              <a:t>The Radio module takes this flag and ticks and stores locally to module (local variable)</a:t>
            </a:r>
            <a:endParaRPr sz="700"/>
          </a:p>
          <a:p>
            <a:pPr indent="-273050" lvl="0" marL="457200" rtl="0" algn="l">
              <a:spcBef>
                <a:spcPts val="0"/>
              </a:spcBef>
              <a:spcAft>
                <a:spcPts val="0"/>
              </a:spcAft>
              <a:buSzPts val="700"/>
              <a:buChar char="-"/>
            </a:pPr>
            <a:r>
              <a:rPr lang="en-GB" sz="700"/>
              <a:t>Will wait for rising and falling edge - perform calculation to get pulse width</a:t>
            </a:r>
            <a:endParaRPr sz="700"/>
          </a:p>
          <a:p>
            <a:pPr indent="-273050" lvl="0" marL="457200" rtl="0" algn="l">
              <a:spcBef>
                <a:spcPts val="0"/>
              </a:spcBef>
              <a:spcAft>
                <a:spcPts val="0"/>
              </a:spcAft>
              <a:buSzPts val="700"/>
              <a:buChar char="-"/>
            </a:pPr>
            <a:r>
              <a:rPr lang="en-GB" sz="700"/>
              <a:t>Update global variable with pulse width </a:t>
            </a:r>
            <a:endParaRPr sz="700"/>
          </a:p>
          <a:p>
            <a:pPr indent="-273050" lvl="0" marL="457200" rtl="0" algn="l">
              <a:spcBef>
                <a:spcPts val="0"/>
              </a:spcBef>
              <a:spcAft>
                <a:spcPts val="0"/>
              </a:spcAft>
              <a:buSzPts val="700"/>
              <a:buChar char="-"/>
            </a:pPr>
            <a:r>
              <a:rPr lang="en-GB" sz="700"/>
              <a:t>This global variable will hold the latest value allowing other modules to read only this value (Global Variable will be wrapped in API: readThro, readELEV etc)</a:t>
            </a:r>
            <a:endParaRPr sz="700"/>
          </a:p>
        </p:txBody>
      </p:sp>
      <p:sp>
        <p:nvSpPr>
          <p:cNvPr id="885" name="Google Shape;885;p60"/>
          <p:cNvSpPr txBox="1"/>
          <p:nvPr/>
        </p:nvSpPr>
        <p:spPr>
          <a:xfrm>
            <a:off x="1645375" y="927200"/>
            <a:ext cx="6915900" cy="3879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SzPts val="700"/>
              <a:buChar char="-"/>
            </a:pPr>
            <a:r>
              <a:rPr lang="en-GB" sz="700"/>
              <a:t>Sensors are read at 100Hz as this is the speed new data is available from the IMU</a:t>
            </a:r>
            <a:endParaRPr sz="700"/>
          </a:p>
          <a:p>
            <a:pPr indent="-273050" lvl="0" marL="457200" rtl="0" algn="l">
              <a:spcBef>
                <a:spcPts val="0"/>
              </a:spcBef>
              <a:spcAft>
                <a:spcPts val="0"/>
              </a:spcAft>
              <a:buSzPts val="700"/>
              <a:buChar char="-"/>
            </a:pPr>
            <a:r>
              <a:rPr lang="en-GB" sz="700"/>
              <a:t>Instead of a fixed time period perhaps the IMU can send a PCINT to the arduino when it is ready for reading</a:t>
            </a:r>
            <a:endParaRPr sz="700"/>
          </a:p>
          <a:p>
            <a:pPr indent="-273050" lvl="0" marL="457200" rtl="0" algn="l">
              <a:spcBef>
                <a:spcPts val="0"/>
              </a:spcBef>
              <a:spcAft>
                <a:spcPts val="0"/>
              </a:spcAft>
              <a:buSzPts val="700"/>
              <a:buChar char="-"/>
            </a:pPr>
            <a:r>
              <a:rPr lang="en-GB" sz="700"/>
              <a:t>The read value will be shared in a global variable for other modules to read only</a:t>
            </a:r>
            <a:endParaRPr sz="700"/>
          </a:p>
        </p:txBody>
      </p:sp>
      <p:sp>
        <p:nvSpPr>
          <p:cNvPr id="886" name="Google Shape;886;p60"/>
          <p:cNvSpPr txBox="1"/>
          <p:nvPr/>
        </p:nvSpPr>
        <p:spPr>
          <a:xfrm>
            <a:off x="1645375" y="1425750"/>
            <a:ext cx="6915900" cy="5550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SzPts val="700"/>
              <a:buChar char="-"/>
            </a:pPr>
            <a:r>
              <a:rPr lang="en-GB" sz="700"/>
              <a:t>PID loops can only happen as fast as there is new data available. So is at the mercy of the IMU. 200Hz (5ms) loop rates. </a:t>
            </a:r>
            <a:endParaRPr sz="700"/>
          </a:p>
          <a:p>
            <a:pPr indent="-273050" lvl="0" marL="457200" rtl="0" algn="l">
              <a:spcBef>
                <a:spcPts val="0"/>
              </a:spcBef>
              <a:spcAft>
                <a:spcPts val="0"/>
              </a:spcAft>
              <a:buSzPts val="700"/>
              <a:buChar char="-"/>
            </a:pPr>
            <a:r>
              <a:rPr lang="en-GB" sz="700">
                <a:solidFill>
                  <a:srgbClr val="FF0000"/>
                </a:solidFill>
              </a:rPr>
              <a:t>RISK</a:t>
            </a:r>
            <a:r>
              <a:rPr lang="en-GB" sz="700"/>
              <a:t>: is this enough time to execute 6 PID loops. 62.5ns = 1 machine cycle =&gt; 5ms = 80,000 machine cycles</a:t>
            </a:r>
            <a:endParaRPr sz="700"/>
          </a:p>
          <a:p>
            <a:pPr indent="-273050" lvl="0" marL="457200" rtl="0" algn="l">
              <a:spcBef>
                <a:spcPts val="0"/>
              </a:spcBef>
              <a:spcAft>
                <a:spcPts val="0"/>
              </a:spcAft>
              <a:buSzPts val="700"/>
              <a:buChar char="-"/>
            </a:pPr>
            <a:r>
              <a:rPr lang="en-GB" sz="700"/>
              <a:t>Rate controller</a:t>
            </a:r>
            <a:endParaRPr sz="700"/>
          </a:p>
          <a:p>
            <a:pPr indent="-273050" lvl="0" marL="457200" rtl="0" algn="l">
              <a:spcBef>
                <a:spcPts val="0"/>
              </a:spcBef>
              <a:spcAft>
                <a:spcPts val="0"/>
              </a:spcAft>
              <a:buSzPts val="700"/>
              <a:buChar char="-"/>
            </a:pPr>
            <a:r>
              <a:rPr lang="en-GB" sz="700"/>
              <a:t>Stabilization</a:t>
            </a:r>
            <a:endParaRPr sz="700"/>
          </a:p>
        </p:txBody>
      </p:sp>
      <p:sp>
        <p:nvSpPr>
          <p:cNvPr id="887" name="Google Shape;887;p60"/>
          <p:cNvSpPr txBox="1"/>
          <p:nvPr/>
        </p:nvSpPr>
        <p:spPr>
          <a:xfrm>
            <a:off x="1645375" y="2151425"/>
            <a:ext cx="6915900" cy="5550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SzPts val="700"/>
              <a:buChar char="-"/>
            </a:pPr>
            <a:r>
              <a:rPr lang="en-GB" sz="700"/>
              <a:t>Runs at the same rate as the PID control as the output from the PID feeds this module. </a:t>
            </a:r>
            <a:endParaRPr sz="700"/>
          </a:p>
          <a:p>
            <a:pPr indent="-273050" lvl="0" marL="457200" rtl="0" algn="l">
              <a:spcBef>
                <a:spcPts val="0"/>
              </a:spcBef>
              <a:spcAft>
                <a:spcPts val="0"/>
              </a:spcAft>
              <a:buSzPts val="700"/>
              <a:buChar char="-"/>
            </a:pPr>
            <a:r>
              <a:rPr lang="en-GB" sz="700"/>
              <a:t>Module is responsible for reading the output from the PID and mixing it with the throttle to control all 4 motors</a:t>
            </a:r>
            <a:endParaRPr sz="700"/>
          </a:p>
          <a:p>
            <a:pPr indent="-273050" lvl="0" marL="457200" rtl="0" algn="l">
              <a:spcBef>
                <a:spcPts val="0"/>
              </a:spcBef>
              <a:spcAft>
                <a:spcPts val="0"/>
              </a:spcAft>
              <a:buSzPts val="700"/>
              <a:buChar char="-"/>
            </a:pPr>
            <a:r>
              <a:rPr lang="en-GB" sz="700"/>
              <a:t>Needs to consider the mode “X” or “+”</a:t>
            </a:r>
            <a:endParaRPr sz="700"/>
          </a:p>
        </p:txBody>
      </p:sp>
      <p:sp>
        <p:nvSpPr>
          <p:cNvPr id="888" name="Google Shape;888;p60"/>
          <p:cNvSpPr txBox="1"/>
          <p:nvPr/>
        </p:nvSpPr>
        <p:spPr>
          <a:xfrm>
            <a:off x="1645375" y="2783500"/>
            <a:ext cx="6915900" cy="5550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SzPts val="700"/>
              <a:buChar char="-"/>
            </a:pPr>
            <a:r>
              <a:rPr lang="en-GB" sz="700"/>
              <a:t>Leveraging the arduino serial library just for debug to enable text to be output</a:t>
            </a:r>
            <a:endParaRPr sz="700"/>
          </a:p>
          <a:p>
            <a:pPr indent="-273050" lvl="0" marL="457200" rtl="0" algn="l">
              <a:spcBef>
                <a:spcPts val="0"/>
              </a:spcBef>
              <a:spcAft>
                <a:spcPts val="0"/>
              </a:spcAft>
              <a:buSzPts val="700"/>
              <a:buChar char="-"/>
            </a:pPr>
            <a:r>
              <a:rPr lang="en-GB" sz="700"/>
              <a:t>Will have a buffer that will be worked through</a:t>
            </a:r>
            <a:endParaRPr sz="700"/>
          </a:p>
        </p:txBody>
      </p:sp>
      <p:sp>
        <p:nvSpPr>
          <p:cNvPr id="889" name="Google Shape;889;p60"/>
          <p:cNvSpPr txBox="1"/>
          <p:nvPr/>
        </p:nvSpPr>
        <p:spPr>
          <a:xfrm>
            <a:off x="1645375" y="3341950"/>
            <a:ext cx="6915900" cy="5550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SzPts val="700"/>
              <a:buChar char="-"/>
            </a:pPr>
            <a:r>
              <a:rPr lang="en-GB" sz="700"/>
              <a:t>Useful for debugging to ensure section of code are running up to speed with scope</a:t>
            </a:r>
            <a:endParaRPr sz="700"/>
          </a:p>
          <a:p>
            <a:pPr indent="-273050" lvl="0" marL="457200" rtl="0" algn="l">
              <a:spcBef>
                <a:spcPts val="0"/>
              </a:spcBef>
              <a:spcAft>
                <a:spcPts val="0"/>
              </a:spcAft>
              <a:buSzPts val="700"/>
              <a:buChar char="-"/>
            </a:pPr>
            <a:r>
              <a:rPr lang="en-GB" sz="700"/>
              <a:t>Can also be used with LEDs connected</a:t>
            </a:r>
            <a:endParaRPr sz="700"/>
          </a:p>
        </p:txBody>
      </p:sp>
      <p:sp>
        <p:nvSpPr>
          <p:cNvPr id="890" name="Google Shape;890;p60"/>
          <p:cNvSpPr txBox="1"/>
          <p:nvPr/>
        </p:nvSpPr>
        <p:spPr>
          <a:xfrm>
            <a:off x="1645375" y="3900400"/>
            <a:ext cx="6915900" cy="5550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SzPts val="700"/>
              <a:buChar char="-"/>
            </a:pPr>
            <a:r>
              <a:rPr lang="en-GB" sz="700"/>
              <a:t>The watchdog needs to be fed every 15ms</a:t>
            </a:r>
            <a:endParaRPr sz="700"/>
          </a:p>
          <a:p>
            <a:pPr indent="-273050" lvl="0" marL="457200" rtl="0" algn="l">
              <a:spcBef>
                <a:spcPts val="0"/>
              </a:spcBef>
              <a:spcAft>
                <a:spcPts val="0"/>
              </a:spcAft>
              <a:buSzPts val="700"/>
              <a:buChar char="-"/>
            </a:pPr>
            <a:r>
              <a:rPr lang="en-GB" sz="700"/>
              <a:t>If not it will reboot</a:t>
            </a:r>
            <a:endParaRPr sz="700"/>
          </a:p>
          <a:p>
            <a:pPr indent="-273050" lvl="0" marL="457200" rtl="0" algn="l">
              <a:spcBef>
                <a:spcPts val="0"/>
              </a:spcBef>
              <a:spcAft>
                <a:spcPts val="0"/>
              </a:spcAft>
              <a:buSzPts val="700"/>
              <a:buChar char="-"/>
            </a:pPr>
            <a:r>
              <a:rPr lang="en-GB" sz="700"/>
              <a:t>Can be reset after every cycle of the main controller. 1MHZ </a:t>
            </a:r>
            <a:endParaRPr sz="700"/>
          </a:p>
        </p:txBody>
      </p:sp>
      <p:sp>
        <p:nvSpPr>
          <p:cNvPr id="891" name="Google Shape;891;p60"/>
          <p:cNvSpPr/>
          <p:nvPr/>
        </p:nvSpPr>
        <p:spPr>
          <a:xfrm>
            <a:off x="468200" y="4539100"/>
            <a:ext cx="782700" cy="38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Main Controller(1MHz)</a:t>
            </a:r>
            <a:endParaRPr sz="1000"/>
          </a:p>
        </p:txBody>
      </p:sp>
      <p:sp>
        <p:nvSpPr>
          <p:cNvPr id="892" name="Google Shape;892;p60"/>
          <p:cNvSpPr txBox="1"/>
          <p:nvPr/>
        </p:nvSpPr>
        <p:spPr>
          <a:xfrm>
            <a:off x="1645375" y="4458850"/>
            <a:ext cx="6915900" cy="555000"/>
          </a:xfrm>
          <a:prstGeom prst="rect">
            <a:avLst/>
          </a:prstGeom>
          <a:noFill/>
          <a:ln>
            <a:noFill/>
          </a:ln>
        </p:spPr>
        <p:txBody>
          <a:bodyPr anchorCtr="0" anchor="t" bIns="91425" lIns="91425" spcFirstLastPara="1" rIns="91425" wrap="square" tIns="91425">
            <a:noAutofit/>
          </a:bodyPr>
          <a:lstStyle/>
          <a:p>
            <a:pPr indent="-273050" lvl="0" marL="457200" rtl="0" algn="l">
              <a:spcBef>
                <a:spcPts val="0"/>
              </a:spcBef>
              <a:spcAft>
                <a:spcPts val="0"/>
              </a:spcAft>
              <a:buSzPts val="700"/>
              <a:buChar char="-"/>
            </a:pPr>
            <a:r>
              <a:rPr lang="en-GB" sz="700"/>
              <a:t>The main controller is responsible for scheduling tasks and feeding the watchdog.</a:t>
            </a:r>
            <a:endParaRPr sz="700"/>
          </a:p>
          <a:p>
            <a:pPr indent="-273050" lvl="0" marL="457200" rtl="0" algn="l">
              <a:spcBef>
                <a:spcPts val="0"/>
              </a:spcBef>
              <a:spcAft>
                <a:spcPts val="0"/>
              </a:spcAft>
              <a:buSzPts val="700"/>
              <a:buChar char="-"/>
            </a:pPr>
            <a:r>
              <a:rPr lang="en-GB" sz="700"/>
              <a:t>Main controller is driven from Timer/Counter 1 Overflow.  </a:t>
            </a:r>
            <a:endParaRPr sz="7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